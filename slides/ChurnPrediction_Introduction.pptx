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640080" y="1280160"/>
            <a:ext cx="109728" cy="1005840"/>
          </a:xfrm>
          <a:prstGeom prst="rect">
            <a:avLst/>
          </a:prstGeom>
          <a:solidFill>
            <a:srgbClr val="F59E0B"/>
          </a:solidFill>
          <a:ln/>
        </p:spPr>
      </p:sp>
      <p:sp>
        <p:nvSpPr>
          <p:cNvPr id="4" name="Text 2"/>
          <p:cNvSpPr/>
          <p:nvPr/>
        </p:nvSpPr>
        <p:spPr>
          <a:xfrm>
            <a:off x="1005840" y="1097280"/>
            <a:ext cx="6858000" cy="137160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Trebuchet MS" pitchFamily="34" charset="0"/>
                <a:ea typeface="Trebuchet MS" pitchFamily="34" charset="-122"/>
                <a:cs typeface="Trebuchet MS" pitchFamily="34" charset="-120"/>
              </a:rPr>
              <a:t>Designing an End-to-End</a:t>
            </a:r>
            <a:endParaRPr lang="en-US" sz="3200" dirty="0"/>
          </a:p>
          <a:p>
            <a:pPr indent="0" marL="0">
              <a:lnSpc>
                <a:spcPct val="110000"/>
              </a:lnSpc>
              <a:buNone/>
            </a:pPr>
            <a:r>
              <a:rPr lang="en-US" sz="3200" b="1" dirty="0">
                <a:solidFill>
                  <a:srgbClr val="FFFFFF"/>
                </a:solidFill>
                <a:latin typeface="Trebuchet MS" pitchFamily="34" charset="0"/>
                <a:ea typeface="Trebuchet MS" pitchFamily="34" charset="-122"/>
                <a:cs typeface="Trebuchet MS" pitchFamily="34" charset="-120"/>
              </a:rPr>
              <a:t>Machine Learning Pipeline</a:t>
            </a:r>
            <a:endParaRPr lang="en-US" sz="3200" dirty="0"/>
          </a:p>
        </p:txBody>
      </p:sp>
      <p:sp>
        <p:nvSpPr>
          <p:cNvPr id="5" name="Text 3"/>
          <p:cNvSpPr/>
          <p:nvPr/>
        </p:nvSpPr>
        <p:spPr>
          <a:xfrm>
            <a:off x="1005840" y="2560320"/>
            <a:ext cx="6858000" cy="457200"/>
          </a:xfrm>
          <a:prstGeom prst="rect">
            <a:avLst/>
          </a:prstGeom>
          <a:noFill/>
          <a:ln/>
        </p:spPr>
        <p:txBody>
          <a:bodyPr wrap="square" lIns="0" tIns="0" rIns="0" bIns="0" rtlCol="0" anchor="ctr"/>
          <a:lstStyle/>
          <a:p>
            <a:pPr indent="0" marL="0">
              <a:buNone/>
            </a:pPr>
            <a:r>
              <a:rPr lang="en-US" sz="1800" dirty="0">
                <a:solidFill>
                  <a:srgbClr val="06B6D4"/>
                </a:solidFill>
                <a:latin typeface="Calibri" pitchFamily="34" charset="0"/>
                <a:ea typeface="Calibri" pitchFamily="34" charset="-122"/>
                <a:cs typeface="Calibri" pitchFamily="34" charset="-120"/>
              </a:rPr>
              <a:t>Customer Churn Prediction &amp; Retention Strategy</a:t>
            </a:r>
            <a:endParaRPr lang="en-US" sz="1800" dirty="0"/>
          </a:p>
        </p:txBody>
      </p:sp>
      <p:sp>
        <p:nvSpPr>
          <p:cNvPr id="6" name="Text 4"/>
          <p:cNvSpPr/>
          <p:nvPr/>
        </p:nvSpPr>
        <p:spPr>
          <a:xfrm>
            <a:off x="1005840" y="3200400"/>
            <a:ext cx="68580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Introduction, Research Questions &amp; Literature Review</a:t>
            </a:r>
            <a:endParaRPr lang="en-US" sz="1400" dirty="0"/>
          </a:p>
        </p:txBody>
      </p:sp>
      <p:sp>
        <p:nvSpPr>
          <p:cNvPr id="7" name="Shape 5"/>
          <p:cNvSpPr/>
          <p:nvPr/>
        </p:nvSpPr>
        <p:spPr>
          <a:xfrm>
            <a:off x="0" y="4434840"/>
            <a:ext cx="9144000" cy="713232"/>
          </a:xfrm>
          <a:prstGeom prst="rect">
            <a:avLst/>
          </a:prstGeom>
          <a:solidFill>
            <a:srgbClr val="1B2A4A"/>
          </a:solidFill>
          <a:ln/>
        </p:spPr>
      </p:sp>
      <p:sp>
        <p:nvSpPr>
          <p:cNvPr id="8" name="Text 6"/>
          <p:cNvSpPr/>
          <p:nvPr/>
        </p:nvSpPr>
        <p:spPr>
          <a:xfrm>
            <a:off x="640080" y="4526280"/>
            <a:ext cx="7315200" cy="256032"/>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G5: Lixuan Xiao  •  Michael Dawson  •  Yang Yu</a:t>
            </a:r>
            <a:endParaRPr lang="en-US" sz="1200" dirty="0"/>
          </a:p>
        </p:txBody>
      </p:sp>
      <p:sp>
        <p:nvSpPr>
          <p:cNvPr id="9" name="Text 7"/>
          <p:cNvSpPr/>
          <p:nvPr/>
        </p:nvSpPr>
        <p:spPr>
          <a:xfrm>
            <a:off x="640080" y="4736592"/>
            <a:ext cx="7315200" cy="25603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Final Project  |  CRISP-DM Framework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B2D"/>
          </a:solidFill>
          <a:ln/>
        </p:spPr>
      </p:sp>
      <p:pic>
        <p:nvPicPr>
          <p:cNvPr id="3" name="Image 0" descr="preencoded.png">    </p:cNvPr>
          <p:cNvPicPr>
            <a:picLocks noChangeAspect="1"/>
          </p:cNvPicPr>
          <p:nvPr/>
        </p:nvPicPr>
        <p:blipFill>
          <a:blip r:embed="rId1"/>
          <a:stretch>
            <a:fillRect/>
          </a:stretch>
        </p:blipFill>
        <p:spPr>
          <a:xfrm>
            <a:off x="548640" y="182880"/>
            <a:ext cx="384048" cy="384048"/>
          </a:xfrm>
          <a:prstGeom prst="rect">
            <a:avLst/>
          </a:prstGeom>
        </p:spPr>
      </p:pic>
      <p:sp>
        <p:nvSpPr>
          <p:cNvPr id="4" name="Text 1"/>
          <p:cNvSpPr/>
          <p:nvPr/>
        </p:nvSpPr>
        <p:spPr>
          <a:xfrm>
            <a:off x="105156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Problem Statement</a:t>
            </a:r>
            <a:endParaRPr lang="en-US" sz="2400" dirty="0"/>
          </a:p>
        </p:txBody>
      </p:sp>
      <p:sp>
        <p:nvSpPr>
          <p:cNvPr id="5" name="Shape 2"/>
          <p:cNvSpPr/>
          <p:nvPr/>
        </p:nvSpPr>
        <p:spPr>
          <a:xfrm>
            <a:off x="457200" y="1097280"/>
            <a:ext cx="8229600" cy="13716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6" name="Shape 3"/>
          <p:cNvSpPr/>
          <p:nvPr/>
        </p:nvSpPr>
        <p:spPr>
          <a:xfrm>
            <a:off x="457200" y="1097280"/>
            <a:ext cx="73152" cy="1371600"/>
          </a:xfrm>
          <a:prstGeom prst="rect">
            <a:avLst/>
          </a:prstGeom>
          <a:solidFill>
            <a:srgbClr val="F59E0B"/>
          </a:solidFill>
          <a:ln/>
        </p:spPr>
      </p:sp>
      <p:sp>
        <p:nvSpPr>
          <p:cNvPr id="7" name="Text 4"/>
          <p:cNvSpPr/>
          <p:nvPr/>
        </p:nvSpPr>
        <p:spPr>
          <a:xfrm>
            <a:off x="777240" y="1188720"/>
            <a:ext cx="7680960" cy="1188720"/>
          </a:xfrm>
          <a:prstGeom prst="rect">
            <a:avLst/>
          </a:prstGeom>
          <a:noFill/>
          <a:ln/>
        </p:spPr>
        <p:txBody>
          <a:bodyPr wrap="square" lIns="0" tIns="0" rIns="0" bIns="0" rtlCol="0" anchor="ctr"/>
          <a:lstStyle/>
          <a:p>
            <a:pPr indent="0" marL="0">
              <a:lnSpc>
                <a:spcPct val="135000"/>
              </a:lnSpc>
              <a:buNone/>
            </a:pPr>
            <a:r>
              <a:rPr lang="en-US" sz="1300" dirty="0">
                <a:solidFill>
                  <a:srgbClr val="1E293B"/>
                </a:solidFill>
                <a:latin typeface="Calibri" pitchFamily="34" charset="0"/>
                <a:ea typeface="Calibri" pitchFamily="34" charset="-122"/>
                <a:cs typeface="Calibri" pitchFamily="34" charset="-120"/>
              </a:rPr>
              <a:t>Customer churn represents a significant financial risk for organizations in competitive markets. While companies collect extensive data across billing, usage, and engagement channels, these data are often underutilized or analyzed in isolation.</a:t>
            </a:r>
            <a:endParaRPr lang="en-US" sz="1300" dirty="0"/>
          </a:p>
        </p:txBody>
      </p:sp>
      <p:sp>
        <p:nvSpPr>
          <p:cNvPr id="8" name="Shape 5"/>
          <p:cNvSpPr/>
          <p:nvPr/>
        </p:nvSpPr>
        <p:spPr>
          <a:xfrm>
            <a:off x="457200" y="2834640"/>
            <a:ext cx="2560320" cy="17373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6"/>
          <p:cNvSpPr/>
          <p:nvPr/>
        </p:nvSpPr>
        <p:spPr>
          <a:xfrm>
            <a:off x="457200" y="2834640"/>
            <a:ext cx="2560320" cy="54864"/>
          </a:xfrm>
          <a:prstGeom prst="rect">
            <a:avLst/>
          </a:prstGeom>
          <a:solidFill>
            <a:srgbClr val="0891B2"/>
          </a:solidFill>
          <a:ln/>
        </p:spPr>
      </p:sp>
      <p:sp>
        <p:nvSpPr>
          <p:cNvPr id="10" name="Text 7"/>
          <p:cNvSpPr/>
          <p:nvPr/>
        </p:nvSpPr>
        <p:spPr>
          <a:xfrm>
            <a:off x="640080" y="3063240"/>
            <a:ext cx="2194560" cy="36576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Data Silos</a:t>
            </a:r>
            <a:endParaRPr lang="en-US" sz="1400" dirty="0"/>
          </a:p>
        </p:txBody>
      </p:sp>
      <p:sp>
        <p:nvSpPr>
          <p:cNvPr id="11" name="Text 8"/>
          <p:cNvSpPr/>
          <p:nvPr/>
        </p:nvSpPr>
        <p:spPr>
          <a:xfrm>
            <a:off x="640080" y="3474720"/>
            <a:ext cx="2194560" cy="822960"/>
          </a:xfrm>
          <a:prstGeom prst="rect">
            <a:avLst/>
          </a:prstGeom>
          <a:noFill/>
          <a:ln/>
        </p:spPr>
        <p:txBody>
          <a:bodyPr wrap="square" lIns="0" tIns="0" rIns="0" bIns="0" rtlCol="0" anchor="ctr"/>
          <a:lstStyle/>
          <a:p>
            <a:pPr indent="0" marL="0">
              <a:lnSpc>
                <a:spcPct val="130000"/>
              </a:lnSpc>
              <a:buNone/>
            </a:pPr>
            <a:r>
              <a:rPr lang="en-US" sz="1150" dirty="0">
                <a:solidFill>
                  <a:srgbClr val="475569"/>
                </a:solidFill>
                <a:latin typeface="Calibri" pitchFamily="34" charset="0"/>
                <a:ea typeface="Calibri" pitchFamily="34" charset="-122"/>
                <a:cs typeface="Calibri" pitchFamily="34" charset="-120"/>
              </a:rPr>
              <a:t>Customer data across channels analyzed in isolation</a:t>
            </a:r>
            <a:endParaRPr lang="en-US" sz="1150" dirty="0"/>
          </a:p>
        </p:txBody>
      </p:sp>
      <p:sp>
        <p:nvSpPr>
          <p:cNvPr id="12" name="Shape 9"/>
          <p:cNvSpPr/>
          <p:nvPr/>
        </p:nvSpPr>
        <p:spPr>
          <a:xfrm>
            <a:off x="3291840" y="2834640"/>
            <a:ext cx="2560320" cy="17373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0"/>
          <p:cNvSpPr/>
          <p:nvPr/>
        </p:nvSpPr>
        <p:spPr>
          <a:xfrm>
            <a:off x="3291840" y="2834640"/>
            <a:ext cx="2560320" cy="54864"/>
          </a:xfrm>
          <a:prstGeom prst="rect">
            <a:avLst/>
          </a:prstGeom>
          <a:solidFill>
            <a:srgbClr val="F59E0B"/>
          </a:solidFill>
          <a:ln/>
        </p:spPr>
      </p:sp>
      <p:sp>
        <p:nvSpPr>
          <p:cNvPr id="14" name="Text 11"/>
          <p:cNvSpPr/>
          <p:nvPr/>
        </p:nvSpPr>
        <p:spPr>
          <a:xfrm>
            <a:off x="3474720" y="3063240"/>
            <a:ext cx="2194560" cy="36576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No Early Warning</a:t>
            </a:r>
            <a:endParaRPr lang="en-US" sz="1400" dirty="0"/>
          </a:p>
        </p:txBody>
      </p:sp>
      <p:sp>
        <p:nvSpPr>
          <p:cNvPr id="15" name="Text 12"/>
          <p:cNvSpPr/>
          <p:nvPr/>
        </p:nvSpPr>
        <p:spPr>
          <a:xfrm>
            <a:off x="3474720" y="3474720"/>
            <a:ext cx="2194560" cy="822960"/>
          </a:xfrm>
          <a:prstGeom prst="rect">
            <a:avLst/>
          </a:prstGeom>
          <a:noFill/>
          <a:ln/>
        </p:spPr>
        <p:txBody>
          <a:bodyPr wrap="square" lIns="0" tIns="0" rIns="0" bIns="0" rtlCol="0" anchor="ctr"/>
          <a:lstStyle/>
          <a:p>
            <a:pPr indent="0" marL="0">
              <a:lnSpc>
                <a:spcPct val="130000"/>
              </a:lnSpc>
              <a:buNone/>
            </a:pPr>
            <a:r>
              <a:rPr lang="en-US" sz="1150" dirty="0">
                <a:solidFill>
                  <a:srgbClr val="475569"/>
                </a:solidFill>
                <a:latin typeface="Calibri" pitchFamily="34" charset="0"/>
                <a:ea typeface="Calibri" pitchFamily="34" charset="-122"/>
                <a:cs typeface="Calibri" pitchFamily="34" charset="-120"/>
              </a:rPr>
              <a:t>Lack of timely mechanisms to identify at-risk customers</a:t>
            </a:r>
            <a:endParaRPr lang="en-US" sz="1150" dirty="0"/>
          </a:p>
        </p:txBody>
      </p:sp>
      <p:sp>
        <p:nvSpPr>
          <p:cNvPr id="16" name="Shape 13"/>
          <p:cNvSpPr/>
          <p:nvPr/>
        </p:nvSpPr>
        <p:spPr>
          <a:xfrm>
            <a:off x="6126480" y="2834640"/>
            <a:ext cx="2560320" cy="17373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Shape 14"/>
          <p:cNvSpPr/>
          <p:nvPr/>
        </p:nvSpPr>
        <p:spPr>
          <a:xfrm>
            <a:off x="6126480" y="2834640"/>
            <a:ext cx="2560320" cy="54864"/>
          </a:xfrm>
          <a:prstGeom prst="rect">
            <a:avLst/>
          </a:prstGeom>
          <a:solidFill>
            <a:srgbClr val="0891B2"/>
          </a:solidFill>
          <a:ln/>
        </p:spPr>
      </p:sp>
      <p:sp>
        <p:nvSpPr>
          <p:cNvPr id="18" name="Text 15"/>
          <p:cNvSpPr/>
          <p:nvPr/>
        </p:nvSpPr>
        <p:spPr>
          <a:xfrm>
            <a:off x="6309360" y="3063240"/>
            <a:ext cx="2194560" cy="36576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No Automation</a:t>
            </a:r>
            <a:endParaRPr lang="en-US" sz="1400" dirty="0"/>
          </a:p>
        </p:txBody>
      </p:sp>
      <p:sp>
        <p:nvSpPr>
          <p:cNvPr id="19" name="Text 16"/>
          <p:cNvSpPr/>
          <p:nvPr/>
        </p:nvSpPr>
        <p:spPr>
          <a:xfrm>
            <a:off x="6309360" y="3474720"/>
            <a:ext cx="2194560" cy="822960"/>
          </a:xfrm>
          <a:prstGeom prst="rect">
            <a:avLst/>
          </a:prstGeom>
          <a:noFill/>
          <a:ln/>
        </p:spPr>
        <p:txBody>
          <a:bodyPr wrap="square" lIns="0" tIns="0" rIns="0" bIns="0" rtlCol="0" anchor="ctr"/>
          <a:lstStyle/>
          <a:p>
            <a:pPr indent="0" marL="0">
              <a:lnSpc>
                <a:spcPct val="130000"/>
              </a:lnSpc>
              <a:buNone/>
            </a:pPr>
            <a:r>
              <a:rPr lang="en-US" sz="1150" dirty="0">
                <a:solidFill>
                  <a:srgbClr val="475569"/>
                </a:solidFill>
                <a:latin typeface="Calibri" pitchFamily="34" charset="0"/>
                <a:ea typeface="Calibri" pitchFamily="34" charset="-122"/>
                <a:cs typeface="Calibri" pitchFamily="34" charset="-120"/>
              </a:rPr>
              <a:t>Absence of scalable, end-to-end analytical pipelines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B2D"/>
          </a:solidFill>
          <a:ln/>
        </p:spPr>
      </p:sp>
      <p:pic>
        <p:nvPicPr>
          <p:cNvPr id="3" name="Image 0" descr="preencoded.png">    </p:cNvPr>
          <p:cNvPicPr>
            <a:picLocks noChangeAspect="1"/>
          </p:cNvPicPr>
          <p:nvPr/>
        </p:nvPicPr>
        <p:blipFill>
          <a:blip r:embed="rId1"/>
          <a:stretch>
            <a:fillRect/>
          </a:stretch>
        </p:blipFill>
        <p:spPr>
          <a:xfrm>
            <a:off x="548640" y="182880"/>
            <a:ext cx="384048" cy="384048"/>
          </a:xfrm>
          <a:prstGeom prst="rect">
            <a:avLst/>
          </a:prstGeom>
        </p:spPr>
      </p:pic>
      <p:sp>
        <p:nvSpPr>
          <p:cNvPr id="4" name="Text 1"/>
          <p:cNvSpPr/>
          <p:nvPr/>
        </p:nvSpPr>
        <p:spPr>
          <a:xfrm>
            <a:off x="105156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Research Objectives</a:t>
            </a:r>
            <a:endParaRPr lang="en-US" sz="2400" dirty="0"/>
          </a:p>
        </p:txBody>
      </p:sp>
      <p:sp>
        <p:nvSpPr>
          <p:cNvPr id="5" name="Shape 2"/>
          <p:cNvSpPr/>
          <p:nvPr/>
        </p:nvSpPr>
        <p:spPr>
          <a:xfrm>
            <a:off x="548640" y="1124712"/>
            <a:ext cx="457200" cy="457200"/>
          </a:xfrm>
          <a:prstGeom prst="ellipse">
            <a:avLst/>
          </a:prstGeom>
          <a:solidFill>
            <a:srgbClr val="0891B2"/>
          </a:solidFill>
          <a:ln/>
        </p:spPr>
      </p:sp>
      <p:sp>
        <p:nvSpPr>
          <p:cNvPr id="6" name="Text 3"/>
          <p:cNvSpPr/>
          <p:nvPr/>
        </p:nvSpPr>
        <p:spPr>
          <a:xfrm>
            <a:off x="548640" y="11247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01</a:t>
            </a:r>
            <a:endParaRPr lang="en-US" sz="1400" dirty="0"/>
          </a:p>
        </p:txBody>
      </p:sp>
      <p:sp>
        <p:nvSpPr>
          <p:cNvPr id="7" name="Shape 4"/>
          <p:cNvSpPr/>
          <p:nvPr/>
        </p:nvSpPr>
        <p:spPr>
          <a:xfrm>
            <a:off x="1188720" y="1051560"/>
            <a:ext cx="7498080" cy="585216"/>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8" name="Text 5"/>
          <p:cNvSpPr/>
          <p:nvPr/>
        </p:nvSpPr>
        <p:spPr>
          <a:xfrm>
            <a:off x="1371600" y="1051560"/>
            <a:ext cx="7132320" cy="585216"/>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Design an end-to-end ML pipeline for churn prediction using the CRISP-DM framework</a:t>
            </a:r>
            <a:endParaRPr lang="en-US" sz="1250" dirty="0"/>
          </a:p>
        </p:txBody>
      </p:sp>
      <p:sp>
        <p:nvSpPr>
          <p:cNvPr id="9" name="Shape 6"/>
          <p:cNvSpPr/>
          <p:nvPr/>
        </p:nvSpPr>
        <p:spPr>
          <a:xfrm>
            <a:off x="548640" y="1874520"/>
            <a:ext cx="457200" cy="457200"/>
          </a:xfrm>
          <a:prstGeom prst="ellipse">
            <a:avLst/>
          </a:prstGeom>
          <a:solidFill>
            <a:srgbClr val="F59E0B"/>
          </a:solidFill>
          <a:ln/>
        </p:spPr>
      </p:sp>
      <p:sp>
        <p:nvSpPr>
          <p:cNvPr id="10" name="Text 7"/>
          <p:cNvSpPr/>
          <p:nvPr/>
        </p:nvSpPr>
        <p:spPr>
          <a:xfrm>
            <a:off x="548640" y="1874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02</a:t>
            </a:r>
            <a:endParaRPr lang="en-US" sz="1400" dirty="0"/>
          </a:p>
        </p:txBody>
      </p:sp>
      <p:sp>
        <p:nvSpPr>
          <p:cNvPr id="11" name="Shape 8"/>
          <p:cNvSpPr/>
          <p:nvPr/>
        </p:nvSpPr>
        <p:spPr>
          <a:xfrm>
            <a:off x="1188720" y="1801368"/>
            <a:ext cx="7498080" cy="585216"/>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2" name="Text 9"/>
          <p:cNvSpPr/>
          <p:nvPr/>
        </p:nvSpPr>
        <p:spPr>
          <a:xfrm>
            <a:off x="1371600" y="1801368"/>
            <a:ext cx="7132320" cy="585216"/>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Explore and engineer customer-level features capturing behavioral, temporal, and transactional patterns</a:t>
            </a:r>
            <a:endParaRPr lang="en-US" sz="1250" dirty="0"/>
          </a:p>
        </p:txBody>
      </p:sp>
      <p:sp>
        <p:nvSpPr>
          <p:cNvPr id="13" name="Shape 10"/>
          <p:cNvSpPr/>
          <p:nvPr/>
        </p:nvSpPr>
        <p:spPr>
          <a:xfrm>
            <a:off x="548640" y="2624328"/>
            <a:ext cx="457200" cy="457200"/>
          </a:xfrm>
          <a:prstGeom prst="ellipse">
            <a:avLst/>
          </a:prstGeom>
          <a:solidFill>
            <a:srgbClr val="0891B2"/>
          </a:solidFill>
          <a:ln/>
        </p:spPr>
      </p:sp>
      <p:sp>
        <p:nvSpPr>
          <p:cNvPr id="14" name="Text 11"/>
          <p:cNvSpPr/>
          <p:nvPr/>
        </p:nvSpPr>
        <p:spPr>
          <a:xfrm>
            <a:off x="548640" y="26243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03</a:t>
            </a:r>
            <a:endParaRPr lang="en-US" sz="1400" dirty="0"/>
          </a:p>
        </p:txBody>
      </p:sp>
      <p:sp>
        <p:nvSpPr>
          <p:cNvPr id="15" name="Shape 12"/>
          <p:cNvSpPr/>
          <p:nvPr/>
        </p:nvSpPr>
        <p:spPr>
          <a:xfrm>
            <a:off x="1188720" y="2551176"/>
            <a:ext cx="7498080" cy="585216"/>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6" name="Text 13"/>
          <p:cNvSpPr/>
          <p:nvPr/>
        </p:nvSpPr>
        <p:spPr>
          <a:xfrm>
            <a:off x="1371600" y="2551176"/>
            <a:ext cx="7132320" cy="585216"/>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Develop and evaluate multiple ML and deep learning models using appropriate performance metrics</a:t>
            </a:r>
            <a:endParaRPr lang="en-US" sz="1250" dirty="0"/>
          </a:p>
        </p:txBody>
      </p:sp>
      <p:sp>
        <p:nvSpPr>
          <p:cNvPr id="17" name="Shape 14"/>
          <p:cNvSpPr/>
          <p:nvPr/>
        </p:nvSpPr>
        <p:spPr>
          <a:xfrm>
            <a:off x="548640" y="3374136"/>
            <a:ext cx="457200" cy="457200"/>
          </a:xfrm>
          <a:prstGeom prst="ellipse">
            <a:avLst/>
          </a:prstGeom>
          <a:solidFill>
            <a:srgbClr val="F59E0B"/>
          </a:solidFill>
          <a:ln/>
        </p:spPr>
      </p:sp>
      <p:sp>
        <p:nvSpPr>
          <p:cNvPr id="18" name="Text 15"/>
          <p:cNvSpPr/>
          <p:nvPr/>
        </p:nvSpPr>
        <p:spPr>
          <a:xfrm>
            <a:off x="548640" y="33741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04</a:t>
            </a:r>
            <a:endParaRPr lang="en-US" sz="1400" dirty="0"/>
          </a:p>
        </p:txBody>
      </p:sp>
      <p:sp>
        <p:nvSpPr>
          <p:cNvPr id="19" name="Shape 16"/>
          <p:cNvSpPr/>
          <p:nvPr/>
        </p:nvSpPr>
        <p:spPr>
          <a:xfrm>
            <a:off x="1188720" y="3300984"/>
            <a:ext cx="7498080" cy="585216"/>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0" name="Text 17"/>
          <p:cNvSpPr/>
          <p:nvPr/>
        </p:nvSpPr>
        <p:spPr>
          <a:xfrm>
            <a:off x="1371600" y="3300984"/>
            <a:ext cx="7132320" cy="585216"/>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Identify the most influential drivers of customer churn and assess their business implications</a:t>
            </a:r>
            <a:endParaRPr lang="en-US" sz="1250" dirty="0"/>
          </a:p>
        </p:txBody>
      </p:sp>
      <p:sp>
        <p:nvSpPr>
          <p:cNvPr id="21" name="Shape 18"/>
          <p:cNvSpPr/>
          <p:nvPr/>
        </p:nvSpPr>
        <p:spPr>
          <a:xfrm>
            <a:off x="548640" y="4123944"/>
            <a:ext cx="457200" cy="457200"/>
          </a:xfrm>
          <a:prstGeom prst="ellipse">
            <a:avLst/>
          </a:prstGeom>
          <a:solidFill>
            <a:srgbClr val="0891B2"/>
          </a:solidFill>
          <a:ln/>
        </p:spPr>
      </p:sp>
      <p:sp>
        <p:nvSpPr>
          <p:cNvPr id="22" name="Text 19"/>
          <p:cNvSpPr/>
          <p:nvPr/>
        </p:nvSpPr>
        <p:spPr>
          <a:xfrm>
            <a:off x="548640" y="41239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05</a:t>
            </a:r>
            <a:endParaRPr lang="en-US" sz="1400" dirty="0"/>
          </a:p>
        </p:txBody>
      </p:sp>
      <p:sp>
        <p:nvSpPr>
          <p:cNvPr id="23" name="Shape 20"/>
          <p:cNvSpPr/>
          <p:nvPr/>
        </p:nvSpPr>
        <p:spPr>
          <a:xfrm>
            <a:off x="1188720" y="4050792"/>
            <a:ext cx="7498080" cy="585216"/>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4" name="Text 21"/>
          <p:cNvSpPr/>
          <p:nvPr/>
        </p:nvSpPr>
        <p:spPr>
          <a:xfrm>
            <a:off x="1371600" y="4050792"/>
            <a:ext cx="7132320" cy="585216"/>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Propose a feasible deployment and automation strategy for ongoing churn monitoring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54864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Research Framework</a:t>
            </a:r>
            <a:endParaRPr lang="en-US" sz="2600" dirty="0"/>
          </a:p>
        </p:txBody>
      </p:sp>
      <p:sp>
        <p:nvSpPr>
          <p:cNvPr id="4" name="Shape 2"/>
          <p:cNvSpPr/>
          <p:nvPr/>
        </p:nvSpPr>
        <p:spPr>
          <a:xfrm>
            <a:off x="457200" y="1097280"/>
            <a:ext cx="2606040" cy="1828800"/>
          </a:xfrm>
          <a:prstGeom prst="rect">
            <a:avLst/>
          </a:prstGeom>
          <a:solidFill>
            <a:srgbClr val="1B2A4A"/>
          </a:solidFill>
          <a:ln/>
        </p:spPr>
      </p:sp>
      <p:pic>
        <p:nvPicPr>
          <p:cNvPr id="5" name="Image 0" descr="preencoded.png">    </p:cNvPr>
          <p:cNvPicPr>
            <a:picLocks noChangeAspect="1"/>
          </p:cNvPicPr>
          <p:nvPr/>
        </p:nvPicPr>
        <p:blipFill>
          <a:blip r:embed="rId1"/>
          <a:stretch>
            <a:fillRect/>
          </a:stretch>
        </p:blipFill>
        <p:spPr>
          <a:xfrm>
            <a:off x="640080" y="1280160"/>
            <a:ext cx="347472" cy="347472"/>
          </a:xfrm>
          <a:prstGeom prst="rect">
            <a:avLst/>
          </a:prstGeom>
        </p:spPr>
      </p:pic>
      <p:sp>
        <p:nvSpPr>
          <p:cNvPr id="6" name="Text 3"/>
          <p:cNvSpPr/>
          <p:nvPr/>
        </p:nvSpPr>
        <p:spPr>
          <a:xfrm>
            <a:off x="1097280" y="1280160"/>
            <a:ext cx="18288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Unit of Analysis</a:t>
            </a:r>
            <a:endParaRPr lang="en-US" sz="1000" dirty="0"/>
          </a:p>
        </p:txBody>
      </p:sp>
      <p:sp>
        <p:nvSpPr>
          <p:cNvPr id="7" name="Text 4"/>
          <p:cNvSpPr/>
          <p:nvPr/>
        </p:nvSpPr>
        <p:spPr>
          <a:xfrm>
            <a:off x="640080" y="1828800"/>
            <a:ext cx="2286000" cy="365760"/>
          </a:xfrm>
          <a:prstGeom prst="rect">
            <a:avLst/>
          </a:prstGeom>
          <a:noFill/>
          <a:ln/>
        </p:spPr>
        <p:txBody>
          <a:bodyPr wrap="square" lIns="0" tIns="0" rIns="0" bIns="0" rtlCol="0" anchor="ctr"/>
          <a:lstStyle/>
          <a:p>
            <a:pPr indent="0" marL="0">
              <a:buNone/>
            </a:pPr>
            <a:r>
              <a:rPr lang="en-US" sz="1600" b="1" dirty="0">
                <a:solidFill>
                  <a:srgbClr val="06B6D4"/>
                </a:solidFill>
                <a:latin typeface="Trebuchet MS" pitchFamily="34" charset="0"/>
                <a:ea typeface="Trebuchet MS" pitchFamily="34" charset="-122"/>
                <a:cs typeface="Trebuchet MS" pitchFamily="34" charset="-120"/>
              </a:rPr>
              <a:t>Individual Customer</a:t>
            </a:r>
            <a:endParaRPr lang="en-US" sz="1600" dirty="0"/>
          </a:p>
        </p:txBody>
      </p:sp>
      <p:sp>
        <p:nvSpPr>
          <p:cNvPr id="8" name="Text 5"/>
          <p:cNvSpPr/>
          <p:nvPr/>
        </p:nvSpPr>
        <p:spPr>
          <a:xfrm>
            <a:off x="640080" y="2194560"/>
            <a:ext cx="2286000" cy="548640"/>
          </a:xfrm>
          <a:prstGeom prst="rect">
            <a:avLst/>
          </a:prstGeom>
          <a:noFill/>
          <a:ln/>
        </p:spPr>
        <p:txBody>
          <a:bodyPr wrap="square" lIns="0" tIns="0" rIns="0" bIns="0" rtlCol="0" anchor="ctr"/>
          <a:lstStyle/>
          <a:p>
            <a:pPr indent="0" marL="0">
              <a:lnSpc>
                <a:spcPct val="130000"/>
              </a:lnSpc>
              <a:buNone/>
            </a:pPr>
            <a:r>
              <a:rPr lang="en-US" sz="1050" dirty="0">
                <a:solidFill>
                  <a:srgbClr val="94A3B8"/>
                </a:solidFill>
                <a:latin typeface="Calibri" pitchFamily="34" charset="0"/>
                <a:ea typeface="Calibri" pitchFamily="34" charset="-122"/>
                <a:cs typeface="Calibri" pitchFamily="34" charset="-120"/>
              </a:rPr>
              <a:t>Each row = one customer's complete behavioral profile</a:t>
            </a:r>
            <a:endParaRPr lang="en-US" sz="1050" dirty="0"/>
          </a:p>
        </p:txBody>
      </p:sp>
      <p:sp>
        <p:nvSpPr>
          <p:cNvPr id="9" name="Shape 6"/>
          <p:cNvSpPr/>
          <p:nvPr/>
        </p:nvSpPr>
        <p:spPr>
          <a:xfrm>
            <a:off x="3337560" y="1097280"/>
            <a:ext cx="2606040" cy="1828800"/>
          </a:xfrm>
          <a:prstGeom prst="rect">
            <a:avLst/>
          </a:prstGeom>
          <a:solidFill>
            <a:srgbClr val="1B2A4A"/>
          </a:solidFill>
          <a:ln/>
        </p:spPr>
      </p:sp>
      <p:pic>
        <p:nvPicPr>
          <p:cNvPr id="10" name="Image 1" descr="preencoded.png">    </p:cNvPr>
          <p:cNvPicPr>
            <a:picLocks noChangeAspect="1"/>
          </p:cNvPicPr>
          <p:nvPr/>
        </p:nvPicPr>
        <p:blipFill>
          <a:blip r:embed="rId2"/>
          <a:stretch>
            <a:fillRect/>
          </a:stretch>
        </p:blipFill>
        <p:spPr>
          <a:xfrm>
            <a:off x="3520440" y="1280160"/>
            <a:ext cx="347472" cy="347472"/>
          </a:xfrm>
          <a:prstGeom prst="rect">
            <a:avLst/>
          </a:prstGeom>
        </p:spPr>
      </p:pic>
      <p:sp>
        <p:nvSpPr>
          <p:cNvPr id="11" name="Text 7"/>
          <p:cNvSpPr/>
          <p:nvPr/>
        </p:nvSpPr>
        <p:spPr>
          <a:xfrm>
            <a:off x="3977640" y="1280160"/>
            <a:ext cx="18288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Outcome Variable</a:t>
            </a:r>
            <a:endParaRPr lang="en-US" sz="1000" dirty="0"/>
          </a:p>
        </p:txBody>
      </p:sp>
      <p:sp>
        <p:nvSpPr>
          <p:cNvPr id="12" name="Text 8"/>
          <p:cNvSpPr/>
          <p:nvPr/>
        </p:nvSpPr>
        <p:spPr>
          <a:xfrm>
            <a:off x="3520440" y="1828800"/>
            <a:ext cx="2286000" cy="365760"/>
          </a:xfrm>
          <a:prstGeom prst="rect">
            <a:avLst/>
          </a:prstGeom>
          <a:noFill/>
          <a:ln/>
        </p:spPr>
        <p:txBody>
          <a:bodyPr wrap="square" lIns="0" tIns="0" rIns="0" bIns="0" rtlCol="0" anchor="ctr"/>
          <a:lstStyle/>
          <a:p>
            <a:pPr indent="0" marL="0">
              <a:buNone/>
            </a:pPr>
            <a:r>
              <a:rPr lang="en-US" sz="1600" b="1" dirty="0">
                <a:solidFill>
                  <a:srgbClr val="06B6D4"/>
                </a:solidFill>
                <a:latin typeface="Trebuchet MS" pitchFamily="34" charset="0"/>
                <a:ea typeface="Trebuchet MS" pitchFamily="34" charset="-122"/>
                <a:cs typeface="Trebuchet MS" pitchFamily="34" charset="-120"/>
              </a:rPr>
              <a:t>Binary Churn Indicator</a:t>
            </a:r>
            <a:endParaRPr lang="en-US" sz="1600" dirty="0"/>
          </a:p>
        </p:txBody>
      </p:sp>
      <p:sp>
        <p:nvSpPr>
          <p:cNvPr id="13" name="Text 9"/>
          <p:cNvSpPr/>
          <p:nvPr/>
        </p:nvSpPr>
        <p:spPr>
          <a:xfrm>
            <a:off x="3520440" y="2194560"/>
            <a:ext cx="2286000" cy="548640"/>
          </a:xfrm>
          <a:prstGeom prst="rect">
            <a:avLst/>
          </a:prstGeom>
          <a:noFill/>
          <a:ln/>
        </p:spPr>
        <p:txBody>
          <a:bodyPr wrap="square" lIns="0" tIns="0" rIns="0" bIns="0" rtlCol="0" anchor="ctr"/>
          <a:lstStyle/>
          <a:p>
            <a:pPr indent="0" marL="0">
              <a:lnSpc>
                <a:spcPct val="130000"/>
              </a:lnSpc>
              <a:buNone/>
            </a:pPr>
            <a:r>
              <a:rPr lang="en-US" sz="1050" dirty="0">
                <a:solidFill>
                  <a:srgbClr val="94A3B8"/>
                </a:solidFill>
                <a:latin typeface="Calibri" pitchFamily="34" charset="0"/>
                <a:ea typeface="Calibri" pitchFamily="34" charset="-122"/>
                <a:cs typeface="Calibri" pitchFamily="34" charset="-120"/>
              </a:rPr>
              <a:t>Churn vs. No Churn classification</a:t>
            </a:r>
            <a:endParaRPr lang="en-US" sz="1050" dirty="0"/>
          </a:p>
        </p:txBody>
      </p:sp>
      <p:sp>
        <p:nvSpPr>
          <p:cNvPr id="14" name="Shape 10"/>
          <p:cNvSpPr/>
          <p:nvPr/>
        </p:nvSpPr>
        <p:spPr>
          <a:xfrm>
            <a:off x="6217920" y="1097280"/>
            <a:ext cx="2606040" cy="1828800"/>
          </a:xfrm>
          <a:prstGeom prst="rect">
            <a:avLst/>
          </a:prstGeom>
          <a:solidFill>
            <a:srgbClr val="1B2A4A"/>
          </a:solidFill>
          <a:ln/>
        </p:spPr>
      </p:sp>
      <p:pic>
        <p:nvPicPr>
          <p:cNvPr id="15" name="Image 2" descr="preencoded.png">    </p:cNvPr>
          <p:cNvPicPr>
            <a:picLocks noChangeAspect="1"/>
          </p:cNvPicPr>
          <p:nvPr/>
        </p:nvPicPr>
        <p:blipFill>
          <a:blip r:embed="rId3"/>
          <a:stretch>
            <a:fillRect/>
          </a:stretch>
        </p:blipFill>
        <p:spPr>
          <a:xfrm>
            <a:off x="6400800" y="1280160"/>
            <a:ext cx="347472" cy="347472"/>
          </a:xfrm>
          <a:prstGeom prst="rect">
            <a:avLst/>
          </a:prstGeom>
        </p:spPr>
      </p:pic>
      <p:sp>
        <p:nvSpPr>
          <p:cNvPr id="16" name="Text 11"/>
          <p:cNvSpPr/>
          <p:nvPr/>
        </p:nvSpPr>
        <p:spPr>
          <a:xfrm>
            <a:off x="6858000" y="1280160"/>
            <a:ext cx="18288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Methodology</a:t>
            </a:r>
            <a:endParaRPr lang="en-US" sz="1000" dirty="0"/>
          </a:p>
        </p:txBody>
      </p:sp>
      <p:sp>
        <p:nvSpPr>
          <p:cNvPr id="17" name="Text 12"/>
          <p:cNvSpPr/>
          <p:nvPr/>
        </p:nvSpPr>
        <p:spPr>
          <a:xfrm>
            <a:off x="6400800" y="1828800"/>
            <a:ext cx="2286000" cy="365760"/>
          </a:xfrm>
          <a:prstGeom prst="rect">
            <a:avLst/>
          </a:prstGeom>
          <a:noFill/>
          <a:ln/>
        </p:spPr>
        <p:txBody>
          <a:bodyPr wrap="square" lIns="0" tIns="0" rIns="0" bIns="0" rtlCol="0" anchor="ctr"/>
          <a:lstStyle/>
          <a:p>
            <a:pPr indent="0" marL="0">
              <a:buNone/>
            </a:pPr>
            <a:r>
              <a:rPr lang="en-US" sz="1600" b="1" dirty="0">
                <a:solidFill>
                  <a:srgbClr val="06B6D4"/>
                </a:solidFill>
                <a:latin typeface="Trebuchet MS" pitchFamily="34" charset="0"/>
                <a:ea typeface="Trebuchet MS" pitchFamily="34" charset="-122"/>
                <a:cs typeface="Trebuchet MS" pitchFamily="34" charset="-120"/>
              </a:rPr>
              <a:t>CRISP-DM Framework</a:t>
            </a:r>
            <a:endParaRPr lang="en-US" sz="1600" dirty="0"/>
          </a:p>
        </p:txBody>
      </p:sp>
      <p:sp>
        <p:nvSpPr>
          <p:cNvPr id="18" name="Text 13"/>
          <p:cNvSpPr/>
          <p:nvPr/>
        </p:nvSpPr>
        <p:spPr>
          <a:xfrm>
            <a:off x="6400800" y="2194560"/>
            <a:ext cx="2286000" cy="548640"/>
          </a:xfrm>
          <a:prstGeom prst="rect">
            <a:avLst/>
          </a:prstGeom>
          <a:noFill/>
          <a:ln/>
        </p:spPr>
        <p:txBody>
          <a:bodyPr wrap="square" lIns="0" tIns="0" rIns="0" bIns="0" rtlCol="0" anchor="ctr"/>
          <a:lstStyle/>
          <a:p>
            <a:pPr indent="0" marL="0">
              <a:lnSpc>
                <a:spcPct val="130000"/>
              </a:lnSpc>
              <a:buNone/>
            </a:pPr>
            <a:r>
              <a:rPr lang="en-US" sz="1050" dirty="0">
                <a:solidFill>
                  <a:srgbClr val="94A3B8"/>
                </a:solidFill>
                <a:latin typeface="Calibri" pitchFamily="34" charset="0"/>
                <a:ea typeface="Calibri" pitchFamily="34" charset="-122"/>
                <a:cs typeface="Calibri" pitchFamily="34" charset="-120"/>
              </a:rPr>
              <a:t>6 iterative phases from business understanding to deployment</a:t>
            </a:r>
            <a:endParaRPr lang="en-US" sz="1050" dirty="0"/>
          </a:p>
        </p:txBody>
      </p:sp>
      <p:sp>
        <p:nvSpPr>
          <p:cNvPr id="19" name="Text 14"/>
          <p:cNvSpPr/>
          <p:nvPr/>
        </p:nvSpPr>
        <p:spPr>
          <a:xfrm>
            <a:off x="548640" y="3246120"/>
            <a:ext cx="8229600" cy="365760"/>
          </a:xfrm>
          <a:prstGeom prst="rect">
            <a:avLst/>
          </a:prstGeom>
          <a:noFill/>
          <a:ln/>
        </p:spPr>
        <p:txBody>
          <a:bodyPr wrap="square" lIns="0" tIns="0" rIns="0" bIns="0" rtlCol="0" anchor="ctr"/>
          <a:lstStyle/>
          <a:p>
            <a:pPr indent="0" marL="0">
              <a:buNone/>
            </a:pPr>
            <a:r>
              <a:rPr lang="en-US" sz="1400" b="1" dirty="0">
                <a:solidFill>
                  <a:srgbClr val="F59E0B"/>
                </a:solidFill>
                <a:latin typeface="Trebuchet MS" pitchFamily="34" charset="0"/>
                <a:ea typeface="Trebuchet MS" pitchFamily="34" charset="-122"/>
                <a:cs typeface="Trebuchet MS" pitchFamily="34" charset="-120"/>
              </a:rPr>
              <a:t>Key Assumptions</a:t>
            </a:r>
            <a:endParaRPr lang="en-US" sz="1400" dirty="0"/>
          </a:p>
        </p:txBody>
      </p:sp>
      <p:sp>
        <p:nvSpPr>
          <p:cNvPr id="20" name="Shape 15"/>
          <p:cNvSpPr/>
          <p:nvPr/>
        </p:nvSpPr>
        <p:spPr>
          <a:xfrm>
            <a:off x="548640" y="3749040"/>
            <a:ext cx="2606040" cy="640080"/>
          </a:xfrm>
          <a:prstGeom prst="rect">
            <a:avLst/>
          </a:prstGeom>
          <a:solidFill>
            <a:srgbClr val="1B2A4A"/>
          </a:solidFill>
          <a:ln/>
        </p:spPr>
      </p:sp>
      <p:sp>
        <p:nvSpPr>
          <p:cNvPr id="21" name="Shape 16"/>
          <p:cNvSpPr/>
          <p:nvPr/>
        </p:nvSpPr>
        <p:spPr>
          <a:xfrm>
            <a:off x="548640" y="3749040"/>
            <a:ext cx="54864" cy="640080"/>
          </a:xfrm>
          <a:prstGeom prst="rect">
            <a:avLst/>
          </a:prstGeom>
          <a:solidFill>
            <a:srgbClr val="F59E0B"/>
          </a:solidFill>
          <a:ln/>
        </p:spPr>
      </p:sp>
      <p:sp>
        <p:nvSpPr>
          <p:cNvPr id="22" name="Text 17"/>
          <p:cNvSpPr/>
          <p:nvPr/>
        </p:nvSpPr>
        <p:spPr>
          <a:xfrm>
            <a:off x="731520" y="3749040"/>
            <a:ext cx="2286000" cy="640080"/>
          </a:xfrm>
          <a:prstGeom prst="rect">
            <a:avLst/>
          </a:prstGeom>
          <a:noFill/>
          <a:ln/>
        </p:spPr>
        <p:txBody>
          <a:bodyPr wrap="square" lIns="0" tIns="0" rIns="0" bIns="0" rtlCol="0" anchor="ctr"/>
          <a:lstStyle/>
          <a:p>
            <a:pPr indent="0" marL="0">
              <a:lnSpc>
                <a:spcPct val="125000"/>
              </a:lnSpc>
              <a:buNone/>
            </a:pPr>
            <a:r>
              <a:rPr lang="en-US" sz="1050" dirty="0">
                <a:solidFill>
                  <a:srgbClr val="94A3B8"/>
                </a:solidFill>
                <a:latin typeface="Calibri" pitchFamily="34" charset="0"/>
                <a:ea typeface="Calibri" pitchFamily="34" charset="-122"/>
                <a:cs typeface="Calibri" pitchFamily="34" charset="-120"/>
              </a:rPr>
              <a:t>Historical customer behavior is predictive of future churn</a:t>
            </a:r>
            <a:endParaRPr lang="en-US" sz="1050" dirty="0"/>
          </a:p>
        </p:txBody>
      </p:sp>
      <p:sp>
        <p:nvSpPr>
          <p:cNvPr id="23" name="Shape 18"/>
          <p:cNvSpPr/>
          <p:nvPr/>
        </p:nvSpPr>
        <p:spPr>
          <a:xfrm>
            <a:off x="3429000" y="3749040"/>
            <a:ext cx="2606040" cy="640080"/>
          </a:xfrm>
          <a:prstGeom prst="rect">
            <a:avLst/>
          </a:prstGeom>
          <a:solidFill>
            <a:srgbClr val="1B2A4A"/>
          </a:solidFill>
          <a:ln/>
        </p:spPr>
      </p:sp>
      <p:sp>
        <p:nvSpPr>
          <p:cNvPr id="24" name="Shape 19"/>
          <p:cNvSpPr/>
          <p:nvPr/>
        </p:nvSpPr>
        <p:spPr>
          <a:xfrm>
            <a:off x="3429000" y="3749040"/>
            <a:ext cx="54864" cy="640080"/>
          </a:xfrm>
          <a:prstGeom prst="rect">
            <a:avLst/>
          </a:prstGeom>
          <a:solidFill>
            <a:srgbClr val="F59E0B"/>
          </a:solidFill>
          <a:ln/>
        </p:spPr>
      </p:sp>
      <p:sp>
        <p:nvSpPr>
          <p:cNvPr id="25" name="Text 20"/>
          <p:cNvSpPr/>
          <p:nvPr/>
        </p:nvSpPr>
        <p:spPr>
          <a:xfrm>
            <a:off x="3611880" y="3749040"/>
            <a:ext cx="2286000" cy="640080"/>
          </a:xfrm>
          <a:prstGeom prst="rect">
            <a:avLst/>
          </a:prstGeom>
          <a:noFill/>
          <a:ln/>
        </p:spPr>
        <p:txBody>
          <a:bodyPr wrap="square" lIns="0" tIns="0" rIns="0" bIns="0" rtlCol="0" anchor="ctr"/>
          <a:lstStyle/>
          <a:p>
            <a:pPr indent="0" marL="0">
              <a:lnSpc>
                <a:spcPct val="125000"/>
              </a:lnSpc>
              <a:buNone/>
            </a:pPr>
            <a:r>
              <a:rPr lang="en-US" sz="1050" dirty="0">
                <a:solidFill>
                  <a:srgbClr val="94A3B8"/>
                </a:solidFill>
                <a:latin typeface="Calibri" pitchFamily="34" charset="0"/>
                <a:ea typeface="Calibri" pitchFamily="34" charset="-122"/>
                <a:cs typeface="Calibri" pitchFamily="34" charset="-120"/>
              </a:rPr>
              <a:t>Churn patterns are stable enough to support supervised learning</a:t>
            </a:r>
            <a:endParaRPr lang="en-US" sz="1050" dirty="0"/>
          </a:p>
        </p:txBody>
      </p:sp>
      <p:sp>
        <p:nvSpPr>
          <p:cNvPr id="26" name="Shape 21"/>
          <p:cNvSpPr/>
          <p:nvPr/>
        </p:nvSpPr>
        <p:spPr>
          <a:xfrm>
            <a:off x="6309360" y="3749040"/>
            <a:ext cx="2606040" cy="640080"/>
          </a:xfrm>
          <a:prstGeom prst="rect">
            <a:avLst/>
          </a:prstGeom>
          <a:solidFill>
            <a:srgbClr val="1B2A4A"/>
          </a:solidFill>
          <a:ln/>
        </p:spPr>
      </p:sp>
      <p:sp>
        <p:nvSpPr>
          <p:cNvPr id="27" name="Shape 22"/>
          <p:cNvSpPr/>
          <p:nvPr/>
        </p:nvSpPr>
        <p:spPr>
          <a:xfrm>
            <a:off x="6309360" y="3749040"/>
            <a:ext cx="54864" cy="640080"/>
          </a:xfrm>
          <a:prstGeom prst="rect">
            <a:avLst/>
          </a:prstGeom>
          <a:solidFill>
            <a:srgbClr val="F59E0B"/>
          </a:solidFill>
          <a:ln/>
        </p:spPr>
      </p:sp>
      <p:sp>
        <p:nvSpPr>
          <p:cNvPr id="28" name="Text 23"/>
          <p:cNvSpPr/>
          <p:nvPr/>
        </p:nvSpPr>
        <p:spPr>
          <a:xfrm>
            <a:off x="6492240" y="3749040"/>
            <a:ext cx="2286000" cy="640080"/>
          </a:xfrm>
          <a:prstGeom prst="rect">
            <a:avLst/>
          </a:prstGeom>
          <a:noFill/>
          <a:ln/>
        </p:spPr>
        <p:txBody>
          <a:bodyPr wrap="square" lIns="0" tIns="0" rIns="0" bIns="0" rtlCol="0" anchor="ctr"/>
          <a:lstStyle/>
          <a:p>
            <a:pPr indent="0" marL="0">
              <a:lnSpc>
                <a:spcPct val="125000"/>
              </a:lnSpc>
              <a:buNone/>
            </a:pPr>
            <a:r>
              <a:rPr lang="en-US" sz="1050" dirty="0">
                <a:solidFill>
                  <a:srgbClr val="94A3B8"/>
                </a:solidFill>
                <a:latin typeface="Calibri" pitchFamily="34" charset="0"/>
                <a:ea typeface="Calibri" pitchFamily="34" charset="-122"/>
                <a:cs typeface="Calibri" pitchFamily="34" charset="-120"/>
              </a:rPr>
              <a:t>Retention interventions can be prioritized based on predicted risk</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B2D"/>
          </a:solidFill>
          <a:ln/>
        </p:spPr>
      </p:sp>
      <p:pic>
        <p:nvPicPr>
          <p:cNvPr id="3" name="Image 0" descr="preencoded.png">    </p:cNvPr>
          <p:cNvPicPr>
            <a:picLocks noChangeAspect="1"/>
          </p:cNvPicPr>
          <p:nvPr/>
        </p:nvPicPr>
        <p:blipFill>
          <a:blip r:embed="rId1"/>
          <a:stretch>
            <a:fillRect/>
          </a:stretch>
        </p:blipFill>
        <p:spPr>
          <a:xfrm>
            <a:off x="548640" y="182880"/>
            <a:ext cx="384048" cy="384048"/>
          </a:xfrm>
          <a:prstGeom prst="rect">
            <a:avLst/>
          </a:prstGeom>
        </p:spPr>
      </p:pic>
      <p:sp>
        <p:nvSpPr>
          <p:cNvPr id="4" name="Text 1"/>
          <p:cNvSpPr/>
          <p:nvPr/>
        </p:nvSpPr>
        <p:spPr>
          <a:xfrm>
            <a:off x="1051560" y="1371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Literature Review</a:t>
            </a:r>
            <a:endParaRPr lang="en-US" sz="2400" dirty="0"/>
          </a:p>
        </p:txBody>
      </p:sp>
      <p:sp>
        <p:nvSpPr>
          <p:cNvPr id="5" name="Text 2"/>
          <p:cNvSpPr/>
          <p:nvPr/>
        </p:nvSpPr>
        <p:spPr>
          <a:xfrm>
            <a:off x="5029200" y="137160"/>
            <a:ext cx="3657600" cy="548640"/>
          </a:xfrm>
          <a:prstGeom prst="rect">
            <a:avLst/>
          </a:prstGeom>
          <a:noFill/>
          <a:ln/>
        </p:spPr>
        <p:txBody>
          <a:bodyPr wrap="square" lIns="0" tIns="0" rIns="0" bIns="0" rtlCol="0" anchor="ctr"/>
          <a:lstStyle/>
          <a:p>
            <a:pPr algn="r" indent="0" marL="0">
              <a:buNone/>
            </a:pPr>
            <a:r>
              <a:rPr lang="en-US" sz="1200" dirty="0">
                <a:solidFill>
                  <a:srgbClr val="94A3B8"/>
                </a:solidFill>
                <a:latin typeface="Calibri" pitchFamily="34" charset="0"/>
                <a:ea typeface="Calibri" pitchFamily="34" charset="-122"/>
                <a:cs typeface="Calibri" pitchFamily="34" charset="-120"/>
              </a:rPr>
              <a:t>9 Sources  •  3 Thematic Areas</a:t>
            </a:r>
            <a:endParaRPr lang="en-US" sz="1200" dirty="0"/>
          </a:p>
        </p:txBody>
      </p:sp>
      <p:sp>
        <p:nvSpPr>
          <p:cNvPr id="6" name="Shape 3"/>
          <p:cNvSpPr/>
          <p:nvPr/>
        </p:nvSpPr>
        <p:spPr>
          <a:xfrm>
            <a:off x="457200" y="1097280"/>
            <a:ext cx="2606040" cy="3566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7" name="Shape 4"/>
          <p:cNvSpPr/>
          <p:nvPr/>
        </p:nvSpPr>
        <p:spPr>
          <a:xfrm>
            <a:off x="457200" y="1097280"/>
            <a:ext cx="2606040" cy="54864"/>
          </a:xfrm>
          <a:prstGeom prst="rect">
            <a:avLst/>
          </a:prstGeom>
          <a:solidFill>
            <a:srgbClr val="0891B2"/>
          </a:solidFill>
          <a:ln/>
        </p:spPr>
      </p:sp>
      <p:sp>
        <p:nvSpPr>
          <p:cNvPr id="8" name="Text 5"/>
          <p:cNvSpPr/>
          <p:nvPr/>
        </p:nvSpPr>
        <p:spPr>
          <a:xfrm>
            <a:off x="640080" y="1325880"/>
            <a:ext cx="2240280" cy="640080"/>
          </a:xfrm>
          <a:prstGeom prst="rect">
            <a:avLst/>
          </a:prstGeom>
          <a:noFill/>
          <a:ln/>
        </p:spPr>
        <p:txBody>
          <a:bodyPr wrap="square" lIns="0" tIns="0" rIns="0" bIns="0" rtlCol="0" anchor="ctr"/>
          <a:lstStyle/>
          <a:p>
            <a:pPr indent="0" marL="0">
              <a:lnSpc>
                <a:spcPct val="115000"/>
              </a:lnSpc>
              <a:buNone/>
            </a:pPr>
            <a:r>
              <a:rPr lang="en-US" sz="1400" b="1" dirty="0">
                <a:solidFill>
                  <a:srgbClr val="1E293B"/>
                </a:solidFill>
                <a:latin typeface="Trebuchet MS" pitchFamily="34" charset="0"/>
                <a:ea typeface="Trebuchet MS" pitchFamily="34" charset="-122"/>
                <a:cs typeface="Trebuchet MS" pitchFamily="34" charset="-120"/>
              </a:rPr>
              <a:t>Methodological</a:t>
            </a:r>
            <a:endParaRPr lang="en-US" sz="1400" dirty="0"/>
          </a:p>
          <a:p>
            <a:pPr indent="0" marL="0">
              <a:lnSpc>
                <a:spcPct val="115000"/>
              </a:lnSpc>
              <a:buNone/>
            </a:pPr>
            <a:r>
              <a:rPr lang="en-US" sz="1400" b="1" dirty="0">
                <a:solidFill>
                  <a:srgbClr val="1E293B"/>
                </a:solidFill>
                <a:latin typeface="Trebuchet MS" pitchFamily="34" charset="0"/>
                <a:ea typeface="Trebuchet MS" pitchFamily="34" charset="-122"/>
                <a:cs typeface="Trebuchet MS" pitchFamily="34" charset="-120"/>
              </a:rPr>
              <a:t>Foundations</a:t>
            </a:r>
            <a:endParaRPr lang="en-US" sz="1400" dirty="0"/>
          </a:p>
        </p:txBody>
      </p:sp>
      <p:sp>
        <p:nvSpPr>
          <p:cNvPr id="9" name="Shape 6"/>
          <p:cNvSpPr/>
          <p:nvPr/>
        </p:nvSpPr>
        <p:spPr>
          <a:xfrm>
            <a:off x="640080" y="2103120"/>
            <a:ext cx="2103120" cy="0"/>
          </a:xfrm>
          <a:prstGeom prst="line">
            <a:avLst/>
          </a:prstGeom>
          <a:noFill/>
          <a:ln w="12700">
            <a:solidFill>
              <a:srgbClr val="E2E8F0"/>
            </a:solidFill>
            <a:prstDash val="solid"/>
          </a:ln>
        </p:spPr>
      </p:sp>
      <p:sp>
        <p:nvSpPr>
          <p:cNvPr id="10" name="Shape 7"/>
          <p:cNvSpPr/>
          <p:nvPr/>
        </p:nvSpPr>
        <p:spPr>
          <a:xfrm>
            <a:off x="640080" y="2331720"/>
            <a:ext cx="182880" cy="182880"/>
          </a:xfrm>
          <a:prstGeom prst="ellipse">
            <a:avLst/>
          </a:prstGeom>
          <a:solidFill>
            <a:srgbClr val="0891B2"/>
          </a:solidFill>
          <a:ln/>
        </p:spPr>
      </p:sp>
      <p:sp>
        <p:nvSpPr>
          <p:cNvPr id="11" name="Text 8"/>
          <p:cNvSpPr/>
          <p:nvPr/>
        </p:nvSpPr>
        <p:spPr>
          <a:xfrm>
            <a:off x="960120" y="2286000"/>
            <a:ext cx="1965960" cy="502920"/>
          </a:xfrm>
          <a:prstGeom prst="rect">
            <a:avLst/>
          </a:prstGeom>
          <a:noFill/>
          <a:ln/>
        </p:spPr>
        <p:txBody>
          <a:bodyPr wrap="square" lIns="0" tIns="0" rIns="0" bIns="0" rtlCol="0" anchor="t"/>
          <a:lstStyle/>
          <a:p>
            <a:pPr indent="0" marL="0">
              <a:lnSpc>
                <a:spcPct val="120000"/>
              </a:lnSpc>
              <a:buNone/>
            </a:pPr>
            <a:r>
              <a:rPr lang="en-US" sz="1050" dirty="0">
                <a:solidFill>
                  <a:srgbClr val="475569"/>
                </a:solidFill>
                <a:latin typeface="Calibri" pitchFamily="34" charset="0"/>
                <a:ea typeface="Calibri" pitchFamily="34" charset="-122"/>
                <a:cs typeface="Calibri" pitchFamily="34" charset="-120"/>
              </a:rPr>
              <a:t>Shearer (2000) – CRISP-DM</a:t>
            </a:r>
            <a:endParaRPr lang="en-US" sz="1050" dirty="0"/>
          </a:p>
        </p:txBody>
      </p:sp>
      <p:sp>
        <p:nvSpPr>
          <p:cNvPr id="12" name="Shape 9"/>
          <p:cNvSpPr/>
          <p:nvPr/>
        </p:nvSpPr>
        <p:spPr>
          <a:xfrm>
            <a:off x="640080" y="3017520"/>
            <a:ext cx="182880" cy="182880"/>
          </a:xfrm>
          <a:prstGeom prst="ellipse">
            <a:avLst/>
          </a:prstGeom>
          <a:solidFill>
            <a:srgbClr val="0891B2"/>
          </a:solidFill>
          <a:ln/>
        </p:spPr>
      </p:sp>
      <p:sp>
        <p:nvSpPr>
          <p:cNvPr id="13" name="Text 10"/>
          <p:cNvSpPr/>
          <p:nvPr/>
        </p:nvSpPr>
        <p:spPr>
          <a:xfrm>
            <a:off x="960120" y="2971800"/>
            <a:ext cx="1965960" cy="502920"/>
          </a:xfrm>
          <a:prstGeom prst="rect">
            <a:avLst/>
          </a:prstGeom>
          <a:noFill/>
          <a:ln/>
        </p:spPr>
        <p:txBody>
          <a:bodyPr wrap="square" lIns="0" tIns="0" rIns="0" bIns="0" rtlCol="0" anchor="t"/>
          <a:lstStyle/>
          <a:p>
            <a:pPr indent="0" marL="0">
              <a:lnSpc>
                <a:spcPct val="120000"/>
              </a:lnSpc>
              <a:buNone/>
            </a:pPr>
            <a:r>
              <a:rPr lang="en-US" sz="1050" dirty="0">
                <a:solidFill>
                  <a:srgbClr val="475569"/>
                </a:solidFill>
                <a:latin typeface="Calibri" pitchFamily="34" charset="0"/>
                <a:ea typeface="Calibri" pitchFamily="34" charset="-122"/>
                <a:cs typeface="Calibri" pitchFamily="34" charset="-120"/>
              </a:rPr>
              <a:t>Domingos (2012) – ML principles</a:t>
            </a:r>
            <a:endParaRPr lang="en-US" sz="1050" dirty="0"/>
          </a:p>
        </p:txBody>
      </p:sp>
      <p:sp>
        <p:nvSpPr>
          <p:cNvPr id="14" name="Shape 11"/>
          <p:cNvSpPr/>
          <p:nvPr/>
        </p:nvSpPr>
        <p:spPr>
          <a:xfrm>
            <a:off x="640080" y="3703320"/>
            <a:ext cx="182880" cy="182880"/>
          </a:xfrm>
          <a:prstGeom prst="ellipse">
            <a:avLst/>
          </a:prstGeom>
          <a:solidFill>
            <a:srgbClr val="0891B2"/>
          </a:solidFill>
          <a:ln/>
        </p:spPr>
      </p:sp>
      <p:sp>
        <p:nvSpPr>
          <p:cNvPr id="15" name="Text 12"/>
          <p:cNvSpPr/>
          <p:nvPr/>
        </p:nvSpPr>
        <p:spPr>
          <a:xfrm>
            <a:off x="960120" y="3657600"/>
            <a:ext cx="1965960" cy="502920"/>
          </a:xfrm>
          <a:prstGeom prst="rect">
            <a:avLst/>
          </a:prstGeom>
          <a:noFill/>
          <a:ln/>
        </p:spPr>
        <p:txBody>
          <a:bodyPr wrap="square" lIns="0" tIns="0" rIns="0" bIns="0" rtlCol="0" anchor="t"/>
          <a:lstStyle/>
          <a:p>
            <a:pPr indent="0" marL="0">
              <a:lnSpc>
                <a:spcPct val="120000"/>
              </a:lnSpc>
              <a:buNone/>
            </a:pPr>
            <a:r>
              <a:rPr lang="en-US" sz="1050" dirty="0">
                <a:solidFill>
                  <a:srgbClr val="475569"/>
                </a:solidFill>
                <a:latin typeface="Calibri" pitchFamily="34" charset="0"/>
                <a:ea typeface="Calibri" pitchFamily="34" charset="-122"/>
                <a:cs typeface="Calibri" pitchFamily="34" charset="-120"/>
              </a:rPr>
              <a:t>Sculley et al. (2015) – ML tech debt</a:t>
            </a:r>
            <a:endParaRPr lang="en-US" sz="1050" dirty="0"/>
          </a:p>
        </p:txBody>
      </p:sp>
      <p:sp>
        <p:nvSpPr>
          <p:cNvPr id="16" name="Shape 13"/>
          <p:cNvSpPr/>
          <p:nvPr/>
        </p:nvSpPr>
        <p:spPr>
          <a:xfrm>
            <a:off x="3337560" y="1097280"/>
            <a:ext cx="2606040" cy="3566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7" name="Shape 14"/>
          <p:cNvSpPr/>
          <p:nvPr/>
        </p:nvSpPr>
        <p:spPr>
          <a:xfrm>
            <a:off x="3337560" y="1097280"/>
            <a:ext cx="2606040" cy="54864"/>
          </a:xfrm>
          <a:prstGeom prst="rect">
            <a:avLst/>
          </a:prstGeom>
          <a:solidFill>
            <a:srgbClr val="F59E0B"/>
          </a:solidFill>
          <a:ln/>
        </p:spPr>
      </p:sp>
      <p:sp>
        <p:nvSpPr>
          <p:cNvPr id="18" name="Text 15"/>
          <p:cNvSpPr/>
          <p:nvPr/>
        </p:nvSpPr>
        <p:spPr>
          <a:xfrm>
            <a:off x="3520440" y="1325880"/>
            <a:ext cx="2240280" cy="640080"/>
          </a:xfrm>
          <a:prstGeom prst="rect">
            <a:avLst/>
          </a:prstGeom>
          <a:noFill/>
          <a:ln/>
        </p:spPr>
        <p:txBody>
          <a:bodyPr wrap="square" lIns="0" tIns="0" rIns="0" bIns="0" rtlCol="0" anchor="ctr"/>
          <a:lstStyle/>
          <a:p>
            <a:pPr indent="0" marL="0">
              <a:lnSpc>
                <a:spcPct val="115000"/>
              </a:lnSpc>
              <a:buNone/>
            </a:pPr>
            <a:r>
              <a:rPr lang="en-US" sz="1400" b="1" dirty="0">
                <a:solidFill>
                  <a:srgbClr val="1E293B"/>
                </a:solidFill>
                <a:latin typeface="Trebuchet MS" pitchFamily="34" charset="0"/>
                <a:ea typeface="Trebuchet MS" pitchFamily="34" charset="-122"/>
                <a:cs typeface="Trebuchet MS" pitchFamily="34" charset="-120"/>
              </a:rPr>
              <a:t>Churn Prediction</a:t>
            </a:r>
            <a:endParaRPr lang="en-US" sz="1400" dirty="0"/>
          </a:p>
          <a:p>
            <a:pPr indent="0" marL="0">
              <a:lnSpc>
                <a:spcPct val="115000"/>
              </a:lnSpc>
              <a:buNone/>
            </a:pPr>
            <a:r>
              <a:rPr lang="en-US" sz="1400" b="1" dirty="0">
                <a:solidFill>
                  <a:srgbClr val="1E293B"/>
                </a:solidFill>
                <a:latin typeface="Trebuchet MS" pitchFamily="34" charset="0"/>
                <a:ea typeface="Trebuchet MS" pitchFamily="34" charset="-122"/>
                <a:cs typeface="Trebuchet MS" pitchFamily="34" charset="-120"/>
              </a:rPr>
              <a:t>&amp; Profitability</a:t>
            </a:r>
            <a:endParaRPr lang="en-US" sz="1400" dirty="0"/>
          </a:p>
        </p:txBody>
      </p:sp>
      <p:sp>
        <p:nvSpPr>
          <p:cNvPr id="19" name="Shape 16"/>
          <p:cNvSpPr/>
          <p:nvPr/>
        </p:nvSpPr>
        <p:spPr>
          <a:xfrm>
            <a:off x="3520440" y="2103120"/>
            <a:ext cx="2103120" cy="0"/>
          </a:xfrm>
          <a:prstGeom prst="line">
            <a:avLst/>
          </a:prstGeom>
          <a:noFill/>
          <a:ln w="12700">
            <a:solidFill>
              <a:srgbClr val="E2E8F0"/>
            </a:solidFill>
            <a:prstDash val="solid"/>
          </a:ln>
        </p:spPr>
      </p:sp>
      <p:sp>
        <p:nvSpPr>
          <p:cNvPr id="20" name="Shape 17"/>
          <p:cNvSpPr/>
          <p:nvPr/>
        </p:nvSpPr>
        <p:spPr>
          <a:xfrm>
            <a:off x="3520440" y="2331720"/>
            <a:ext cx="182880" cy="182880"/>
          </a:xfrm>
          <a:prstGeom prst="ellipse">
            <a:avLst/>
          </a:prstGeom>
          <a:solidFill>
            <a:srgbClr val="F59E0B"/>
          </a:solidFill>
          <a:ln/>
        </p:spPr>
      </p:sp>
      <p:sp>
        <p:nvSpPr>
          <p:cNvPr id="21" name="Text 18"/>
          <p:cNvSpPr/>
          <p:nvPr/>
        </p:nvSpPr>
        <p:spPr>
          <a:xfrm>
            <a:off x="3840480" y="2286000"/>
            <a:ext cx="1965960" cy="502920"/>
          </a:xfrm>
          <a:prstGeom prst="rect">
            <a:avLst/>
          </a:prstGeom>
          <a:noFill/>
          <a:ln/>
        </p:spPr>
        <p:txBody>
          <a:bodyPr wrap="square" lIns="0" tIns="0" rIns="0" bIns="0" rtlCol="0" anchor="t"/>
          <a:lstStyle/>
          <a:p>
            <a:pPr indent="0" marL="0">
              <a:lnSpc>
                <a:spcPct val="120000"/>
              </a:lnSpc>
              <a:buNone/>
            </a:pPr>
            <a:r>
              <a:rPr lang="en-US" sz="1050" dirty="0">
                <a:solidFill>
                  <a:srgbClr val="475569"/>
                </a:solidFill>
                <a:latin typeface="Calibri" pitchFamily="34" charset="0"/>
                <a:ea typeface="Calibri" pitchFamily="34" charset="-122"/>
                <a:cs typeface="Calibri" pitchFamily="34" charset="-120"/>
              </a:rPr>
              <a:t>Verbeke et al. (2012) – Profit-driven</a:t>
            </a:r>
            <a:endParaRPr lang="en-US" sz="1050" dirty="0"/>
          </a:p>
        </p:txBody>
      </p:sp>
      <p:sp>
        <p:nvSpPr>
          <p:cNvPr id="22" name="Shape 19"/>
          <p:cNvSpPr/>
          <p:nvPr/>
        </p:nvSpPr>
        <p:spPr>
          <a:xfrm>
            <a:off x="3520440" y="3017520"/>
            <a:ext cx="182880" cy="182880"/>
          </a:xfrm>
          <a:prstGeom prst="ellipse">
            <a:avLst/>
          </a:prstGeom>
          <a:solidFill>
            <a:srgbClr val="F59E0B"/>
          </a:solidFill>
          <a:ln/>
        </p:spPr>
      </p:sp>
      <p:sp>
        <p:nvSpPr>
          <p:cNvPr id="23" name="Text 20"/>
          <p:cNvSpPr/>
          <p:nvPr/>
        </p:nvSpPr>
        <p:spPr>
          <a:xfrm>
            <a:off x="3840480" y="2971800"/>
            <a:ext cx="1965960" cy="502920"/>
          </a:xfrm>
          <a:prstGeom prst="rect">
            <a:avLst/>
          </a:prstGeom>
          <a:noFill/>
          <a:ln/>
        </p:spPr>
        <p:txBody>
          <a:bodyPr wrap="square" lIns="0" tIns="0" rIns="0" bIns="0" rtlCol="0" anchor="t"/>
          <a:lstStyle/>
          <a:p>
            <a:pPr indent="0" marL="0">
              <a:lnSpc>
                <a:spcPct val="120000"/>
              </a:lnSpc>
              <a:buNone/>
            </a:pPr>
            <a:r>
              <a:rPr lang="en-US" sz="1050" dirty="0">
                <a:solidFill>
                  <a:srgbClr val="475569"/>
                </a:solidFill>
                <a:latin typeface="Calibri" pitchFamily="34" charset="0"/>
                <a:ea typeface="Calibri" pitchFamily="34" charset="-122"/>
                <a:cs typeface="Calibri" pitchFamily="34" charset="-120"/>
              </a:rPr>
              <a:t>Neslin et al. (2006) – Defection detection</a:t>
            </a:r>
            <a:endParaRPr lang="en-US" sz="1050" dirty="0"/>
          </a:p>
        </p:txBody>
      </p:sp>
      <p:sp>
        <p:nvSpPr>
          <p:cNvPr id="24" name="Shape 21"/>
          <p:cNvSpPr/>
          <p:nvPr/>
        </p:nvSpPr>
        <p:spPr>
          <a:xfrm>
            <a:off x="3520440" y="3703320"/>
            <a:ext cx="182880" cy="182880"/>
          </a:xfrm>
          <a:prstGeom prst="ellipse">
            <a:avLst/>
          </a:prstGeom>
          <a:solidFill>
            <a:srgbClr val="F59E0B"/>
          </a:solidFill>
          <a:ln/>
        </p:spPr>
      </p:sp>
      <p:sp>
        <p:nvSpPr>
          <p:cNvPr id="25" name="Text 22"/>
          <p:cNvSpPr/>
          <p:nvPr/>
        </p:nvSpPr>
        <p:spPr>
          <a:xfrm>
            <a:off x="3840480" y="3657600"/>
            <a:ext cx="1965960" cy="502920"/>
          </a:xfrm>
          <a:prstGeom prst="rect">
            <a:avLst/>
          </a:prstGeom>
          <a:noFill/>
          <a:ln/>
        </p:spPr>
        <p:txBody>
          <a:bodyPr wrap="square" lIns="0" tIns="0" rIns="0" bIns="0" rtlCol="0" anchor="t"/>
          <a:lstStyle/>
          <a:p>
            <a:pPr indent="0" marL="0">
              <a:lnSpc>
                <a:spcPct val="120000"/>
              </a:lnSpc>
              <a:buNone/>
            </a:pPr>
            <a:r>
              <a:rPr lang="en-US" sz="1050" dirty="0">
                <a:solidFill>
                  <a:srgbClr val="475569"/>
                </a:solidFill>
                <a:latin typeface="Calibri" pitchFamily="34" charset="0"/>
                <a:ea typeface="Calibri" pitchFamily="34" charset="-122"/>
                <a:cs typeface="Calibri" pitchFamily="34" charset="-120"/>
              </a:rPr>
              <a:t>Burez &amp; Van den Poel (2009) – Class imbalance</a:t>
            </a:r>
            <a:endParaRPr lang="en-US" sz="1050" dirty="0"/>
          </a:p>
        </p:txBody>
      </p:sp>
      <p:sp>
        <p:nvSpPr>
          <p:cNvPr id="26" name="Shape 23"/>
          <p:cNvSpPr/>
          <p:nvPr/>
        </p:nvSpPr>
        <p:spPr>
          <a:xfrm>
            <a:off x="6217920" y="1097280"/>
            <a:ext cx="2606040" cy="356616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7" name="Shape 24"/>
          <p:cNvSpPr/>
          <p:nvPr/>
        </p:nvSpPr>
        <p:spPr>
          <a:xfrm>
            <a:off x="6217920" y="1097280"/>
            <a:ext cx="2606040" cy="54864"/>
          </a:xfrm>
          <a:prstGeom prst="rect">
            <a:avLst/>
          </a:prstGeom>
          <a:solidFill>
            <a:srgbClr val="0891B2"/>
          </a:solidFill>
          <a:ln/>
        </p:spPr>
      </p:sp>
      <p:sp>
        <p:nvSpPr>
          <p:cNvPr id="28" name="Text 25"/>
          <p:cNvSpPr/>
          <p:nvPr/>
        </p:nvSpPr>
        <p:spPr>
          <a:xfrm>
            <a:off x="6400800" y="1325880"/>
            <a:ext cx="2240280" cy="640080"/>
          </a:xfrm>
          <a:prstGeom prst="rect">
            <a:avLst/>
          </a:prstGeom>
          <a:noFill/>
          <a:ln/>
        </p:spPr>
        <p:txBody>
          <a:bodyPr wrap="square" lIns="0" tIns="0" rIns="0" bIns="0" rtlCol="0" anchor="ctr"/>
          <a:lstStyle/>
          <a:p>
            <a:pPr indent="0" marL="0">
              <a:lnSpc>
                <a:spcPct val="115000"/>
              </a:lnSpc>
              <a:buNone/>
            </a:pPr>
            <a:r>
              <a:rPr lang="en-US" sz="1400" b="1" dirty="0">
                <a:solidFill>
                  <a:srgbClr val="1E293B"/>
                </a:solidFill>
                <a:latin typeface="Trebuchet MS" pitchFamily="34" charset="0"/>
                <a:ea typeface="Trebuchet MS" pitchFamily="34" charset="-122"/>
                <a:cs typeface="Trebuchet MS" pitchFamily="34" charset="-120"/>
              </a:rPr>
              <a:t>Advanced Techniques</a:t>
            </a:r>
            <a:endParaRPr lang="en-US" sz="1400" dirty="0"/>
          </a:p>
          <a:p>
            <a:pPr indent="0" marL="0">
              <a:lnSpc>
                <a:spcPct val="115000"/>
              </a:lnSpc>
              <a:buNone/>
            </a:pPr>
            <a:r>
              <a:rPr lang="en-US" sz="1400" b="1" dirty="0">
                <a:solidFill>
                  <a:srgbClr val="1E293B"/>
                </a:solidFill>
                <a:latin typeface="Trebuchet MS" pitchFamily="34" charset="0"/>
                <a:ea typeface="Trebuchet MS" pitchFamily="34" charset="-122"/>
                <a:cs typeface="Trebuchet MS" pitchFamily="34" charset="-120"/>
              </a:rPr>
              <a:t>&amp; Applications</a:t>
            </a:r>
            <a:endParaRPr lang="en-US" sz="1400" dirty="0"/>
          </a:p>
        </p:txBody>
      </p:sp>
      <p:sp>
        <p:nvSpPr>
          <p:cNvPr id="29" name="Shape 26"/>
          <p:cNvSpPr/>
          <p:nvPr/>
        </p:nvSpPr>
        <p:spPr>
          <a:xfrm>
            <a:off x="6400800" y="2103120"/>
            <a:ext cx="2103120" cy="0"/>
          </a:xfrm>
          <a:prstGeom prst="line">
            <a:avLst/>
          </a:prstGeom>
          <a:noFill/>
          <a:ln w="12700">
            <a:solidFill>
              <a:srgbClr val="E2E8F0"/>
            </a:solidFill>
            <a:prstDash val="solid"/>
          </a:ln>
        </p:spPr>
      </p:sp>
      <p:sp>
        <p:nvSpPr>
          <p:cNvPr id="30" name="Shape 27"/>
          <p:cNvSpPr/>
          <p:nvPr/>
        </p:nvSpPr>
        <p:spPr>
          <a:xfrm>
            <a:off x="6400800" y="2331720"/>
            <a:ext cx="182880" cy="182880"/>
          </a:xfrm>
          <a:prstGeom prst="ellipse">
            <a:avLst/>
          </a:prstGeom>
          <a:solidFill>
            <a:srgbClr val="0891B2"/>
          </a:solidFill>
          <a:ln/>
        </p:spPr>
      </p:sp>
      <p:sp>
        <p:nvSpPr>
          <p:cNvPr id="31" name="Text 28"/>
          <p:cNvSpPr/>
          <p:nvPr/>
        </p:nvSpPr>
        <p:spPr>
          <a:xfrm>
            <a:off x="6720840" y="2286000"/>
            <a:ext cx="1965960" cy="502920"/>
          </a:xfrm>
          <a:prstGeom prst="rect">
            <a:avLst/>
          </a:prstGeom>
          <a:noFill/>
          <a:ln/>
        </p:spPr>
        <p:txBody>
          <a:bodyPr wrap="square" lIns="0" tIns="0" rIns="0" bIns="0" rtlCol="0" anchor="t"/>
          <a:lstStyle/>
          <a:p>
            <a:pPr indent="0" marL="0">
              <a:lnSpc>
                <a:spcPct val="120000"/>
              </a:lnSpc>
              <a:buNone/>
            </a:pPr>
            <a:r>
              <a:rPr lang="en-US" sz="1050" dirty="0">
                <a:solidFill>
                  <a:srgbClr val="475569"/>
                </a:solidFill>
                <a:latin typeface="Calibri" pitchFamily="34" charset="0"/>
                <a:ea typeface="Calibri" pitchFamily="34" charset="-122"/>
                <a:cs typeface="Calibri" pitchFamily="34" charset="-120"/>
              </a:rPr>
              <a:t>Lemmens &amp; Croux (2006) – Ensembles</a:t>
            </a:r>
            <a:endParaRPr lang="en-US" sz="1050" dirty="0"/>
          </a:p>
        </p:txBody>
      </p:sp>
      <p:sp>
        <p:nvSpPr>
          <p:cNvPr id="32" name="Shape 29"/>
          <p:cNvSpPr/>
          <p:nvPr/>
        </p:nvSpPr>
        <p:spPr>
          <a:xfrm>
            <a:off x="6400800" y="3017520"/>
            <a:ext cx="182880" cy="182880"/>
          </a:xfrm>
          <a:prstGeom prst="ellipse">
            <a:avLst/>
          </a:prstGeom>
          <a:solidFill>
            <a:srgbClr val="0891B2"/>
          </a:solidFill>
          <a:ln/>
        </p:spPr>
      </p:sp>
      <p:sp>
        <p:nvSpPr>
          <p:cNvPr id="33" name="Text 30"/>
          <p:cNvSpPr/>
          <p:nvPr/>
        </p:nvSpPr>
        <p:spPr>
          <a:xfrm>
            <a:off x="6720840" y="2971800"/>
            <a:ext cx="1965960" cy="502920"/>
          </a:xfrm>
          <a:prstGeom prst="rect">
            <a:avLst/>
          </a:prstGeom>
          <a:noFill/>
          <a:ln/>
        </p:spPr>
        <p:txBody>
          <a:bodyPr wrap="square" lIns="0" tIns="0" rIns="0" bIns="0" rtlCol="0" anchor="t"/>
          <a:lstStyle/>
          <a:p>
            <a:pPr indent="0" marL="0">
              <a:lnSpc>
                <a:spcPct val="120000"/>
              </a:lnSpc>
              <a:buNone/>
            </a:pPr>
            <a:r>
              <a:rPr lang="en-US" sz="1050" dirty="0">
                <a:solidFill>
                  <a:srgbClr val="475569"/>
                </a:solidFill>
                <a:latin typeface="Calibri" pitchFamily="34" charset="0"/>
                <a:ea typeface="Calibri" pitchFamily="34" charset="-122"/>
                <a:cs typeface="Calibri" pitchFamily="34" charset="-120"/>
              </a:rPr>
              <a:t>Mozer et al. (2000) – Neural networks</a:t>
            </a:r>
            <a:endParaRPr lang="en-US" sz="1050" dirty="0"/>
          </a:p>
        </p:txBody>
      </p:sp>
      <p:sp>
        <p:nvSpPr>
          <p:cNvPr id="34" name="Shape 31"/>
          <p:cNvSpPr/>
          <p:nvPr/>
        </p:nvSpPr>
        <p:spPr>
          <a:xfrm>
            <a:off x="6400800" y="3703320"/>
            <a:ext cx="182880" cy="182880"/>
          </a:xfrm>
          <a:prstGeom prst="ellipse">
            <a:avLst/>
          </a:prstGeom>
          <a:solidFill>
            <a:srgbClr val="0891B2"/>
          </a:solidFill>
          <a:ln/>
        </p:spPr>
      </p:sp>
      <p:sp>
        <p:nvSpPr>
          <p:cNvPr id="35" name="Text 32"/>
          <p:cNvSpPr/>
          <p:nvPr/>
        </p:nvSpPr>
        <p:spPr>
          <a:xfrm>
            <a:off x="6720840" y="3657600"/>
            <a:ext cx="1965960" cy="502920"/>
          </a:xfrm>
          <a:prstGeom prst="rect">
            <a:avLst/>
          </a:prstGeom>
          <a:noFill/>
          <a:ln/>
        </p:spPr>
        <p:txBody>
          <a:bodyPr wrap="square" lIns="0" tIns="0" rIns="0" bIns="0" rtlCol="0" anchor="t"/>
          <a:lstStyle/>
          <a:p>
            <a:pPr indent="0" marL="0">
              <a:lnSpc>
                <a:spcPct val="120000"/>
              </a:lnSpc>
              <a:buNone/>
            </a:pPr>
            <a:r>
              <a:rPr lang="en-US" sz="1050" dirty="0">
                <a:solidFill>
                  <a:srgbClr val="475569"/>
                </a:solidFill>
                <a:latin typeface="Calibri" pitchFamily="34" charset="0"/>
                <a:ea typeface="Calibri" pitchFamily="34" charset="-122"/>
                <a:cs typeface="Calibri" pitchFamily="34" charset="-120"/>
              </a:rPr>
              <a:t>Imani et al. (2025) – Systematic review</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B2D"/>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Methodological Foundations</a:t>
            </a:r>
            <a:endParaRPr lang="en-US" sz="2400" dirty="0"/>
          </a:p>
        </p:txBody>
      </p:sp>
      <p:sp>
        <p:nvSpPr>
          <p:cNvPr id="4" name="Shape 2"/>
          <p:cNvSpPr/>
          <p:nvPr/>
        </p:nvSpPr>
        <p:spPr>
          <a:xfrm>
            <a:off x="457200" y="1051560"/>
            <a:ext cx="393192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5" name="Shape 3"/>
          <p:cNvSpPr/>
          <p:nvPr/>
        </p:nvSpPr>
        <p:spPr>
          <a:xfrm>
            <a:off x="457200" y="1051560"/>
            <a:ext cx="73152" cy="2286000"/>
          </a:xfrm>
          <a:prstGeom prst="rect">
            <a:avLst/>
          </a:prstGeom>
          <a:solidFill>
            <a:srgbClr val="0891B2"/>
          </a:solidFill>
          <a:ln/>
        </p:spPr>
      </p:sp>
      <p:sp>
        <p:nvSpPr>
          <p:cNvPr id="6" name="Text 4"/>
          <p:cNvSpPr/>
          <p:nvPr/>
        </p:nvSpPr>
        <p:spPr>
          <a:xfrm>
            <a:off x="777240" y="1143000"/>
            <a:ext cx="3383280" cy="320040"/>
          </a:xfrm>
          <a:prstGeom prst="rect">
            <a:avLst/>
          </a:prstGeom>
          <a:noFill/>
          <a:ln/>
        </p:spPr>
        <p:txBody>
          <a:bodyPr wrap="square" lIns="0" tIns="0" rIns="0" bIns="0" rtlCol="0" anchor="ctr"/>
          <a:lstStyle/>
          <a:p>
            <a:pPr indent="0" marL="0">
              <a:buNone/>
            </a:pPr>
            <a:r>
              <a:rPr lang="en-US" sz="1300" b="1" dirty="0">
                <a:solidFill>
                  <a:srgbClr val="0891B2"/>
                </a:solidFill>
                <a:latin typeface="Trebuchet MS" pitchFamily="34" charset="0"/>
                <a:ea typeface="Trebuchet MS" pitchFamily="34" charset="-122"/>
                <a:cs typeface="Trebuchet MS" pitchFamily="34" charset="-120"/>
              </a:rPr>
              <a:t>Shearer (2000)</a:t>
            </a:r>
            <a:endParaRPr lang="en-US" sz="1300" dirty="0"/>
          </a:p>
        </p:txBody>
      </p:sp>
      <p:sp>
        <p:nvSpPr>
          <p:cNvPr id="7" name="Text 5"/>
          <p:cNvSpPr/>
          <p:nvPr/>
        </p:nvSpPr>
        <p:spPr>
          <a:xfrm>
            <a:off x="777240" y="1463040"/>
            <a:ext cx="3383280" cy="27432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CRISP-DM Framework</a:t>
            </a:r>
            <a:endParaRPr lang="en-US" sz="1100" dirty="0"/>
          </a:p>
        </p:txBody>
      </p:sp>
      <p:sp>
        <p:nvSpPr>
          <p:cNvPr id="8" name="Text 6"/>
          <p:cNvSpPr/>
          <p:nvPr/>
        </p:nvSpPr>
        <p:spPr>
          <a:xfrm>
            <a:off x="777240" y="1828800"/>
            <a:ext cx="3383280" cy="137160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Provides the 6-phase iterative methodology: business understanding, data understanding, data preparation, modeling, evaluation, and deployment. Emphasizes aligning technical analysis with business objectives and the iterative nature of ML projects.</a:t>
            </a:r>
            <a:endParaRPr lang="en-US" sz="1050" dirty="0"/>
          </a:p>
        </p:txBody>
      </p:sp>
      <p:sp>
        <p:nvSpPr>
          <p:cNvPr id="9" name="Shape 7"/>
          <p:cNvSpPr/>
          <p:nvPr/>
        </p:nvSpPr>
        <p:spPr>
          <a:xfrm>
            <a:off x="4754880" y="1051560"/>
            <a:ext cx="3931920" cy="228600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8"/>
          <p:cNvSpPr/>
          <p:nvPr/>
        </p:nvSpPr>
        <p:spPr>
          <a:xfrm>
            <a:off x="4754880" y="1051560"/>
            <a:ext cx="73152" cy="2286000"/>
          </a:xfrm>
          <a:prstGeom prst="rect">
            <a:avLst/>
          </a:prstGeom>
          <a:solidFill>
            <a:srgbClr val="F59E0B"/>
          </a:solidFill>
          <a:ln/>
        </p:spPr>
      </p:sp>
      <p:sp>
        <p:nvSpPr>
          <p:cNvPr id="11" name="Text 9"/>
          <p:cNvSpPr/>
          <p:nvPr/>
        </p:nvSpPr>
        <p:spPr>
          <a:xfrm>
            <a:off x="5074920" y="1143000"/>
            <a:ext cx="3383280" cy="320040"/>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Domingos (2012)</a:t>
            </a:r>
            <a:endParaRPr lang="en-US" sz="1300" dirty="0"/>
          </a:p>
        </p:txBody>
      </p:sp>
      <p:sp>
        <p:nvSpPr>
          <p:cNvPr id="12" name="Text 10"/>
          <p:cNvSpPr/>
          <p:nvPr/>
        </p:nvSpPr>
        <p:spPr>
          <a:xfrm>
            <a:off x="5074920" y="1463040"/>
            <a:ext cx="3383280" cy="274320"/>
          </a:xfrm>
          <a:prstGeom prst="rect">
            <a:avLst/>
          </a:prstGeom>
          <a:noFill/>
          <a:ln/>
        </p:spPr>
        <p:txBody>
          <a:bodyPr wrap="square" lIns="0" tIns="0" rIns="0" bIns="0"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ML Principles &amp; Feature Engineering</a:t>
            </a:r>
            <a:endParaRPr lang="en-US" sz="1100" dirty="0"/>
          </a:p>
        </p:txBody>
      </p:sp>
      <p:sp>
        <p:nvSpPr>
          <p:cNvPr id="13" name="Text 11"/>
          <p:cNvSpPr/>
          <p:nvPr/>
        </p:nvSpPr>
        <p:spPr>
          <a:xfrm>
            <a:off x="5074920" y="1828800"/>
            <a:ext cx="3383280" cy="137160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Feature quality matters more than algorithm choice. Discusses bias-variance tradeoff, overfitting risks, and the "no free lunch" theorem — justifying multi-model evaluation rather than reliance on a single approach.</a:t>
            </a:r>
            <a:endParaRPr lang="en-US" sz="1050" dirty="0"/>
          </a:p>
        </p:txBody>
      </p:sp>
      <p:sp>
        <p:nvSpPr>
          <p:cNvPr id="14" name="Shape 12"/>
          <p:cNvSpPr/>
          <p:nvPr/>
        </p:nvSpPr>
        <p:spPr>
          <a:xfrm>
            <a:off x="457200" y="3566160"/>
            <a:ext cx="8229600" cy="12344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3"/>
          <p:cNvSpPr/>
          <p:nvPr/>
        </p:nvSpPr>
        <p:spPr>
          <a:xfrm>
            <a:off x="457200" y="3566160"/>
            <a:ext cx="73152" cy="1234440"/>
          </a:xfrm>
          <a:prstGeom prst="rect">
            <a:avLst/>
          </a:prstGeom>
          <a:solidFill>
            <a:srgbClr val="0891B2"/>
          </a:solidFill>
          <a:ln/>
        </p:spPr>
      </p:sp>
      <p:sp>
        <p:nvSpPr>
          <p:cNvPr id="16" name="Text 14"/>
          <p:cNvSpPr/>
          <p:nvPr/>
        </p:nvSpPr>
        <p:spPr>
          <a:xfrm>
            <a:off x="777240" y="3630168"/>
            <a:ext cx="2743200" cy="320040"/>
          </a:xfrm>
          <a:prstGeom prst="rect">
            <a:avLst/>
          </a:prstGeom>
          <a:noFill/>
          <a:ln/>
        </p:spPr>
        <p:txBody>
          <a:bodyPr wrap="square" lIns="0" tIns="0" rIns="0" bIns="0" rtlCol="0" anchor="ctr"/>
          <a:lstStyle/>
          <a:p>
            <a:pPr indent="0" marL="0">
              <a:buNone/>
            </a:pPr>
            <a:r>
              <a:rPr lang="en-US" sz="1300" b="1" dirty="0">
                <a:solidFill>
                  <a:srgbClr val="0891B2"/>
                </a:solidFill>
                <a:latin typeface="Trebuchet MS" pitchFamily="34" charset="0"/>
                <a:ea typeface="Trebuchet MS" pitchFamily="34" charset="-122"/>
                <a:cs typeface="Trebuchet MS" pitchFamily="34" charset="-120"/>
              </a:rPr>
              <a:t>Sculley et al. (2015)</a:t>
            </a:r>
            <a:endParaRPr lang="en-US" sz="1300" dirty="0"/>
          </a:p>
        </p:txBody>
      </p:sp>
      <p:sp>
        <p:nvSpPr>
          <p:cNvPr id="17" name="Text 15"/>
          <p:cNvSpPr/>
          <p:nvPr/>
        </p:nvSpPr>
        <p:spPr>
          <a:xfrm>
            <a:off x="3200400" y="3630168"/>
            <a:ext cx="3200400" cy="320040"/>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Hidden Technical Debt in ML Systems</a:t>
            </a:r>
            <a:endParaRPr lang="en-US" sz="1100" dirty="0"/>
          </a:p>
        </p:txBody>
      </p:sp>
      <p:sp>
        <p:nvSpPr>
          <p:cNvPr id="18" name="Text 16"/>
          <p:cNvSpPr/>
          <p:nvPr/>
        </p:nvSpPr>
        <p:spPr>
          <a:xfrm>
            <a:off x="777240" y="3977640"/>
            <a:ext cx="7680960" cy="73152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Highlights operational challenges: poorly documented pipelines, brittle feature dependencies, data drift, and lack of monitoring. Emphasizes designing robust, maintainable pipelines with automation, version control, and continuous evaluation.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B2D"/>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Churn Prediction &amp; Profitability</a:t>
            </a:r>
            <a:endParaRPr lang="en-US" sz="2400" dirty="0"/>
          </a:p>
        </p:txBody>
      </p:sp>
      <p:sp>
        <p:nvSpPr>
          <p:cNvPr id="4" name="Shape 2"/>
          <p:cNvSpPr/>
          <p:nvPr/>
        </p:nvSpPr>
        <p:spPr>
          <a:xfrm>
            <a:off x="457200" y="1051560"/>
            <a:ext cx="8229600" cy="11887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5" name="Shape 3"/>
          <p:cNvSpPr/>
          <p:nvPr/>
        </p:nvSpPr>
        <p:spPr>
          <a:xfrm>
            <a:off x="457200" y="1051560"/>
            <a:ext cx="73152" cy="1188720"/>
          </a:xfrm>
          <a:prstGeom prst="rect">
            <a:avLst/>
          </a:prstGeom>
          <a:solidFill>
            <a:srgbClr val="F59E0B"/>
          </a:solidFill>
          <a:ln/>
        </p:spPr>
      </p:sp>
      <p:sp>
        <p:nvSpPr>
          <p:cNvPr id="6" name="Text 4"/>
          <p:cNvSpPr/>
          <p:nvPr/>
        </p:nvSpPr>
        <p:spPr>
          <a:xfrm>
            <a:off x="777240" y="1115568"/>
            <a:ext cx="7315200" cy="320040"/>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Verbeke et al. (2012) — Profit-Driven Modeling</a:t>
            </a:r>
            <a:endParaRPr lang="en-US" sz="1300" dirty="0"/>
          </a:p>
        </p:txBody>
      </p:sp>
      <p:sp>
        <p:nvSpPr>
          <p:cNvPr id="7" name="Text 5"/>
          <p:cNvSpPr/>
          <p:nvPr/>
        </p:nvSpPr>
        <p:spPr>
          <a:xfrm>
            <a:off x="777240" y="1463040"/>
            <a:ext cx="7680960" cy="68580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Traditional metrics (accuracy, AUC) are insufficient — they ignore asymmetric costs of churn misclassification. Introduces profit-driven evaluation where churn prediction is assessed by its ability to maximize expected profit through targeted retention campaigns. Models with similar accuracy can produce very different business outcomes.</a:t>
            </a:r>
            <a:endParaRPr lang="en-US" sz="1050" dirty="0"/>
          </a:p>
        </p:txBody>
      </p:sp>
      <p:sp>
        <p:nvSpPr>
          <p:cNvPr id="8" name="Shape 6"/>
          <p:cNvSpPr/>
          <p:nvPr/>
        </p:nvSpPr>
        <p:spPr>
          <a:xfrm>
            <a:off x="457200" y="2468880"/>
            <a:ext cx="8229600" cy="118872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9" name="Shape 7"/>
          <p:cNvSpPr/>
          <p:nvPr/>
        </p:nvSpPr>
        <p:spPr>
          <a:xfrm>
            <a:off x="457200" y="2468880"/>
            <a:ext cx="73152" cy="1188720"/>
          </a:xfrm>
          <a:prstGeom prst="rect">
            <a:avLst/>
          </a:prstGeom>
          <a:solidFill>
            <a:srgbClr val="0891B2"/>
          </a:solidFill>
          <a:ln/>
        </p:spPr>
      </p:sp>
      <p:sp>
        <p:nvSpPr>
          <p:cNvPr id="10" name="Text 8"/>
          <p:cNvSpPr/>
          <p:nvPr/>
        </p:nvSpPr>
        <p:spPr>
          <a:xfrm>
            <a:off x="777240" y="2532888"/>
            <a:ext cx="7315200" cy="320040"/>
          </a:xfrm>
          <a:prstGeom prst="rect">
            <a:avLst/>
          </a:prstGeom>
          <a:noFill/>
          <a:ln/>
        </p:spPr>
        <p:txBody>
          <a:bodyPr wrap="square" lIns="0" tIns="0" rIns="0" bIns="0" rtlCol="0" anchor="ctr"/>
          <a:lstStyle/>
          <a:p>
            <a:pPr indent="0" marL="0">
              <a:buNone/>
            </a:pPr>
            <a:r>
              <a:rPr lang="en-US" sz="1300" b="1" dirty="0">
                <a:solidFill>
                  <a:srgbClr val="0891B2"/>
                </a:solidFill>
                <a:latin typeface="Trebuchet MS" pitchFamily="34" charset="0"/>
                <a:ea typeface="Trebuchet MS" pitchFamily="34" charset="-122"/>
                <a:cs typeface="Trebuchet MS" pitchFamily="34" charset="-120"/>
              </a:rPr>
              <a:t>Neslin et al. (2006) — Defection Detection</a:t>
            </a:r>
            <a:endParaRPr lang="en-US" sz="1300" dirty="0"/>
          </a:p>
        </p:txBody>
      </p:sp>
      <p:sp>
        <p:nvSpPr>
          <p:cNvPr id="11" name="Text 9"/>
          <p:cNvSpPr/>
          <p:nvPr/>
        </p:nvSpPr>
        <p:spPr>
          <a:xfrm>
            <a:off x="777240" y="2880360"/>
            <a:ext cx="7680960" cy="68580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Evaluates churn models by ranking ability rather than raw accuracy. Ranking customers by defection risk is more aligned with how managers deploy retention resources. Even modest improvements in predictive ranking can yield substantial financial gains at scale. Highlights challenges of class imbalance and noisy behavioral signals.</a:t>
            </a:r>
            <a:endParaRPr lang="en-US" sz="1050" dirty="0"/>
          </a:p>
        </p:txBody>
      </p:sp>
      <p:sp>
        <p:nvSpPr>
          <p:cNvPr id="12" name="Shape 10"/>
          <p:cNvSpPr/>
          <p:nvPr/>
        </p:nvSpPr>
        <p:spPr>
          <a:xfrm>
            <a:off x="457200" y="3886200"/>
            <a:ext cx="8229600" cy="10058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Shape 11"/>
          <p:cNvSpPr/>
          <p:nvPr/>
        </p:nvSpPr>
        <p:spPr>
          <a:xfrm>
            <a:off x="457200" y="3886200"/>
            <a:ext cx="73152" cy="1005840"/>
          </a:xfrm>
          <a:prstGeom prst="rect">
            <a:avLst/>
          </a:prstGeom>
          <a:solidFill>
            <a:srgbClr val="F59E0B"/>
          </a:solidFill>
          <a:ln/>
        </p:spPr>
      </p:sp>
      <p:sp>
        <p:nvSpPr>
          <p:cNvPr id="14" name="Text 12"/>
          <p:cNvSpPr/>
          <p:nvPr/>
        </p:nvSpPr>
        <p:spPr>
          <a:xfrm>
            <a:off x="777240" y="3950208"/>
            <a:ext cx="7315200" cy="320040"/>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Burez &amp; Van den Poel (2009) — Class Imbalance</a:t>
            </a:r>
            <a:endParaRPr lang="en-US" sz="1300" dirty="0"/>
          </a:p>
        </p:txBody>
      </p:sp>
      <p:sp>
        <p:nvSpPr>
          <p:cNvPr id="15" name="Text 13"/>
          <p:cNvSpPr/>
          <p:nvPr/>
        </p:nvSpPr>
        <p:spPr>
          <a:xfrm>
            <a:off x="777240" y="4297680"/>
            <a:ext cx="7680960" cy="50292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Systematically evaluates resampling, cost-sensitive learning, and ensemble methods for imbalanced churn datasets. Proper handling of class imbalance significantly improves identification of high-risk customers. Supports use of recall, precision, and profit-based evaluation metrics.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B2D"/>
          </a:solidFill>
          <a:ln/>
        </p:spPr>
      </p:sp>
      <p:sp>
        <p:nvSpPr>
          <p:cNvPr id="3" name="Text 1"/>
          <p:cNvSpPr/>
          <p:nvPr/>
        </p:nvSpPr>
        <p:spPr>
          <a:xfrm>
            <a:off x="54864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Advanced Techniques &amp; Applications</a:t>
            </a:r>
            <a:endParaRPr lang="en-US" sz="2400" dirty="0"/>
          </a:p>
        </p:txBody>
      </p:sp>
      <p:sp>
        <p:nvSpPr>
          <p:cNvPr id="4" name="Shape 2"/>
          <p:cNvSpPr/>
          <p:nvPr/>
        </p:nvSpPr>
        <p:spPr>
          <a:xfrm>
            <a:off x="457200" y="1051560"/>
            <a:ext cx="3931920" cy="17830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5" name="Shape 3"/>
          <p:cNvSpPr/>
          <p:nvPr/>
        </p:nvSpPr>
        <p:spPr>
          <a:xfrm>
            <a:off x="457200" y="1051560"/>
            <a:ext cx="3931920" cy="54864"/>
          </a:xfrm>
          <a:prstGeom prst="rect">
            <a:avLst/>
          </a:prstGeom>
          <a:solidFill>
            <a:srgbClr val="0891B2"/>
          </a:solidFill>
          <a:ln/>
        </p:spPr>
      </p:sp>
      <p:sp>
        <p:nvSpPr>
          <p:cNvPr id="6" name="Text 4"/>
          <p:cNvSpPr/>
          <p:nvPr/>
        </p:nvSpPr>
        <p:spPr>
          <a:xfrm>
            <a:off x="640080" y="1234440"/>
            <a:ext cx="3566160" cy="274320"/>
          </a:xfrm>
          <a:prstGeom prst="rect">
            <a:avLst/>
          </a:prstGeom>
          <a:noFill/>
          <a:ln/>
        </p:spPr>
        <p:txBody>
          <a:bodyPr wrap="square" lIns="0" tIns="0" rIns="0" bIns="0" rtlCol="0" anchor="ctr"/>
          <a:lstStyle/>
          <a:p>
            <a:pPr indent="0" marL="0">
              <a:buNone/>
            </a:pPr>
            <a:r>
              <a:rPr lang="en-US" sz="1300" b="1" dirty="0">
                <a:solidFill>
                  <a:srgbClr val="0891B2"/>
                </a:solidFill>
                <a:latin typeface="Trebuchet MS" pitchFamily="34" charset="0"/>
                <a:ea typeface="Trebuchet MS" pitchFamily="34" charset="-122"/>
                <a:cs typeface="Trebuchet MS" pitchFamily="34" charset="-120"/>
              </a:rPr>
              <a:t>Lemmens &amp; Croux (2006)</a:t>
            </a:r>
            <a:endParaRPr lang="en-US" sz="1300" dirty="0"/>
          </a:p>
        </p:txBody>
      </p:sp>
      <p:sp>
        <p:nvSpPr>
          <p:cNvPr id="7" name="Text 5"/>
          <p:cNvSpPr/>
          <p:nvPr/>
        </p:nvSpPr>
        <p:spPr>
          <a:xfrm>
            <a:off x="640080" y="1508760"/>
            <a:ext cx="3566160" cy="22860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Bagging &amp; Boosting Classification Trees</a:t>
            </a:r>
            <a:endParaRPr lang="en-US" sz="1000" dirty="0"/>
          </a:p>
        </p:txBody>
      </p:sp>
      <p:sp>
        <p:nvSpPr>
          <p:cNvPr id="8" name="Text 6"/>
          <p:cNvSpPr/>
          <p:nvPr/>
        </p:nvSpPr>
        <p:spPr>
          <a:xfrm>
            <a:off x="640080" y="1828800"/>
            <a:ext cx="3566160" cy="86868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Ensemble methods significantly outperform single classifiers. Emphasize feature quality for tree-based models and ranking-based evaluation aligned with retention strategies.</a:t>
            </a:r>
            <a:endParaRPr lang="en-US" sz="1050" dirty="0"/>
          </a:p>
        </p:txBody>
      </p:sp>
      <p:sp>
        <p:nvSpPr>
          <p:cNvPr id="9" name="Shape 7"/>
          <p:cNvSpPr/>
          <p:nvPr/>
        </p:nvSpPr>
        <p:spPr>
          <a:xfrm>
            <a:off x="457200" y="3063240"/>
            <a:ext cx="3931920" cy="17830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0" name="Shape 8"/>
          <p:cNvSpPr/>
          <p:nvPr/>
        </p:nvSpPr>
        <p:spPr>
          <a:xfrm>
            <a:off x="457200" y="3063240"/>
            <a:ext cx="3931920" cy="54864"/>
          </a:xfrm>
          <a:prstGeom prst="rect">
            <a:avLst/>
          </a:prstGeom>
          <a:solidFill>
            <a:srgbClr val="F59E0B"/>
          </a:solidFill>
          <a:ln/>
        </p:spPr>
      </p:sp>
      <p:sp>
        <p:nvSpPr>
          <p:cNvPr id="11" name="Text 9"/>
          <p:cNvSpPr/>
          <p:nvPr/>
        </p:nvSpPr>
        <p:spPr>
          <a:xfrm>
            <a:off x="640080" y="3246120"/>
            <a:ext cx="3566160" cy="274320"/>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Mozer et al. (2000)</a:t>
            </a:r>
            <a:endParaRPr lang="en-US" sz="1300" dirty="0"/>
          </a:p>
        </p:txBody>
      </p:sp>
      <p:sp>
        <p:nvSpPr>
          <p:cNvPr id="12" name="Text 10"/>
          <p:cNvSpPr/>
          <p:nvPr/>
        </p:nvSpPr>
        <p:spPr>
          <a:xfrm>
            <a:off x="640080" y="3520440"/>
            <a:ext cx="3566160" cy="22860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Neural Networks for Telecom Churn</a:t>
            </a:r>
            <a:endParaRPr lang="en-US" sz="1000" dirty="0"/>
          </a:p>
        </p:txBody>
      </p:sp>
      <p:sp>
        <p:nvSpPr>
          <p:cNvPr id="13" name="Text 11"/>
          <p:cNvSpPr/>
          <p:nvPr/>
        </p:nvSpPr>
        <p:spPr>
          <a:xfrm>
            <a:off x="640080" y="3840480"/>
            <a:ext cx="3566160" cy="86868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Pioneering use of neural networks for churn. Demonstrates that raw data must be aggregated into meaningful behavioral features. Discusses CRM integration for deployment.</a:t>
            </a:r>
            <a:endParaRPr lang="en-US" sz="1050" dirty="0"/>
          </a:p>
        </p:txBody>
      </p:sp>
      <p:sp>
        <p:nvSpPr>
          <p:cNvPr id="14" name="Shape 12"/>
          <p:cNvSpPr/>
          <p:nvPr/>
        </p:nvSpPr>
        <p:spPr>
          <a:xfrm>
            <a:off x="4754880" y="1051560"/>
            <a:ext cx="3931920" cy="17830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5" name="Shape 13"/>
          <p:cNvSpPr/>
          <p:nvPr/>
        </p:nvSpPr>
        <p:spPr>
          <a:xfrm>
            <a:off x="4754880" y="1051560"/>
            <a:ext cx="3931920" cy="54864"/>
          </a:xfrm>
          <a:prstGeom prst="rect">
            <a:avLst/>
          </a:prstGeom>
          <a:solidFill>
            <a:srgbClr val="0891B2"/>
          </a:solidFill>
          <a:ln/>
        </p:spPr>
      </p:sp>
      <p:sp>
        <p:nvSpPr>
          <p:cNvPr id="16" name="Text 14"/>
          <p:cNvSpPr/>
          <p:nvPr/>
        </p:nvSpPr>
        <p:spPr>
          <a:xfrm>
            <a:off x="4937760" y="1234440"/>
            <a:ext cx="3566160" cy="274320"/>
          </a:xfrm>
          <a:prstGeom prst="rect">
            <a:avLst/>
          </a:prstGeom>
          <a:noFill/>
          <a:ln/>
        </p:spPr>
        <p:txBody>
          <a:bodyPr wrap="square" lIns="0" tIns="0" rIns="0" bIns="0" rtlCol="0" anchor="ctr"/>
          <a:lstStyle/>
          <a:p>
            <a:pPr indent="0" marL="0">
              <a:buNone/>
            </a:pPr>
            <a:r>
              <a:rPr lang="en-US" sz="1300" b="1" dirty="0">
                <a:solidFill>
                  <a:srgbClr val="0891B2"/>
                </a:solidFill>
                <a:latin typeface="Trebuchet MS" pitchFamily="34" charset="0"/>
                <a:ea typeface="Trebuchet MS" pitchFamily="34" charset="-122"/>
                <a:cs typeface="Trebuchet MS" pitchFamily="34" charset="-120"/>
              </a:rPr>
              <a:t>Imani et al. (2025)</a:t>
            </a:r>
            <a:endParaRPr lang="en-US" sz="1300" dirty="0"/>
          </a:p>
        </p:txBody>
      </p:sp>
      <p:sp>
        <p:nvSpPr>
          <p:cNvPr id="17" name="Text 15"/>
          <p:cNvSpPr/>
          <p:nvPr/>
        </p:nvSpPr>
        <p:spPr>
          <a:xfrm>
            <a:off x="4937760" y="1508760"/>
            <a:ext cx="3566160" cy="228600"/>
          </a:xfrm>
          <a:prstGeom prst="rect">
            <a:avLst/>
          </a:prstGeom>
          <a:noFill/>
          <a:ln/>
        </p:spPr>
        <p:txBody>
          <a:bodyPr wrap="square" lIns="0" tIns="0" rIns="0" bIns="0"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Systematic Review (200+ Studies)</a:t>
            </a:r>
            <a:endParaRPr lang="en-US" sz="1000" dirty="0"/>
          </a:p>
        </p:txBody>
      </p:sp>
      <p:sp>
        <p:nvSpPr>
          <p:cNvPr id="18" name="Text 16"/>
          <p:cNvSpPr/>
          <p:nvPr/>
        </p:nvSpPr>
        <p:spPr>
          <a:xfrm>
            <a:off x="4937760" y="1828800"/>
            <a:ext cx="3566160" cy="86868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Synthesizes trends in ensemble, deep learning, and hybrid methods. Identifies persistent challenges: class imbalance, feature instability, limited interpretability, and deployment constraints.</a:t>
            </a:r>
            <a:endParaRPr lang="en-US" sz="1050" dirty="0"/>
          </a:p>
        </p:txBody>
      </p:sp>
      <p:sp>
        <p:nvSpPr>
          <p:cNvPr id="19" name="Shape 17"/>
          <p:cNvSpPr/>
          <p:nvPr/>
        </p:nvSpPr>
        <p:spPr>
          <a:xfrm>
            <a:off x="4754880" y="3063240"/>
            <a:ext cx="3931920" cy="178308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0" name="Shape 18"/>
          <p:cNvSpPr/>
          <p:nvPr/>
        </p:nvSpPr>
        <p:spPr>
          <a:xfrm>
            <a:off x="4754880" y="3063240"/>
            <a:ext cx="3931920" cy="54864"/>
          </a:xfrm>
          <a:prstGeom prst="rect">
            <a:avLst/>
          </a:prstGeom>
          <a:solidFill>
            <a:srgbClr val="F59E0B"/>
          </a:solidFill>
          <a:ln/>
        </p:spPr>
      </p:sp>
      <p:sp>
        <p:nvSpPr>
          <p:cNvPr id="21" name="Text 19"/>
          <p:cNvSpPr/>
          <p:nvPr/>
        </p:nvSpPr>
        <p:spPr>
          <a:xfrm>
            <a:off x="4937760" y="3246120"/>
            <a:ext cx="3566160" cy="274320"/>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Ullah et al. (2019)</a:t>
            </a:r>
            <a:endParaRPr lang="en-US" sz="1300" dirty="0"/>
          </a:p>
        </p:txBody>
      </p:sp>
      <p:sp>
        <p:nvSpPr>
          <p:cNvPr id="22" name="Text 20"/>
          <p:cNvSpPr/>
          <p:nvPr/>
        </p:nvSpPr>
        <p:spPr>
          <a:xfrm>
            <a:off x="4937760" y="3520440"/>
            <a:ext cx="3566160" cy="228600"/>
          </a:xfrm>
          <a:prstGeom prst="rect">
            <a:avLst/>
          </a:prstGeom>
          <a:noFill/>
          <a:ln/>
        </p:spPr>
        <p:txBody>
          <a:bodyPr wrap="square" lIns="0" tIns="0" rIns="0" bIns="0" rtlCol="0" anchor="ctr"/>
          <a:lstStyle/>
          <a:p>
            <a:pPr indent="0" marL="0">
              <a:buNone/>
            </a:pPr>
            <a:r>
              <a:rPr lang="en-US" sz="1000" b="1" dirty="0">
                <a:solidFill>
                  <a:srgbClr val="0891B2"/>
                </a:solidFill>
                <a:latin typeface="Calibri" pitchFamily="34" charset="0"/>
                <a:ea typeface="Calibri" pitchFamily="34" charset="-122"/>
                <a:cs typeface="Calibri" pitchFamily="34" charset="-120"/>
              </a:rPr>
              <a:t>Random Forest for Telecom Churn</a:t>
            </a:r>
            <a:endParaRPr lang="en-US" sz="1000" dirty="0"/>
          </a:p>
        </p:txBody>
      </p:sp>
      <p:sp>
        <p:nvSpPr>
          <p:cNvPr id="23" name="Text 21"/>
          <p:cNvSpPr/>
          <p:nvPr/>
        </p:nvSpPr>
        <p:spPr>
          <a:xfrm>
            <a:off x="4937760" y="3840480"/>
            <a:ext cx="3566160" cy="868680"/>
          </a:xfrm>
          <a:prstGeom prst="rect">
            <a:avLst/>
          </a:prstGeom>
          <a:noFill/>
          <a:ln/>
        </p:spPr>
        <p:txBody>
          <a:bodyPr wrap="square" lIns="0" tIns="0" rIns="0" bIns="0" rtlCol="0" anchor="ctr"/>
          <a:lstStyle/>
          <a:p>
            <a:pPr indent="0" marL="0">
              <a:lnSpc>
                <a:spcPct val="135000"/>
              </a:lnSpc>
              <a:buNone/>
            </a:pPr>
            <a:r>
              <a:rPr lang="en-US" sz="1050" dirty="0">
                <a:solidFill>
                  <a:srgbClr val="475569"/>
                </a:solidFill>
                <a:latin typeface="Calibri" pitchFamily="34" charset="0"/>
                <a:ea typeface="Calibri" pitchFamily="34" charset="-122"/>
                <a:cs typeface="Calibri" pitchFamily="34" charset="-120"/>
              </a:rPr>
              <a:t>Hybrid model combining classification and clustering achieves ~88.6% accuracy. Demonstrates that integrated ML techniques provide both accurate predictions and actionable CRM insights.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B2D"/>
          </a:solidFill>
          <a:ln/>
        </p:spPr>
      </p:sp>
      <p:pic>
        <p:nvPicPr>
          <p:cNvPr id="3" name="Image 0" descr="preencoded.png">    </p:cNvPr>
          <p:cNvPicPr>
            <a:picLocks noChangeAspect="1"/>
          </p:cNvPicPr>
          <p:nvPr/>
        </p:nvPicPr>
        <p:blipFill>
          <a:blip r:embed="rId1"/>
          <a:stretch>
            <a:fillRect/>
          </a:stretch>
        </p:blipFill>
        <p:spPr>
          <a:xfrm>
            <a:off x="548640" y="182880"/>
            <a:ext cx="384048" cy="384048"/>
          </a:xfrm>
          <a:prstGeom prst="rect">
            <a:avLst/>
          </a:prstGeom>
        </p:spPr>
      </p:pic>
      <p:sp>
        <p:nvSpPr>
          <p:cNvPr id="4" name="Text 1"/>
          <p:cNvSpPr/>
          <p:nvPr/>
        </p:nvSpPr>
        <p:spPr>
          <a:xfrm>
            <a:off x="1051560" y="13716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Key Themes from Literature</a:t>
            </a:r>
            <a:endParaRPr lang="en-US" sz="2400" dirty="0"/>
          </a:p>
        </p:txBody>
      </p:sp>
      <p:sp>
        <p:nvSpPr>
          <p:cNvPr id="5" name="Shape 2"/>
          <p:cNvSpPr/>
          <p:nvPr/>
        </p:nvSpPr>
        <p:spPr>
          <a:xfrm>
            <a:off x="457200" y="1097280"/>
            <a:ext cx="8229600" cy="804672"/>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6" name="Shape 3"/>
          <p:cNvSpPr/>
          <p:nvPr/>
        </p:nvSpPr>
        <p:spPr>
          <a:xfrm>
            <a:off x="457200" y="1097280"/>
            <a:ext cx="73152" cy="804672"/>
          </a:xfrm>
          <a:prstGeom prst="rect">
            <a:avLst/>
          </a:prstGeom>
          <a:solidFill>
            <a:srgbClr val="F59E0B"/>
          </a:solidFill>
          <a:ln/>
        </p:spPr>
      </p:sp>
      <p:pic>
        <p:nvPicPr>
          <p:cNvPr id="7" name="Image 1" descr="preencoded.png">    </p:cNvPr>
          <p:cNvPicPr>
            <a:picLocks noChangeAspect="1"/>
          </p:cNvPicPr>
          <p:nvPr/>
        </p:nvPicPr>
        <p:blipFill>
          <a:blip r:embed="rId2"/>
          <a:stretch>
            <a:fillRect/>
          </a:stretch>
        </p:blipFill>
        <p:spPr>
          <a:xfrm>
            <a:off x="731520" y="1280160"/>
            <a:ext cx="365760" cy="365760"/>
          </a:xfrm>
          <a:prstGeom prst="rect">
            <a:avLst/>
          </a:prstGeom>
        </p:spPr>
      </p:pic>
      <p:sp>
        <p:nvSpPr>
          <p:cNvPr id="8" name="Text 4"/>
          <p:cNvSpPr/>
          <p:nvPr/>
        </p:nvSpPr>
        <p:spPr>
          <a:xfrm>
            <a:off x="1280160" y="1170432"/>
            <a:ext cx="713232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Feature Engineering &gt; Algorithm Choice</a:t>
            </a:r>
            <a:endParaRPr lang="en-US" sz="1300" dirty="0"/>
          </a:p>
        </p:txBody>
      </p:sp>
      <p:sp>
        <p:nvSpPr>
          <p:cNvPr id="9" name="Text 5"/>
          <p:cNvSpPr/>
          <p:nvPr/>
        </p:nvSpPr>
        <p:spPr>
          <a:xfrm>
            <a:off x="1280160" y="1463040"/>
            <a:ext cx="7132320" cy="384048"/>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Calibri" pitchFamily="34" charset="0"/>
                <a:ea typeface="Calibri" pitchFamily="34" charset="-122"/>
                <a:cs typeface="Calibri" pitchFamily="34" charset="-120"/>
              </a:rPr>
              <a:t>Multiple studies confirm that feature quality and business relevance have greater impact on churn prediction than algorithm selection alone.</a:t>
            </a:r>
            <a:endParaRPr lang="en-US" sz="1050" dirty="0"/>
          </a:p>
        </p:txBody>
      </p:sp>
      <p:sp>
        <p:nvSpPr>
          <p:cNvPr id="10" name="Shape 6"/>
          <p:cNvSpPr/>
          <p:nvPr/>
        </p:nvSpPr>
        <p:spPr>
          <a:xfrm>
            <a:off x="457200" y="2057400"/>
            <a:ext cx="8229600" cy="804672"/>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1" name="Shape 7"/>
          <p:cNvSpPr/>
          <p:nvPr/>
        </p:nvSpPr>
        <p:spPr>
          <a:xfrm>
            <a:off x="457200" y="2057400"/>
            <a:ext cx="73152" cy="804672"/>
          </a:xfrm>
          <a:prstGeom prst="rect">
            <a:avLst/>
          </a:prstGeom>
          <a:solidFill>
            <a:srgbClr val="0891B2"/>
          </a:solidFill>
          <a:ln/>
        </p:spPr>
      </p:sp>
      <p:pic>
        <p:nvPicPr>
          <p:cNvPr id="12" name="Image 2" descr="preencoded.png">    </p:cNvPr>
          <p:cNvPicPr>
            <a:picLocks noChangeAspect="1"/>
          </p:cNvPicPr>
          <p:nvPr/>
        </p:nvPicPr>
        <p:blipFill>
          <a:blip r:embed="rId3"/>
          <a:stretch>
            <a:fillRect/>
          </a:stretch>
        </p:blipFill>
        <p:spPr>
          <a:xfrm>
            <a:off x="731520" y="2240280"/>
            <a:ext cx="365760" cy="365760"/>
          </a:xfrm>
          <a:prstGeom prst="rect">
            <a:avLst/>
          </a:prstGeom>
        </p:spPr>
      </p:pic>
      <p:sp>
        <p:nvSpPr>
          <p:cNvPr id="13" name="Text 8"/>
          <p:cNvSpPr/>
          <p:nvPr/>
        </p:nvSpPr>
        <p:spPr>
          <a:xfrm>
            <a:off x="1280160" y="2130552"/>
            <a:ext cx="713232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Profit-Driven Evaluation</a:t>
            </a:r>
            <a:endParaRPr lang="en-US" sz="1300" dirty="0"/>
          </a:p>
        </p:txBody>
      </p:sp>
      <p:sp>
        <p:nvSpPr>
          <p:cNvPr id="14" name="Text 9"/>
          <p:cNvSpPr/>
          <p:nvPr/>
        </p:nvSpPr>
        <p:spPr>
          <a:xfrm>
            <a:off x="1280160" y="2423160"/>
            <a:ext cx="7132320" cy="384048"/>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Calibri" pitchFamily="34" charset="0"/>
                <a:ea typeface="Calibri" pitchFamily="34" charset="-122"/>
                <a:cs typeface="Calibri" pitchFamily="34" charset="-120"/>
              </a:rPr>
              <a:t>Traditional accuracy metrics are insufficient. Models must be evaluated by ranking ability and expected profit impact on retention campaigns.</a:t>
            </a:r>
            <a:endParaRPr lang="en-US" sz="1050" dirty="0"/>
          </a:p>
        </p:txBody>
      </p:sp>
      <p:sp>
        <p:nvSpPr>
          <p:cNvPr id="15" name="Shape 10"/>
          <p:cNvSpPr/>
          <p:nvPr/>
        </p:nvSpPr>
        <p:spPr>
          <a:xfrm>
            <a:off x="457200" y="3017520"/>
            <a:ext cx="8229600" cy="804672"/>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6" name="Shape 11"/>
          <p:cNvSpPr/>
          <p:nvPr/>
        </p:nvSpPr>
        <p:spPr>
          <a:xfrm>
            <a:off x="457200" y="3017520"/>
            <a:ext cx="73152" cy="804672"/>
          </a:xfrm>
          <a:prstGeom prst="rect">
            <a:avLst/>
          </a:prstGeom>
          <a:solidFill>
            <a:srgbClr val="F59E0B"/>
          </a:solidFill>
          <a:ln/>
        </p:spPr>
      </p:sp>
      <p:pic>
        <p:nvPicPr>
          <p:cNvPr id="17" name="Image 3" descr="preencoded.png">    </p:cNvPr>
          <p:cNvPicPr>
            <a:picLocks noChangeAspect="1"/>
          </p:cNvPicPr>
          <p:nvPr/>
        </p:nvPicPr>
        <p:blipFill>
          <a:blip r:embed="rId4"/>
          <a:stretch>
            <a:fillRect/>
          </a:stretch>
        </p:blipFill>
        <p:spPr>
          <a:xfrm>
            <a:off x="731520" y="3200400"/>
            <a:ext cx="365760" cy="365760"/>
          </a:xfrm>
          <a:prstGeom prst="rect">
            <a:avLst/>
          </a:prstGeom>
        </p:spPr>
      </p:pic>
      <p:sp>
        <p:nvSpPr>
          <p:cNvPr id="18" name="Text 12"/>
          <p:cNvSpPr/>
          <p:nvPr/>
        </p:nvSpPr>
        <p:spPr>
          <a:xfrm>
            <a:off x="1280160" y="3090672"/>
            <a:ext cx="713232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Class Imbalance is Critical</a:t>
            </a:r>
            <a:endParaRPr lang="en-US" sz="1300" dirty="0"/>
          </a:p>
        </p:txBody>
      </p:sp>
      <p:sp>
        <p:nvSpPr>
          <p:cNvPr id="19" name="Text 13"/>
          <p:cNvSpPr/>
          <p:nvPr/>
        </p:nvSpPr>
        <p:spPr>
          <a:xfrm>
            <a:off x="1280160" y="3383280"/>
            <a:ext cx="7132320" cy="384048"/>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Calibri" pitchFamily="34" charset="0"/>
                <a:ea typeface="Calibri" pitchFamily="34" charset="-122"/>
                <a:cs typeface="Calibri" pitchFamily="34" charset="-120"/>
              </a:rPr>
              <a:t>Churners are typically a small fraction of the customer base. Proper handling via resampling, cost-sensitive learning, and appropriate metrics is essential.</a:t>
            </a:r>
            <a:endParaRPr lang="en-US" sz="1050" dirty="0"/>
          </a:p>
        </p:txBody>
      </p:sp>
      <p:sp>
        <p:nvSpPr>
          <p:cNvPr id="20" name="Shape 14"/>
          <p:cNvSpPr/>
          <p:nvPr/>
        </p:nvSpPr>
        <p:spPr>
          <a:xfrm>
            <a:off x="457200" y="3977640"/>
            <a:ext cx="8229600" cy="804672"/>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1" name="Shape 15"/>
          <p:cNvSpPr/>
          <p:nvPr/>
        </p:nvSpPr>
        <p:spPr>
          <a:xfrm>
            <a:off x="457200" y="3977640"/>
            <a:ext cx="73152" cy="804672"/>
          </a:xfrm>
          <a:prstGeom prst="rect">
            <a:avLst/>
          </a:prstGeom>
          <a:solidFill>
            <a:srgbClr val="0891B2"/>
          </a:solidFill>
          <a:ln/>
        </p:spPr>
      </p:sp>
      <p:pic>
        <p:nvPicPr>
          <p:cNvPr id="22" name="Image 4" descr="preencoded.png">    </p:cNvPr>
          <p:cNvPicPr>
            <a:picLocks noChangeAspect="1"/>
          </p:cNvPicPr>
          <p:nvPr/>
        </p:nvPicPr>
        <p:blipFill>
          <a:blip r:embed="rId5"/>
          <a:stretch>
            <a:fillRect/>
          </a:stretch>
        </p:blipFill>
        <p:spPr>
          <a:xfrm>
            <a:off x="731520" y="4160520"/>
            <a:ext cx="365760" cy="365760"/>
          </a:xfrm>
          <a:prstGeom prst="rect">
            <a:avLst/>
          </a:prstGeom>
        </p:spPr>
      </p:pic>
      <p:sp>
        <p:nvSpPr>
          <p:cNvPr id="23" name="Text 16"/>
          <p:cNvSpPr/>
          <p:nvPr/>
        </p:nvSpPr>
        <p:spPr>
          <a:xfrm>
            <a:off x="1280160" y="4050792"/>
            <a:ext cx="713232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Business Interpretability Matters</a:t>
            </a:r>
            <a:endParaRPr lang="en-US" sz="1300" dirty="0"/>
          </a:p>
        </p:txBody>
      </p:sp>
      <p:sp>
        <p:nvSpPr>
          <p:cNvPr id="24" name="Text 17"/>
          <p:cNvSpPr/>
          <p:nvPr/>
        </p:nvSpPr>
        <p:spPr>
          <a:xfrm>
            <a:off x="1280160" y="4343400"/>
            <a:ext cx="7132320" cy="384048"/>
          </a:xfrm>
          <a:prstGeom prst="rect">
            <a:avLst/>
          </a:prstGeom>
          <a:noFill/>
          <a:ln/>
        </p:spPr>
        <p:txBody>
          <a:bodyPr wrap="square" lIns="0" tIns="0" rIns="0" bIns="0" rtlCol="0" anchor="ctr"/>
          <a:lstStyle/>
          <a:p>
            <a:pPr indent="0" marL="0">
              <a:lnSpc>
                <a:spcPct val="130000"/>
              </a:lnSpc>
              <a:buNone/>
            </a:pPr>
            <a:r>
              <a:rPr lang="en-US" sz="1050" dirty="0">
                <a:solidFill>
                  <a:srgbClr val="475569"/>
                </a:solidFill>
                <a:latin typeface="Calibri" pitchFamily="34" charset="0"/>
                <a:ea typeface="Calibri" pitchFamily="34" charset="-122"/>
                <a:cs typeface="Calibri" pitchFamily="34" charset="-120"/>
              </a:rPr>
              <a:t>Model outputs must be translated into actionable retention strategies for executive stakeholders — not just technical performance reports.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2743200" y="1280160"/>
            <a:ext cx="3657600" cy="54864"/>
          </a:xfrm>
          <a:prstGeom prst="rect">
            <a:avLst/>
          </a:prstGeom>
          <a:solidFill>
            <a:srgbClr val="F59E0B"/>
          </a:solidFill>
          <a:ln/>
        </p:spPr>
      </p:sp>
      <p:sp>
        <p:nvSpPr>
          <p:cNvPr id="4" name="Text 2"/>
          <p:cNvSpPr/>
          <p:nvPr/>
        </p:nvSpPr>
        <p:spPr>
          <a:xfrm>
            <a:off x="914400" y="1554480"/>
            <a:ext cx="731520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Thank You</a:t>
            </a:r>
            <a:endParaRPr lang="en-US" sz="4000" dirty="0"/>
          </a:p>
        </p:txBody>
      </p:sp>
      <p:sp>
        <p:nvSpPr>
          <p:cNvPr id="5" name="Text 3"/>
          <p:cNvSpPr/>
          <p:nvPr/>
        </p:nvSpPr>
        <p:spPr>
          <a:xfrm>
            <a:off x="914400" y="2468880"/>
            <a:ext cx="7315200" cy="457200"/>
          </a:xfrm>
          <a:prstGeom prst="rect">
            <a:avLst/>
          </a:prstGeom>
          <a:noFill/>
          <a:ln/>
        </p:spPr>
        <p:txBody>
          <a:bodyPr wrap="square" lIns="0" tIns="0" rIns="0" bIns="0" rtlCol="0" anchor="ctr"/>
          <a:lstStyle/>
          <a:p>
            <a:pPr algn="ctr" indent="0" marL="0">
              <a:buNone/>
            </a:pPr>
            <a:r>
              <a:rPr lang="en-US" sz="1800" dirty="0">
                <a:solidFill>
                  <a:srgbClr val="06B6D4"/>
                </a:solidFill>
                <a:latin typeface="Calibri" pitchFamily="34" charset="0"/>
                <a:ea typeface="Calibri" pitchFamily="34" charset="-122"/>
                <a:cs typeface="Calibri" pitchFamily="34" charset="-120"/>
              </a:rPr>
              <a:t>Questions &amp; Discussion</a:t>
            </a:r>
            <a:endParaRPr lang="en-US" sz="1800" dirty="0"/>
          </a:p>
        </p:txBody>
      </p:sp>
      <p:sp>
        <p:nvSpPr>
          <p:cNvPr id="6" name="Shape 4"/>
          <p:cNvSpPr/>
          <p:nvPr/>
        </p:nvSpPr>
        <p:spPr>
          <a:xfrm>
            <a:off x="0" y="4434840"/>
            <a:ext cx="9144000" cy="713232"/>
          </a:xfrm>
          <a:prstGeom prst="rect">
            <a:avLst/>
          </a:prstGeom>
          <a:solidFill>
            <a:srgbClr val="1B2A4A"/>
          </a:solidFill>
          <a:ln/>
        </p:spPr>
      </p:sp>
      <p:sp>
        <p:nvSpPr>
          <p:cNvPr id="7" name="Text 5"/>
          <p:cNvSpPr/>
          <p:nvPr/>
        </p:nvSpPr>
        <p:spPr>
          <a:xfrm>
            <a:off x="914400" y="4526280"/>
            <a:ext cx="7315200" cy="256032"/>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G5: Lixuan Xiao  •  Michael Dawson  •  Yang Yu</a:t>
            </a:r>
            <a:endParaRPr lang="en-US" sz="1200" dirty="0"/>
          </a:p>
        </p:txBody>
      </p:sp>
      <p:sp>
        <p:nvSpPr>
          <p:cNvPr id="8" name="Text 6"/>
          <p:cNvSpPr/>
          <p:nvPr/>
        </p:nvSpPr>
        <p:spPr>
          <a:xfrm>
            <a:off x="914400" y="4736592"/>
            <a:ext cx="7315200" cy="256032"/>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Customer Churn Prediction &amp; Retention Strategy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 Introduction &amp; Literature Review</dc:title>
  <dc:subject>PptxGenJS Presentation</dc:subject>
  <dc:creator>G5: Lixuan Xiao, Michael Dawson, Yang Yu</dc:creator>
  <cp:lastModifiedBy>G5: Lixuan Xiao, Michael Dawson, Yang Yu</cp:lastModifiedBy>
  <cp:revision>1</cp:revision>
  <dcterms:created xsi:type="dcterms:W3CDTF">2026-02-26T20:42:47Z</dcterms:created>
  <dcterms:modified xsi:type="dcterms:W3CDTF">2026-02-26T20:42:47Z</dcterms:modified>
</cp:coreProperties>
</file>