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0" r:id="rId7"/>
    <p:sldId id="261" r:id="rId8"/>
    <p:sldId id="263" r:id="rId9"/>
    <p:sldId id="264" r:id="rId10"/>
    <p:sldId id="266" r:id="rId11"/>
    <p:sldId id="267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4A6872"/>
              </a:solidFill>
              <a:effectLst/>
            </c:spPr>
          </c:dPt>
          <c:dPt>
            <c:idx val="1"/>
            <c:bubble3D val="0"/>
            <c:spPr>
              <a:solidFill>
                <a:srgbClr val="E05050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100" b="0" i="0" u="none" strike="noStrike" kern="1200" baseline="0">
                      <a:solidFill>
                        <a:srgbClr val="FFFFFF"/>
                      </a:solidFill>
                      <a:latin typeface="Arial" panose="020B060402020209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100" b="0" i="0" u="none" strike="noStrike" kern="1200" baseline="0">
                      <a:solidFill>
                        <a:srgbClr val="FFFFFF"/>
                      </a:solidFill>
                      <a:latin typeface="Arial" panose="020B060402020209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rgbClr val="000000"/>
                    </a:solidFill>
                    <a:latin typeface="Arial" panose="020B060402020209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No Churn (86%)</c:v>
                </c:pt>
                <c:pt idx="1">
                  <c:v>Churn (14%)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86</c:v>
                </c:pt>
                <c:pt idx="1">
                  <c:v>14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</c:chart>
  <c:spPr>
    <a:solidFill>
      <a:srgbClr val="F4FAFB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bubble3D val="0"/>
            <c:spPr>
              <a:solidFill>
                <a:srgbClr val="02C39A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100" b="0" i="0" u="none" strike="noStrike" kern="1200" baseline="0">
                      <a:solidFill>
                        <a:srgbClr val="FFFFFF"/>
                      </a:solidFill>
                      <a:latin typeface="Arial" panose="020B060402020209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100" b="0" i="0" u="none" strike="noStrike" kern="1200" baseline="0">
                      <a:solidFill>
                        <a:srgbClr val="FFFFFF"/>
                      </a:solidFill>
                      <a:latin typeface="Arial" panose="020B060402020209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rgbClr val="000000"/>
                    </a:solidFill>
                    <a:latin typeface="Arial" panose="020B060402020209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No Churn (50%)</c:v>
                </c:pt>
                <c:pt idx="1">
                  <c:v>Churn (50%)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</c:chart>
  <c:spPr>
    <a:solidFill>
      <a:srgbClr val="F4FAFB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2D3E"/>
          </a:solidFill>
          <a:ln w="12700">
            <a:solidFill>
              <a:srgbClr val="062D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68580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0" y="137160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FEAT. ENGINEERING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Feature Engineering?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telecom data contains limited direct churn signals. We transform and combine variables to expose hidden patterns — increasing model AUC and recall.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1920240" cy="1234440"/>
          </a:xfrm>
          <a:prstGeom prst="rect">
            <a:avLst/>
          </a:prstGeom>
          <a:solidFill>
            <a:srgbClr val="062D3E"/>
          </a:solidFill>
          <a:ln w="12700">
            <a:solidFill>
              <a:srgbClr val="062D3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828800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74320" y="242316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50592" y="1691640"/>
            <a:ext cx="1920240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62D3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50592" y="1828800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450592" y="242316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26864" y="1691640"/>
            <a:ext cx="1920240" cy="1234440"/>
          </a:xfrm>
          <a:prstGeom prst="rect">
            <a:avLst/>
          </a:prstGeom>
          <a:solidFill>
            <a:srgbClr val="062D3E"/>
          </a:solidFill>
          <a:ln w="12700">
            <a:solidFill>
              <a:srgbClr val="062D3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26864" y="1828800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626864" y="242316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(minority)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03136" y="1691640"/>
            <a:ext cx="1920240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62D3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03136" y="1828800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3,333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803136" y="242316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" y="3063240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Pipeline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3456432"/>
            <a:ext cx="1325880" cy="1417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62D3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91056" y="4005072"/>
            <a:ext cx="155448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547872"/>
            <a:ext cx="1325880" cy="123444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Fix Area Code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(one-hot)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737360" y="3456432"/>
            <a:ext cx="1325880" cy="1417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62D3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54096" y="4005072"/>
            <a:ext cx="155448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37360" y="3547872"/>
            <a:ext cx="1325880" cy="123444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Aggregation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0" y="3456432"/>
            <a:ext cx="1325880" cy="1417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62D3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17136" y="4005072"/>
            <a:ext cx="155448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0" y="3547872"/>
            <a:ext cx="1325880" cy="123444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Business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456432"/>
            <a:ext cx="1325880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62D3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80176" y="4005072"/>
            <a:ext cx="155448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3547872"/>
            <a:ext cx="1325880" cy="123444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Remove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26480" y="3456432"/>
            <a:ext cx="1325880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62D3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43216" y="4005072"/>
            <a:ext cx="155448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3547872"/>
            <a:ext cx="1325880" cy="123444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RobustScaler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(train only)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589520" y="3456432"/>
            <a:ext cx="1325880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62D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3547872"/>
            <a:ext cx="1325880" cy="123444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SMOTE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(train only)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2D3E"/>
          </a:solidFill>
          <a:ln w="12700">
            <a:solidFill>
              <a:srgbClr val="062D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68580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Aggregation Features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0" y="137160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FEAT. ENGINEERING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64008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86968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total_minutes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252728"/>
            <a:ext cx="3291840" cy="274320"/>
          </a:xfrm>
          <a:prstGeom prst="rect">
            <a:avLst/>
          </a:prstGeom>
          <a:solidFill>
            <a:srgbClr val="D9F0EE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25272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min + Eve min + Night min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23360" y="886968"/>
            <a:ext cx="46634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total call volume — heavy users are often higher-value customers at risk of switching for better rates.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0" y="941832"/>
            <a:ext cx="36576" cy="822960"/>
          </a:xfrm>
          <a:prstGeom prst="rect">
            <a:avLst/>
          </a:prstGeom>
          <a:solidFill>
            <a:srgbClr val="D9F0EE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167128"/>
            <a:ext cx="8595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167128"/>
            <a:ext cx="64008" cy="1234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276856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total_charge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2642616"/>
            <a:ext cx="3291840" cy="274320"/>
          </a:xfrm>
          <a:prstGeom prst="rect">
            <a:avLst/>
          </a:prstGeom>
          <a:solidFill>
            <a:srgbClr val="D9F0EE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64261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charge + Eve charge + Night charge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023360" y="2276856"/>
            <a:ext cx="46634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billing amount. High bills correlate with churn, especially without a matching plan.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0" y="2331720"/>
            <a:ext cx="36576" cy="822960"/>
          </a:xfrm>
          <a:prstGeom prst="rect">
            <a:avLst/>
          </a:prstGeom>
          <a:solidFill>
            <a:srgbClr val="D9F0EE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557016"/>
            <a:ext cx="8595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557016"/>
            <a:ext cx="64008" cy="1234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666744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calls_per_minute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4032504"/>
            <a:ext cx="3291840" cy="274320"/>
          </a:xfrm>
          <a:prstGeom prst="rect">
            <a:avLst/>
          </a:prstGeom>
          <a:solidFill>
            <a:srgbClr val="D9F0EE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03250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calls ÷ total_minutes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023360" y="3666744"/>
            <a:ext cx="46634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intensity proxy — unusually low calls-per-minute may indicate robocalls or dissatisfied customers.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840480" y="3721608"/>
            <a:ext cx="36576" cy="822960"/>
          </a:xfrm>
          <a:prstGeom prst="rect">
            <a:avLst/>
          </a:prstGeom>
          <a:solidFill>
            <a:srgbClr val="D9F0EE"/>
          </a:solidFill>
          <a:ln w="12700">
            <a:solidFill>
              <a:srgbClr val="D9F0EE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2D3E"/>
          </a:solidFill>
          <a:ln w="12700">
            <a:solidFill>
              <a:srgbClr val="062D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68580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Business-Derived Features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0" y="137160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FEAT. ENGINEERING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new features engineered from domain knowledge about telecom churn behaviour: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07008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07008"/>
            <a:ext cx="64008" cy="1024128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98448"/>
            <a:ext cx="3977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2D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high_service_calls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≥4 customer service calls → strongest single churn predictor in telecom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395728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395728"/>
            <a:ext cx="64008" cy="10241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87168"/>
            <a:ext cx="3977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2D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intl_plan_no_usage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834640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international plan but 0 intl minutes → paying for unused service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584448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584448"/>
            <a:ext cx="64008" cy="10241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675888"/>
            <a:ext cx="3977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2D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intl_high_usage_no_plan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023360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intl plan but heavy intl usage → unexpected high bills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207008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207008"/>
            <a:ext cx="64008" cy="10241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298448"/>
            <a:ext cx="3977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2D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day_rate_per_minute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1645920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charge ÷ day minutes → price sensitivity indicator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395728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395728"/>
            <a:ext cx="64008" cy="10241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487168"/>
            <a:ext cx="3977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2D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vmail_mismatch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2834640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Voicemail plan but 0 voicemail messages → plan dissatisfaction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3584448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3584448"/>
            <a:ext cx="64008" cy="1024128"/>
          </a:xfrm>
          <a:prstGeom prst="rect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3675888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2D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peak_day / peak_eve / peak_night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0" y="402336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Customer's dominant calling period — one-hot encoded behavioural segmentation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2D3E"/>
          </a:solidFill>
          <a:ln w="12700">
            <a:solidFill>
              <a:srgbClr val="062D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68580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Fixes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0" y="137160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FEAT. ENGINEERING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605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64008" cy="3474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68680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Code — Categorical Fix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35331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600200"/>
            <a:ext cx="3749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codes (415, 408, 510) treated as numeric → model incorrectly infers 510 &gt; 415 &gt; 408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26771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514600"/>
            <a:ext cx="3749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 into area_408, area_510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(drop_first=True avoids dummy trap)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200400"/>
            <a:ext cx="3657600" cy="804672"/>
          </a:xfrm>
          <a:prstGeom prst="rect">
            <a:avLst/>
          </a:prstGeom>
          <a:solidFill>
            <a:srgbClr val="062D3E"/>
          </a:solidFill>
          <a:ln w="12700">
            <a:solidFill>
              <a:srgbClr val="062D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218688"/>
            <a:ext cx="352044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df['Area code'] = df['Area code'].astype(str)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pd.get_dummies(df, columns=['Area code'],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prefix='area', drop_first=True)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777240"/>
            <a:ext cx="41605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777240"/>
            <a:ext cx="64008" cy="3474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868680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Feature Removal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135331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1600200"/>
            <a:ext cx="3749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'Total X minutes' and 'Total X charge' are nearly perfectly correlated (r ≈ 1.0) — introducing multicollinearity in linear models.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35915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606040"/>
            <a:ext cx="3749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one feature from each correlated pair (threshold r &gt; 0.95). Computed on training data only.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3218688"/>
            <a:ext cx="3474720" cy="228600"/>
          </a:xfrm>
          <a:prstGeom prst="rect">
            <a:avLst/>
          </a:prstGeom>
          <a:solidFill>
            <a:srgbClr val="FDEAEA"/>
          </a:solidFill>
          <a:ln w="6350">
            <a:solidFill>
              <a:srgbClr val="E050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218688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Total day charge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3493008"/>
            <a:ext cx="3474720" cy="228600"/>
          </a:xfrm>
          <a:prstGeom prst="rect">
            <a:avLst/>
          </a:prstGeom>
          <a:solidFill>
            <a:srgbClr val="FDEAEA"/>
          </a:solidFill>
          <a:ln w="6350">
            <a:solidFill>
              <a:srgbClr val="E050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3493008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Total eve charge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0" y="3767328"/>
            <a:ext cx="3474720" cy="228600"/>
          </a:xfrm>
          <a:prstGeom prst="rect">
            <a:avLst/>
          </a:prstGeom>
          <a:solidFill>
            <a:srgbClr val="FDEAEA"/>
          </a:solidFill>
          <a:ln w="6350">
            <a:solidFill>
              <a:srgbClr val="E050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767328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Total night charge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2D3E"/>
          </a:solidFill>
          <a:ln w="12700">
            <a:solidFill>
              <a:srgbClr val="062D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68580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Class Imbalance — SMOTE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0" y="137160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FEAT. ENGINEERING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has ~14% churn (minority class). Without correction, models learn to predict 'No Churn' and still achieve high accuracy — but miss real churners.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444752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SMOTE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57200" y="1783080"/>
          <a:ext cx="36576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4846320" y="1444752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SMOTE (Training Set Only)</a:t>
            </a:r>
            <a:endParaRPr lang="en-US" sz="130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4754880" y="1783080"/>
          <a:ext cx="36576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4160520" y="2834640"/>
            <a:ext cx="54864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160520" y="2834640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274320" y="4526280"/>
            <a:ext cx="8595360" cy="411480"/>
          </a:xfrm>
          <a:prstGeom prst="rect">
            <a:avLst/>
          </a:prstGeom>
          <a:solidFill>
            <a:srgbClr val="D9F0EE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11480" y="4544568"/>
            <a:ext cx="8321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SMOTE is applied to the TRAINING set only — the test set retains the real 14% churn distribution to ensure honest evaluation.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2D3E"/>
          </a:solidFill>
          <a:ln w="12700">
            <a:solidFill>
              <a:srgbClr val="062D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68580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— What &amp; Why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0" y="137160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64008" cy="4114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86968"/>
            <a:ext cx="3749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298448"/>
            <a:ext cx="3749040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 model that estimates the probability a customer churns using a sigmoid function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 score between 0 and 1 — interpretable as churn probability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feature gets a coefficient showing its direction and magnitude of impact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(default 0.5) converts probability to binary prediction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777240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777240"/>
            <a:ext cx="64008" cy="41148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886968"/>
            <a:ext cx="3749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it?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92040" y="1325880"/>
            <a:ext cx="3749040" cy="749808"/>
          </a:xfrm>
          <a:prstGeom prst="rect">
            <a:avLst/>
          </a:prstGeom>
          <a:solidFill>
            <a:srgbClr val="F4FAFB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37160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164592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directly explain which features drive churn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92040" y="2194560"/>
            <a:ext cx="3749040" cy="749808"/>
          </a:xfrm>
          <a:prstGeom prst="rect">
            <a:avLst/>
          </a:prstGeom>
          <a:solidFill>
            <a:srgbClr val="F4FAFB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24028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251460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churn probability — useful for risk scoring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92040" y="3063240"/>
            <a:ext cx="3749040" cy="749808"/>
          </a:xfrm>
          <a:prstGeom prst="rect">
            <a:avLst/>
          </a:prstGeom>
          <a:solidFill>
            <a:srgbClr val="F4FAFB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310896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38328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benchmark to compare against complex models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3931920"/>
            <a:ext cx="3749040" cy="749808"/>
          </a:xfrm>
          <a:prstGeom prst="rect">
            <a:avLst/>
          </a:prstGeom>
          <a:solidFill>
            <a:srgbClr val="F4FAFB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39776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425196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penalty handles multicollinearity in our features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2D3E"/>
          </a:solidFill>
          <a:ln w="12700">
            <a:solidFill>
              <a:srgbClr val="062D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68580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— Pipeline &amp; Parameters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0" y="137160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53035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04672"/>
            <a:ext cx="64008" cy="2331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96112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Configuration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298448"/>
            <a:ext cx="493776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29844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48840" y="129844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29844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4937760" cy="256032"/>
          </a:xfrm>
          <a:prstGeom prst="rect">
            <a:avLst/>
          </a:prstGeom>
          <a:solidFill>
            <a:srgbClr val="F4FAFB"/>
          </a:solidFill>
          <a:ln w="6350">
            <a:solidFill>
              <a:srgbClr val="E8F4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572768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max_iter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94560" y="1572768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0" y="1572768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convergence on scaled data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1828800"/>
            <a:ext cx="49377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1828800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94560" y="1828800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'l2'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40480" y="1828800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regularisation (default)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2084832"/>
            <a:ext cx="4937760" cy="256032"/>
          </a:xfrm>
          <a:prstGeom prst="rect">
            <a:avLst/>
          </a:prstGeom>
          <a:solidFill>
            <a:srgbClr val="F4FAFB"/>
          </a:solidFill>
          <a:ln w="6350">
            <a:solidFill>
              <a:srgbClr val="E8F4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084832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194560" y="2084832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'lbfgs'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40480" y="2084832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for medium-sized datasets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2340864"/>
            <a:ext cx="49377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340864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194560" y="2340864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40480" y="2340864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" y="2596896"/>
            <a:ext cx="4937760" cy="256032"/>
          </a:xfrm>
          <a:prstGeom prst="rect">
            <a:avLst/>
          </a:prstGeom>
          <a:solidFill>
            <a:srgbClr val="F4FAFB"/>
          </a:solidFill>
          <a:ln w="6350">
            <a:solidFill>
              <a:srgbClr val="E8F4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2596896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194560" y="2596896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balanced*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40480" y="2596896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residual class imbalance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" y="2871216"/>
            <a:ext cx="4937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Alternative to SMOTE; we use SMOTE upstream so default None is also valid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852160" y="804672"/>
            <a:ext cx="30175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852160" y="804672"/>
            <a:ext cx="64008" cy="2331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0760" y="896112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Steps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080760" y="1316736"/>
            <a:ext cx="2651760" cy="292608"/>
          </a:xfrm>
          <a:prstGeom prst="rect">
            <a:avLst/>
          </a:prstGeom>
          <a:solidFill>
            <a:srgbClr val="D9F0EE"/>
          </a:solidFill>
          <a:ln w="12700">
            <a:solidFill>
              <a:srgbClr val="D5ED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44768" y="1316736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Load churn_train.csv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080760" y="1664208"/>
            <a:ext cx="26517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D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44768" y="1664208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Drop Churn target column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080760" y="2011680"/>
            <a:ext cx="2651760" cy="292608"/>
          </a:xfrm>
          <a:prstGeom prst="rect">
            <a:avLst/>
          </a:prstGeom>
          <a:solidFill>
            <a:srgbClr val="D9F0EE"/>
          </a:solidFill>
          <a:ln w="12700">
            <a:solidFill>
              <a:srgbClr val="D5ED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44768" y="2011680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Fit LogisticRegression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80760" y="2359152"/>
            <a:ext cx="26517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D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44768" y="2359152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5-Fold CV → ROC-AUC score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080760" y="2706624"/>
            <a:ext cx="2651760" cy="292608"/>
          </a:xfrm>
          <a:prstGeom prst="rect">
            <a:avLst/>
          </a:prstGeom>
          <a:solidFill>
            <a:srgbClr val="D9F0EE"/>
          </a:solidFill>
          <a:ln w="12700">
            <a:solidFill>
              <a:srgbClr val="D5ED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44768" y="2706624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Save model to models/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74320" y="3200400"/>
            <a:ext cx="8595360" cy="1737360"/>
          </a:xfrm>
          <a:prstGeom prst="rect">
            <a:avLst/>
          </a:prstGeom>
          <a:solidFill>
            <a:srgbClr val="062D3E"/>
          </a:solidFill>
          <a:ln w="12700">
            <a:solidFill>
              <a:srgbClr val="062D3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Reported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57200" y="3675888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57200" y="3977640"/>
            <a:ext cx="1554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C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correct predictions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148840" y="3675888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148840" y="3977640"/>
            <a:ext cx="1554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C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predicted churners,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EC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actually churned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840480" y="3675888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840480" y="3977640"/>
            <a:ext cx="1554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C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actual churners,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EC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were caught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532120" y="3675888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532120" y="3977640"/>
            <a:ext cx="1554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C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EC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&amp; Recall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223760" y="3675888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223760" y="3977640"/>
            <a:ext cx="1554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C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quality across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EC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thresholds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2D3E"/>
          </a:solidFill>
          <a:ln w="12700">
            <a:solidFill>
              <a:srgbClr val="062D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68580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Data &amp; Model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0" y="137160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251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04672"/>
            <a:ext cx="64008" cy="1920240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04672"/>
            <a:ext cx="4251960" cy="384048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04672"/>
            <a:ext cx="4069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261872"/>
            <a:ext cx="393192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snapshot — no temporal dimension; cannot capture churn patterns over time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~3,300 records is relatively small for complex non-linear models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 demographics (age, income, tenure) which are strong churn predictors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804672"/>
            <a:ext cx="4251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804672"/>
            <a:ext cx="64008" cy="1920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804672"/>
            <a:ext cx="425196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804672"/>
            <a:ext cx="4069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1261872"/>
            <a:ext cx="393192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~14% churn — SMOTE introduces synthetic samples that may not reflect real customer behaviour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like accuracy are misleading without recall/F1 focus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907792"/>
            <a:ext cx="4251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07792"/>
            <a:ext cx="64008" cy="1920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907792"/>
            <a:ext cx="425196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907792"/>
            <a:ext cx="4069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364992"/>
            <a:ext cx="393192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and minutes are nearly perfectly correlated — one set discarded, but derived features (total_charge) may still carry same information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(e.g. threshold = 4 service calls) are domain assumptions, not data-derived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907792"/>
            <a:ext cx="4251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907792"/>
            <a:ext cx="64008" cy="1920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2907792"/>
            <a:ext cx="4251960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907792"/>
            <a:ext cx="4069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Deployment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3364992"/>
            <a:ext cx="393192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 and dropped-column list must be versioned alongside the model for consistent inference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may drift over time as customer behaviour and product offerings change — periodic retraining required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2D3E"/>
          </a:solidFill>
          <a:ln w="12700">
            <a:solidFill>
              <a:srgbClr val="062D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68580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for Future Work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0" y="137160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the limitations above would significantly improve real-world deployment viability: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98448"/>
            <a:ext cx="27432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335024"/>
            <a:ext cx="2523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Data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737360"/>
            <a:ext cx="2523744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time-series churn events to enable survival analysis and early-warning models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82112" y="1298448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82112" y="1298448"/>
            <a:ext cx="274320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335024"/>
            <a:ext cx="2523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Features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1737360"/>
            <a:ext cx="2523744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customer tenure, contract type, and NPS scores for significantly stronger predictions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9904" y="1298448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9904" y="1298448"/>
            <a:ext cx="274320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9632" y="1335024"/>
            <a:ext cx="2523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99632" y="1737360"/>
            <a:ext cx="2523744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decision threshold for business cost (false negative = lost customer vs false positive = wasted retention spend)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127248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127248"/>
            <a:ext cx="274320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163824"/>
            <a:ext cx="2523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Monitoring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" y="3566160"/>
            <a:ext cx="2523744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drift detection and scheduled retraining as customer behaviour evolves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82112" y="3127248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82112" y="3127248"/>
            <a:ext cx="2743200" cy="347472"/>
          </a:xfrm>
          <a:prstGeom prst="rect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3163824"/>
            <a:ext cx="2523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Dataset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91840" y="3566160"/>
            <a:ext cx="2523744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records improve minority class representation and enable deep learning approaches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89904" y="3127248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89904" y="3127248"/>
            <a:ext cx="2743200" cy="347472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99632" y="3163824"/>
            <a:ext cx="2523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99632" y="3566160"/>
            <a:ext cx="2523744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retention interventions to a holdout group to validate model-driven ROI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5718</Words>
  <Application>WPS 文字</Application>
  <PresentationFormat>On-screen Show (16:9)</PresentationFormat>
  <Paragraphs>312</Paragraphs>
  <Slides>9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30" baseType="lpstr">
      <vt:lpstr>Arial</vt:lpstr>
      <vt:lpstr>宋体</vt:lpstr>
      <vt:lpstr>Wingdings</vt:lpstr>
      <vt:lpstr>Calibri</vt:lpstr>
      <vt:lpstr>Helvetica Neue</vt:lpstr>
      <vt:lpstr>Calibri</vt:lpstr>
      <vt:lpstr>Calibri</vt:lpstr>
      <vt:lpstr>Consolas</vt:lpstr>
      <vt:lpstr>Consolas</vt:lpstr>
      <vt:lpstr>Consolas</vt:lpstr>
      <vt:lpstr>Arial</vt:lpstr>
      <vt:lpstr>微软雅黑</vt:lpstr>
      <vt:lpstr>汉仪旗黑</vt:lpstr>
      <vt:lpstr>宋体</vt:lpstr>
      <vt:lpstr>Arial Unicode MS</vt:lpstr>
      <vt:lpstr>汉仪书宋二KW</vt:lpstr>
      <vt:lpstr>苹方-简</vt:lpstr>
      <vt:lpstr>等线</vt:lpstr>
      <vt:lpstr>汉仪中等线KW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 – Maggie's Sections</dc:title>
  <dc:creator>PptxGenJS</dc:creator>
  <dc:subject>PptxGenJS Presentation</dc:subject>
  <cp:lastModifiedBy>小于</cp:lastModifiedBy>
  <cp:revision>2</cp:revision>
  <dcterms:created xsi:type="dcterms:W3CDTF">2026-03-05T07:42:21Z</dcterms:created>
  <dcterms:modified xsi:type="dcterms:W3CDTF">2026-03-05T07:42:21Z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F7DD718BCDFF2D27DD33A969B24CE36C_42</vt:lpwstr>
  </property>
  <property fmtid="{D5CDD505-2E9C-101B-9397-08002B2CF9AE}" pid="3" name="KSOProductBuildVer">
    <vt:lpwstr>2052-6.5.2.8766</vt:lpwstr>
  </property>
</Properties>
</file>