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66" r:id="rId3"/>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8" r:id="rId33"/>
    <p:sldId id="299" r:id="rId34"/>
    <p:sldId id="300" r:id="rId35"/>
    <p:sldId id="306" r:id="rId47"/>
    <p:sldId id="307" r:id="rId48"/>
    <p:sldId id="308" r:id="rId49"/>
    <p:sldId id="309" r:id="rId50"/>
    <p:sldId id="310" r:id="rId51"/>
    <p:sldId id="311" r:id="rId52"/>
    <p:sldId id="312" r:id="rId53"/>
    <p:sldId id="295" r:id="rId36"/>
    <p:sldId id="296" r:id="rId37"/>
    <p:sldId id="297" r:id="rId38"/>
    <p:sldId id="301" r:id="rId39"/>
    <p:sldId id="302" r:id="rId40"/>
    <p:sldId id="303" r:id="rId41"/>
    <p:sldId id="304" r:id="rId42"/>
    <p:sldId id="305" r:id="rId43"/>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s>
</file>

<file path=ppt/charts/_rels/chart1.xml.rels><?xml version="1.0" encoding="UTF-8"?><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Relationships xmlns="http://schemas.openxmlformats.org/package/2006/relationships"><Relationship Id="rId1" Type="http://schemas.openxmlformats.org/officeDocument/2006/relationships/package" Target="../embeddings/Workbook2.xlsx"/></Relationships>
</file>

<file path=ppt/charts/_rels/chart3.xml.rels><?xml version="1.0" encoding="UTF-8"?><Relationships xmlns="http://schemas.openxmlformats.org/package/2006/relationships"><Relationship Id="rId1" Type="http://schemas.openxmlformats.org/officeDocument/2006/relationships/package" Target="../embeddings/Workbook3.xlsx"/></Relationships>
</file>

<file path=ppt/charts/_rels/chart4.xml.rels><?xml version="1.0" encoding="UTF-8"?><Relationships xmlns="http://schemas.openxmlformats.org/package/2006/relationships"><Relationship Id="rId1" Type="http://schemas.openxmlformats.org/officeDocument/2006/relationships/package" Target="../embeddings/Workbook4.xlsx"/></Relationships>
</file>

<file path=ppt/charts/_rels/chart5.xml.rels><?xml version="1.0" encoding="UTF-8"?><Relationships xmlns="http://schemas.openxmlformats.org/package/2006/relationships"><Relationship Id="rId1" Type="http://schemas.openxmlformats.org/officeDocument/2006/relationships/package" Target="../embeddings/Workbook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800" b="0" i="0" u="none" strike="noStrike" kern="1200" baseline="0">
                <a:solidFill>
                  <a:srgbClr val="000000"/>
                </a:solidFill>
                <a:latin typeface="Arial" panose="020B0604020202090204"/>
                <a:ea typeface="+mn-ea"/>
                <a:cs typeface="+mn-cs"/>
              </a:defRPr>
            </a:pPr>
            <a:r>
              <a:rPr lang="en-US" sz="1800" b="0" i="0" u="none" strike="noStrike">
                <a:solidFill>
                  <a:srgbClr val="000000"/>
                </a:solidFill>
                <a:latin typeface="Arial" panose="020B0604020202090204"/>
              </a:rPr>
              <a:t>Customer Service Calls Distribution</a:t>
            </a:r>
            <a:endParaRPr lang="en-US" sz="1800" b="0" i="0" u="none" strike="noStrike">
              <a:solidFill>
                <a:srgbClr val="000000"/>
              </a:solidFill>
              <a:latin typeface="Arial" panose="020B0604020202090204"/>
            </a:endParaRPr>
          </a:p>
        </c:rich>
      </c:tx>
      <c:layout>
        <c:manualLayout>
          <c:xMode val="edge"/>
          <c:yMode val="edge"/>
          <c:x val="0.197530864197531"/>
          <c:y val="0.0208333333333333"/>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Count</c:v>
                </c:pt>
              </c:strCache>
            </c:strRef>
          </c:tx>
          <c:spPr>
            <a:solidFill>
              <a:schemeClr val="accent1"/>
            </a:solidFill>
            <a:ln>
              <a:noFill/>
            </a:ln>
            <a:effectLst/>
          </c:spPr>
          <c:invertIfNegative val="0"/>
          <c:dLbls>
            <c:delete val="1"/>
          </c:dLbls>
          <c:cat>
            <c:strRef>
              <c:f>Sheet1!$A$2:$A$11</c:f>
              <c:strCache>
                <c:ptCount val="10"/>
                <c:pt idx="0">
                  <c:v>0</c:v>
                </c:pt>
                <c:pt idx="1">
                  <c:v>1</c:v>
                </c:pt>
                <c:pt idx="2">
                  <c:v>2</c:v>
                </c:pt>
                <c:pt idx="3">
                  <c:v>3</c:v>
                </c:pt>
                <c:pt idx="4">
                  <c:v>4</c:v>
                </c:pt>
                <c:pt idx="5">
                  <c:v>5</c:v>
                </c:pt>
                <c:pt idx="6">
                  <c:v>6</c:v>
                </c:pt>
                <c:pt idx="7">
                  <c:v>7</c:v>
                </c:pt>
                <c:pt idx="8">
                  <c:v>8</c:v>
                </c:pt>
                <c:pt idx="9">
                  <c:v>9</c:v>
                </c:pt>
              </c:strCache>
            </c:strRef>
          </c:cat>
          <c:val>
            <c:numRef>
              <c:f>Sheet1!$B$2:$B$11</c:f>
              <c:numCache>
                <c:formatCode>General</c:formatCode>
                <c:ptCount val="10"/>
                <c:pt idx="0">
                  <c:v>510</c:v>
                </c:pt>
                <c:pt idx="1">
                  <c:v>724</c:v>
                </c:pt>
                <c:pt idx="2">
                  <c:v>696</c:v>
                </c:pt>
                <c:pt idx="3">
                  <c:v>607</c:v>
                </c:pt>
                <c:pt idx="4">
                  <c:v>285</c:v>
                </c:pt>
                <c:pt idx="5">
                  <c:v>170</c:v>
                </c:pt>
                <c:pt idx="6">
                  <c:v>130</c:v>
                </c:pt>
                <c:pt idx="7">
                  <c:v>90</c:v>
                </c:pt>
                <c:pt idx="8">
                  <c:v>50</c:v>
                </c:pt>
                <c:pt idx="9">
                  <c:v>30</c:v>
                </c:pt>
              </c:numCache>
            </c:numRef>
          </c:val>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0" vertOverflow="ellipsis" vert="horz" wrap="square" anchor="ctr" anchorCtr="1"/>
          <a:lstStyle/>
          <a:p>
            <a:pPr>
              <a:defRPr lang="zh-CN" sz="1200" b="0" i="0" u="none" strike="noStrike" kern="1200" baseline="0">
                <a:solidFill>
                  <a:srgbClr val="64748B"/>
                </a:solidFill>
                <a:latin typeface="Arial" panose="020B060402020209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2E8F0"/>
              </a:solidFill>
              <a:prstDash val="solid"/>
              <a:round/>
            </a:ln>
            <a:effectLst/>
          </c:spPr>
        </c:majorGridlines>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0" vertOverflow="ellipsis" vert="horz" wrap="square" anchor="ctr" anchorCtr="1"/>
          <a:lstStyle/>
          <a:p>
            <a:pPr>
              <a:defRPr lang="zh-CN" sz="1200" b="0" i="0" u="none" strike="noStrike" kern="1200" baseline="0">
                <a:solidFill>
                  <a:srgbClr val="64748B"/>
                </a:solidFill>
                <a:latin typeface="Arial" panose="020B0604020202090204"/>
                <a:ea typeface="+mn-ea"/>
                <a:cs typeface="+mn-cs"/>
              </a:defRPr>
            </a:pPr>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Class</c:v>
                </c:pt>
              </c:strCache>
            </c:strRef>
          </c:tx>
          <c:spPr>
            <a:solidFill>
              <a:schemeClr val="accent1"/>
            </a:solidFill>
            <a:ln w="9525" cap="flat">
              <a:solidFill>
                <a:srgbClr val="F9F9F9"/>
              </a:solidFill>
              <a:prstDash val="solid"/>
              <a:round/>
            </a:ln>
            <a:effectLst/>
          </c:spPr>
          <c:explosion val="0"/>
          <c:dPt>
            <c:idx val="0"/>
            <c:bubble3D val="0"/>
            <c:spPr>
              <a:solidFill>
                <a:srgbClr val="4A6872"/>
              </a:solidFill>
              <a:effectLst/>
            </c:spPr>
          </c:dPt>
          <c:dPt>
            <c:idx val="1"/>
            <c:bubble3D val="0"/>
            <c:spPr>
              <a:solidFill>
                <a:srgbClr val="E05050"/>
              </a:solidFill>
              <a:effectLst/>
            </c:spPr>
          </c:dPt>
          <c:dLbls>
            <c:dLbl>
              <c:idx val="0"/>
              <c:layout/>
              <c:numFmt formatCode="0%" sourceLinked="0"/>
              <c:spPr>
                <a:noFill/>
                <a:ln>
                  <a:noFill/>
                </a:ln>
                <a:effectLst/>
              </c:spPr>
              <c:txPr>
                <a:bodyPr rot="0" spcFirstLastPara="0" vertOverflow="ellipsis" vert="horz" wrap="square" lIns="38100" tIns="19050" rIns="38100" bIns="19050" anchor="ctr" anchorCtr="1"/>
                <a:lstStyle/>
                <a:p>
                  <a:pPr>
                    <a:defRPr lang="zh-CN" sz="1100" b="0" i="0" u="none" strike="noStrike" kern="1200" baseline="0">
                      <a:solidFill>
                        <a:srgbClr val="FFFFFF"/>
                      </a:solidFill>
                      <a:latin typeface="Arial" panose="020B0604020202090204"/>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dLbl>
              <c:idx val="1"/>
              <c:layout/>
              <c:numFmt formatCode="0%" sourceLinked="0"/>
              <c:spPr>
                <a:noFill/>
                <a:ln>
                  <a:noFill/>
                </a:ln>
                <a:effectLst/>
              </c:spPr>
              <c:txPr>
                <a:bodyPr rot="0" spcFirstLastPara="0" vertOverflow="ellipsis" vert="horz" wrap="square" lIns="38100" tIns="19050" rIns="38100" bIns="19050" anchor="ctr" anchorCtr="1"/>
                <a:lstStyle/>
                <a:p>
                  <a:pPr>
                    <a:defRPr lang="zh-CN" sz="1100" b="0" i="0" u="none" strike="noStrike" kern="1200" baseline="0">
                      <a:solidFill>
                        <a:srgbClr val="FFFFFF"/>
                      </a:solidFill>
                      <a:latin typeface="Arial" panose="020B0604020202090204"/>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numFmt formatCode="0%" sourceLinked="0"/>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rgbClr val="000000"/>
                    </a:solidFill>
                    <a:latin typeface="Arial" panose="020B0604020202090204"/>
                    <a:ea typeface="+mn-ea"/>
                    <a:cs typeface="+mn-cs"/>
                  </a:defRPr>
                </a:pPr>
              </a:p>
            </c:txPr>
            <c:dLblPos val="ctr"/>
            <c:showLegendKey val="0"/>
            <c:showVal val="0"/>
            <c:showCatName val="1"/>
            <c:showSerName val="0"/>
            <c:showPercent val="1"/>
            <c:showBubbleSize val="0"/>
            <c:showLeaderLines val="0"/>
            <c:extLst>
              <c:ext xmlns:c15="http://schemas.microsoft.com/office/drawing/2012/chart" uri="{CE6537A1-D6FC-4f65-9D91-7224C49458BB}">
                <c15:layout/>
                <c15:showLeaderLines val="0"/>
                <c15:leaderLines/>
              </c:ext>
            </c:extLst>
          </c:dLbls>
          <c:cat>
            <c:strRef>
              <c:f>Sheet1!$A$2:$A$3</c:f>
              <c:strCache>
                <c:ptCount val="2"/>
                <c:pt idx="0">
                  <c:v>No Churn (86%)</c:v>
                </c:pt>
                <c:pt idx="1">
                  <c:v>Churn (14%)</c:v>
                </c:pt>
              </c:strCache>
            </c:strRef>
          </c:cat>
          <c:val>
            <c:numRef>
              <c:f>Sheet1!$B$2:$B$3</c:f>
              <c:numCache>
                <c:formatCode>General</c:formatCode>
                <c:ptCount val="2"/>
                <c:pt idx="0">
                  <c:v>86</c:v>
                </c:pt>
                <c:pt idx="1">
                  <c:v>14</c:v>
                </c:pt>
              </c:numCache>
            </c:numRef>
          </c:val>
        </c:ser>
        <c:dLbls>
          <c:showLegendKey val="0"/>
          <c:showVal val="0"/>
          <c:showCatName val="1"/>
          <c:showSerName val="0"/>
          <c:showPercent val="1"/>
          <c:showBubbleSize val="0"/>
          <c:showLeaderLines val="1"/>
        </c:dLbls>
        <c:firstSliceAng val="0"/>
      </c:pieChart>
      <c:spPr>
        <a:noFill/>
        <a:ln>
          <a:noFill/>
        </a:ln>
        <a:effectLst/>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legend>
    <c:plotVisOnly val="1"/>
    <c:dispBlanksAs val="span"/>
    <c:showDLblsOverMax val="0"/>
  </c:chart>
  <c:spPr>
    <a:solidFill>
      <a:srgbClr val="F4FAFB"/>
    </a:solid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Class</c:v>
                </c:pt>
              </c:strCache>
            </c:strRef>
          </c:tx>
          <c:spPr>
            <a:solidFill>
              <a:schemeClr val="accent1"/>
            </a:solidFill>
            <a:ln w="9525" cap="flat">
              <a:solidFill>
                <a:srgbClr val="F9F9F9"/>
              </a:solidFill>
              <a:prstDash val="solid"/>
              <a:round/>
            </a:ln>
            <a:effectLst/>
          </c:spPr>
          <c:explosion val="0"/>
          <c:dPt>
            <c:idx val="0"/>
            <c:bubble3D val="0"/>
            <c:spPr>
              <a:solidFill>
                <a:srgbClr val="028090"/>
              </a:solidFill>
              <a:effectLst/>
            </c:spPr>
          </c:dPt>
          <c:dPt>
            <c:idx val="1"/>
            <c:bubble3D val="0"/>
            <c:spPr>
              <a:solidFill>
                <a:srgbClr val="02C39A"/>
              </a:solidFill>
              <a:effectLst/>
            </c:spPr>
          </c:dPt>
          <c:dLbls>
            <c:dLbl>
              <c:idx val="0"/>
              <c:layout/>
              <c:numFmt formatCode="0%" sourceLinked="0"/>
              <c:spPr>
                <a:noFill/>
                <a:ln>
                  <a:noFill/>
                </a:ln>
                <a:effectLst/>
              </c:spPr>
              <c:txPr>
                <a:bodyPr rot="0" spcFirstLastPara="0" vertOverflow="ellipsis" vert="horz" wrap="square" lIns="38100" tIns="19050" rIns="38100" bIns="19050" anchor="ctr" anchorCtr="1"/>
                <a:lstStyle/>
                <a:p>
                  <a:pPr>
                    <a:defRPr lang="zh-CN" sz="1100" b="0" i="0" u="none" strike="noStrike" kern="1200" baseline="0">
                      <a:solidFill>
                        <a:srgbClr val="FFFFFF"/>
                      </a:solidFill>
                      <a:latin typeface="Arial" panose="020B0604020202090204"/>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dLbl>
              <c:idx val="1"/>
              <c:layout/>
              <c:numFmt formatCode="0%" sourceLinked="0"/>
              <c:spPr>
                <a:noFill/>
                <a:ln>
                  <a:noFill/>
                </a:ln>
                <a:effectLst/>
              </c:spPr>
              <c:txPr>
                <a:bodyPr rot="0" spcFirstLastPara="0" vertOverflow="ellipsis" vert="horz" wrap="square" lIns="38100" tIns="19050" rIns="38100" bIns="19050" anchor="ctr" anchorCtr="1"/>
                <a:lstStyle/>
                <a:p>
                  <a:pPr>
                    <a:defRPr lang="zh-CN" sz="1100" b="0" i="0" u="none" strike="noStrike" kern="1200" baseline="0">
                      <a:solidFill>
                        <a:srgbClr val="FFFFFF"/>
                      </a:solidFill>
                      <a:latin typeface="Arial" panose="020B0604020202090204"/>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numFmt formatCode="0%" sourceLinked="0"/>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rgbClr val="000000"/>
                    </a:solidFill>
                    <a:latin typeface="Arial" panose="020B0604020202090204"/>
                    <a:ea typeface="+mn-ea"/>
                    <a:cs typeface="+mn-cs"/>
                  </a:defRPr>
                </a:pPr>
              </a:p>
            </c:txPr>
            <c:dLblPos val="ctr"/>
            <c:showLegendKey val="0"/>
            <c:showVal val="0"/>
            <c:showCatName val="1"/>
            <c:showSerName val="0"/>
            <c:showPercent val="1"/>
            <c:showBubbleSize val="0"/>
            <c:showLeaderLines val="0"/>
            <c:extLst>
              <c:ext xmlns:c15="http://schemas.microsoft.com/office/drawing/2012/chart" uri="{CE6537A1-D6FC-4f65-9D91-7224C49458BB}">
                <c15:layout/>
                <c15:showLeaderLines val="0"/>
                <c15:leaderLines/>
              </c:ext>
            </c:extLst>
          </c:dLbls>
          <c:cat>
            <c:strRef>
              <c:f>Sheet1!$A$2:$A$3</c:f>
              <c:strCache>
                <c:ptCount val="2"/>
                <c:pt idx="0">
                  <c:v>No Churn (50%)</c:v>
                </c:pt>
                <c:pt idx="1">
                  <c:v>Churn (50%)</c:v>
                </c:pt>
              </c:strCache>
            </c:strRef>
          </c:cat>
          <c:val>
            <c:numRef>
              <c:f>Sheet1!$B$2:$B$3</c:f>
              <c:numCache>
                <c:formatCode>General</c:formatCode>
                <c:ptCount val="2"/>
                <c:pt idx="0">
                  <c:v>50</c:v>
                </c:pt>
                <c:pt idx="1">
                  <c:v>50</c:v>
                </c:pt>
              </c:numCache>
            </c:numRef>
          </c:val>
        </c:ser>
        <c:dLbls>
          <c:showLegendKey val="0"/>
          <c:showVal val="0"/>
          <c:showCatName val="1"/>
          <c:showSerName val="0"/>
          <c:showPercent val="1"/>
          <c:showBubbleSize val="0"/>
          <c:showLeaderLines val="1"/>
        </c:dLbls>
        <c:firstSliceAng val="0"/>
      </c:pieChart>
      <c:spPr>
        <a:noFill/>
        <a:ln>
          <a:noFill/>
        </a:ln>
        <a:effectLst/>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legend>
    <c:plotVisOnly val="1"/>
    <c:dispBlanksAs val="span"/>
    <c:showDLblsOverMax val="0"/>
  </c:chart>
  <c:spPr>
    <a:solidFill>
      <a:srgbClr val="F4FAFB"/>
    </a:solid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Score</c:v>
                </c:pt>
              </c:strCache>
            </c:strRef>
          </c:tx>
          <c:spPr>
            <a:solidFill>
              <a:srgbClr val="F97316"/>
            </a:solidFill>
            <a:effectLst/>
          </c:spPr>
          <c:invertIfNegative val="0"/>
          <c:dPt>
            <c:idx val="0"/>
            <c:invertIfNegative val="0"/>
            <c:bubble3D val="0"/>
            <c:spPr>
              <a:solidFill>
                <a:srgbClr val="002060"/>
              </a:solidFill>
              <a:effectLst/>
            </c:spPr>
          </c:dPt>
          <c:dPt>
            <c:idx val="1"/>
            <c:invertIfNegative val="0"/>
            <c:bubble3D val="0"/>
            <c:spPr>
              <a:solidFill>
                <a:srgbClr val="002060"/>
              </a:solidFill>
              <a:effectLst/>
            </c:spPr>
          </c:dPt>
          <c:dPt>
            <c:idx val="2"/>
            <c:invertIfNegative val="0"/>
            <c:bubble3D val="0"/>
            <c:spPr>
              <a:solidFill>
                <a:srgbClr val="002060"/>
              </a:solidFill>
              <a:effectLst/>
            </c:spPr>
          </c:dPt>
          <c:dPt>
            <c:idx val="3"/>
            <c:invertIfNegative val="0"/>
            <c:bubble3D val="0"/>
            <c:spPr>
              <a:solidFill>
                <a:srgbClr val="002060"/>
              </a:solidFill>
              <a:effectLst/>
            </c:spPr>
          </c:dPt>
          <c:dLbls>
            <c:delete val="1"/>
          </c:dLbls>
          <c:cat>
            <c:strRef>
              <c:f>Sheet1!$A$2:$A$5</c:f>
              <c:strCache>
                <c:ptCount val="4"/>
                <c:pt idx="0">
                  <c:v>Accuracy</c:v>
                </c:pt>
                <c:pt idx="1">
                  <c:v>Recall</c:v>
                </c:pt>
                <c:pt idx="2">
                  <c:v>Precision</c:v>
                </c:pt>
                <c:pt idx="3">
                  <c:v>F1</c:v>
                </c:pt>
              </c:strCache>
            </c:strRef>
          </c:cat>
          <c:val>
            <c:numRef>
              <c:f>Sheet1!$B$2:$B$5</c:f>
              <c:numCache>
                <c:formatCode>General</c:formatCode>
                <c:ptCount val="4"/>
                <c:pt idx="0">
                  <c:v>0.976</c:v>
                </c:pt>
                <c:pt idx="1">
                  <c:v>0.84</c:v>
                </c:pt>
                <c:pt idx="2">
                  <c:v>1</c:v>
                </c:pt>
                <c:pt idx="3">
                  <c:v>0.91</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64748B"/>
                </a:solidFill>
                <a:latin typeface="Arial" panose="020B0604020202090204"/>
                <a:ea typeface="+mn-ea"/>
                <a:cs typeface="+mn-cs"/>
              </a:defRPr>
            </a:pPr>
          </a:p>
        </c:txPr>
        <c:crossAx val="2094734552"/>
        <c:crosses val="autoZero"/>
        <c:auto val="1"/>
        <c:lblAlgn val="ctr"/>
        <c:lblOffset val="100"/>
        <c:noMultiLvlLbl val="1"/>
      </c:catAx>
      <c:valAx>
        <c:axId val="2094734552"/>
        <c:scaling>
          <c:orientation val="minMax"/>
          <c:max val="1"/>
          <c:min val="0.7"/>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64748B"/>
                </a:solidFill>
                <a:latin typeface="Arial" panose="020B0604020202090204"/>
                <a:ea typeface="+mn-ea"/>
                <a:cs typeface="+mn-cs"/>
              </a:defRPr>
            </a:pPr>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Score</c:v>
                </c:pt>
              </c:strCache>
            </c:strRef>
          </c:tx>
          <c:spPr>
            <a:solidFill>
              <a:srgbClr val="F97316"/>
            </a:solidFill>
            <a:effectLst/>
          </c:spPr>
          <c:invertIfNegative val="0"/>
          <c:dPt>
            <c:idx val="0"/>
            <c:invertIfNegative val="0"/>
            <c:bubble3D val="0"/>
            <c:spPr>
              <a:solidFill>
                <a:srgbClr val="002060"/>
              </a:solidFill>
              <a:effectLst/>
            </c:spPr>
          </c:dPt>
          <c:dPt>
            <c:idx val="1"/>
            <c:invertIfNegative val="0"/>
            <c:bubble3D val="0"/>
            <c:spPr>
              <a:solidFill>
                <a:srgbClr val="002060"/>
              </a:solidFill>
              <a:effectLst/>
            </c:spPr>
          </c:dPt>
          <c:dPt>
            <c:idx val="2"/>
            <c:invertIfNegative val="0"/>
            <c:bubble3D val="0"/>
            <c:spPr>
              <a:solidFill>
                <a:srgbClr val="002060"/>
              </a:solidFill>
              <a:effectLst/>
            </c:spPr>
          </c:dPt>
          <c:dPt>
            <c:idx val="3"/>
            <c:invertIfNegative val="0"/>
            <c:bubble3D val="0"/>
            <c:spPr>
              <a:solidFill>
                <a:srgbClr val="002060"/>
              </a:solidFill>
              <a:effectLst/>
            </c:spPr>
          </c:dPt>
          <c:dLbls>
            <c:delete val="1"/>
          </c:dLbls>
          <c:cat>
            <c:strRef>
              <c:f>Sheet1!$A$2:$A$5</c:f>
              <c:strCache>
                <c:ptCount val="4"/>
                <c:pt idx="0">
                  <c:v>Accuracy</c:v>
                </c:pt>
                <c:pt idx="1">
                  <c:v>Recall</c:v>
                </c:pt>
                <c:pt idx="2">
                  <c:v>Precision</c:v>
                </c:pt>
                <c:pt idx="3">
                  <c:v>F1</c:v>
                </c:pt>
              </c:strCache>
            </c:strRef>
          </c:cat>
          <c:val>
            <c:numRef>
              <c:f>Sheet1!$B$2:$B$5</c:f>
              <c:numCache>
                <c:formatCode>General</c:formatCode>
                <c:ptCount val="4"/>
                <c:pt idx="0">
                  <c:v>0.931</c:v>
                </c:pt>
                <c:pt idx="1">
                  <c:v>0.72</c:v>
                </c:pt>
                <c:pt idx="2">
                  <c:v>0.68</c:v>
                </c:pt>
                <c:pt idx="3">
                  <c:v>0.69</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64748B"/>
                </a:solidFill>
                <a:latin typeface="Arial" panose="020B0604020202090204"/>
                <a:ea typeface="+mn-ea"/>
                <a:cs typeface="+mn-cs"/>
              </a:defRPr>
            </a:pPr>
          </a:p>
        </c:txPr>
        <c:crossAx val="2094734552"/>
        <c:crosses val="autoZero"/>
        <c:auto val="1"/>
        <c:lblAlgn val="ctr"/>
        <c:lblOffset val="100"/>
        <c:noMultiLvlLbl val="1"/>
      </c:catAx>
      <c:valAx>
        <c:axId val="2094734552"/>
        <c:scaling>
          <c:orientation val="minMax"/>
          <c:max val="1"/>
          <c:min val="0.7"/>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64748B"/>
                </a:solidFill>
                <a:latin typeface="Arial" panose="020B0604020202090204"/>
                <a:ea typeface="+mn-ea"/>
                <a:cs typeface="+mn-cs"/>
              </a:defRPr>
            </a:pPr>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chart" Target="../charts/char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chart" Target="../charts/chart3.xml"/><Relationship Id="rId1" Type="http://schemas.openxmlformats.org/officeDocument/2006/relationships/chart" Target="../charts/chart2.xml"/></Relationships>
</file>

<file path=ppt/slides/_rels/slide22.xml.rels><?xml version="1.0" encoding="UTF-8"?><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chart" Target="../charts/chart4.xml"/></Relationships>
</file>

<file path=ppt/slides/_rels/slide37.xml.rels><?xml version="1.0" encoding="UTF-8"?><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chart" Target="../charts/chart5.xml"/></Relationships>
</file>

<file path=ppt/slides/_rels/slide4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2761"/>
          </a:solidFill>
          <a:ln>
            <a:noFill/>
          </a:ln>
        </p:spPr>
      </p:sp>
      <p:sp>
        <p:nvSpPr>
          <p:cNvPr id="3" name="Shape 1"/>
          <p:cNvSpPr/>
          <p:nvPr/>
        </p:nvSpPr>
        <p:spPr>
          <a:xfrm>
            <a:off x="640080" y="1280160"/>
            <a:ext cx="109728" cy="1005840"/>
          </a:xfrm>
          <a:prstGeom prst="rect">
            <a:avLst/>
          </a:prstGeom>
          <a:solidFill>
            <a:srgbClr val="0891B2"/>
          </a:solidFill>
          <a:ln>
            <a:noFill/>
          </a:ln>
        </p:spPr>
      </p:sp>
      <p:sp>
        <p:nvSpPr>
          <p:cNvPr id="4" name="Text 2"/>
          <p:cNvSpPr/>
          <p:nvPr/>
        </p:nvSpPr>
        <p:spPr>
          <a:xfrm>
            <a:off x="1005840" y="1097280"/>
            <a:ext cx="6858000" cy="1371600"/>
          </a:xfrm>
          <a:prstGeom prst="rect">
            <a:avLst/>
          </a:prstGeom>
          <a:noFill/>
        </p:spPr>
        <p:txBody>
          <a:bodyPr wrap="square" lIns="0" tIns="0" rIns="0" bIns="0" rtlCol="0" anchor="ctr"/>
          <a:lstStyle/>
          <a:p>
            <a:pPr marL="0" indent="0">
              <a:lnSpc>
                <a:spcPct val="110000"/>
              </a:lnSpc>
              <a:buNone/>
            </a:pPr>
            <a:r>
              <a:rPr lang="en-US" sz="3200" b="1" dirty="0">
                <a:solidFill>
                  <a:schemeClr val="tx1"/>
                </a:solidFill>
                <a:latin typeface="Trebuchet MS" panose="020B0603020202020204" pitchFamily="34" charset="0"/>
                <a:ea typeface="Trebuchet MS" panose="020B0603020202020204" pitchFamily="34" charset="-122"/>
                <a:cs typeface="Trebuchet MS" panose="020B0603020202020204" pitchFamily="34" charset="-120"/>
              </a:rPr>
              <a:t>Designing an End-to-End</a:t>
            </a:r>
            <a:endParaRPr lang="en-US" sz="3200" dirty="0">
              <a:solidFill>
                <a:schemeClr val="tx1"/>
              </a:solidFill>
            </a:endParaRPr>
          </a:p>
          <a:p>
            <a:pPr marL="0" indent="0">
              <a:lnSpc>
                <a:spcPct val="110000"/>
              </a:lnSpc>
              <a:buNone/>
            </a:pPr>
            <a:r>
              <a:rPr lang="en-US" sz="3200" b="1" dirty="0">
                <a:solidFill>
                  <a:schemeClr val="tx1"/>
                </a:solidFill>
                <a:latin typeface="Trebuchet MS" panose="020B0603020202020204" pitchFamily="34" charset="0"/>
                <a:ea typeface="Trebuchet MS" panose="020B0603020202020204" pitchFamily="34" charset="-122"/>
                <a:cs typeface="Trebuchet MS" panose="020B0603020202020204" pitchFamily="34" charset="-120"/>
              </a:rPr>
              <a:t>Machine Learning Pipeline</a:t>
            </a:r>
            <a:endParaRPr lang="en-US" sz="3200" b="1" dirty="0">
              <a:solidFill>
                <a:schemeClr val="tx1"/>
              </a:solidFill>
              <a:latin typeface="Trebuchet MS" panose="020B0603020202020204" pitchFamily="34" charset="0"/>
              <a:ea typeface="Trebuchet MS" panose="020B0603020202020204" pitchFamily="34" charset="-122"/>
              <a:cs typeface="Trebuchet MS" panose="020B0603020202020204" pitchFamily="34" charset="-120"/>
            </a:endParaRPr>
          </a:p>
        </p:txBody>
      </p:sp>
      <p:sp>
        <p:nvSpPr>
          <p:cNvPr id="5" name="Text 3"/>
          <p:cNvSpPr/>
          <p:nvPr/>
        </p:nvSpPr>
        <p:spPr>
          <a:xfrm>
            <a:off x="1005840" y="2560320"/>
            <a:ext cx="6858000" cy="457200"/>
          </a:xfrm>
          <a:prstGeom prst="rect">
            <a:avLst/>
          </a:prstGeom>
          <a:noFill/>
        </p:spPr>
        <p:txBody>
          <a:bodyPr wrap="square" lIns="0" tIns="0" rIns="0" bIns="0" rtlCol="0" anchor="ctr"/>
          <a:lstStyle/>
          <a:p>
            <a:pPr marL="0" indent="0">
              <a:buNone/>
            </a:pPr>
            <a:r>
              <a:rPr lang="en-US" sz="1800" dirty="0">
                <a:solidFill>
                  <a:srgbClr val="0891B2"/>
                </a:solidFill>
                <a:latin typeface="Calibri" pitchFamily="34" charset="0"/>
                <a:ea typeface="Calibri" pitchFamily="34" charset="-122"/>
                <a:cs typeface="Calibri" pitchFamily="34" charset="-120"/>
              </a:rPr>
              <a:t>Customer Churn Prediction &amp; Retention Strategy</a:t>
            </a:r>
            <a:endParaRPr lang="en-US" sz="1800" dirty="0"/>
          </a:p>
        </p:txBody>
      </p:sp>
      <p:sp>
        <p:nvSpPr>
          <p:cNvPr id="7" name="Shape 5"/>
          <p:cNvSpPr/>
          <p:nvPr/>
        </p:nvSpPr>
        <p:spPr>
          <a:xfrm>
            <a:off x="0" y="4434840"/>
            <a:ext cx="9144000" cy="713232"/>
          </a:xfrm>
          <a:prstGeom prst="rect">
            <a:avLst/>
          </a:prstGeom>
          <a:solidFill>
            <a:srgbClr val="1E2761"/>
          </a:solidFill>
          <a:ln>
            <a:noFill/>
          </a:ln>
        </p:spPr>
      </p:sp>
      <p:sp>
        <p:nvSpPr>
          <p:cNvPr id="8" name="Text 6"/>
          <p:cNvSpPr/>
          <p:nvPr/>
        </p:nvSpPr>
        <p:spPr>
          <a:xfrm>
            <a:off x="640080" y="4526280"/>
            <a:ext cx="7315200" cy="256032"/>
          </a:xfrm>
          <a:prstGeom prst="rect">
            <a:avLst/>
          </a:prstGeom>
          <a:solidFill>
            <a:srgbClr val="1E2761"/>
          </a:solidFill>
          <a:ln>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G5: Lixuan Xiao  •  Michael Dawson  •  Yang Yu</a:t>
            </a:r>
            <a:endParaRPr lang="en-US" sz="1200" dirty="0"/>
          </a:p>
        </p:txBody>
      </p:sp>
      <p:sp>
        <p:nvSpPr>
          <p:cNvPr id="9" name="Text 7"/>
          <p:cNvSpPr/>
          <p:nvPr/>
        </p:nvSpPr>
        <p:spPr>
          <a:xfrm>
            <a:off x="640080" y="4736592"/>
            <a:ext cx="7315200" cy="256032"/>
          </a:xfrm>
          <a:prstGeom prst="rect">
            <a:avLst/>
          </a:prstGeom>
          <a:solidFill>
            <a:srgbClr val="1E2761"/>
          </a:solidFill>
          <a:ln>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Final Project  |  CRISP-DM Framework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sp>
      <p:pic>
        <p:nvPicPr>
          <p:cNvPr id="3" name="Image 0" descr="preencoded.png"/>
          <p:cNvPicPr>
            <a:picLocks noChangeAspect="1"/>
          </p:cNvPicPr>
          <p:nvPr/>
        </p:nvPicPr>
        <p:blipFill>
          <a:blip r:embed="rId1"/>
          <a:stretch>
            <a:fillRect/>
          </a:stretch>
        </p:blipFill>
        <p:spPr>
          <a:xfrm>
            <a:off x="548640" y="182880"/>
            <a:ext cx="384048" cy="384048"/>
          </a:xfrm>
          <a:prstGeom prst="rect">
            <a:avLst/>
          </a:prstGeom>
        </p:spPr>
      </p:pic>
      <p:sp>
        <p:nvSpPr>
          <p:cNvPr id="4" name="Text 1"/>
          <p:cNvSpPr/>
          <p:nvPr/>
        </p:nvSpPr>
        <p:spPr>
          <a:xfrm>
            <a:off x="1051560" y="137160"/>
            <a:ext cx="7315200" cy="548640"/>
          </a:xfrm>
          <a:prstGeom prst="rect">
            <a:avLst/>
          </a:prstGeom>
          <a:solidFill>
            <a:srgbClr val="1E2761"/>
          </a:solidFill>
          <a:ln>
            <a:noFill/>
          </a:ln>
        </p:spPr>
        <p:txBody>
          <a:bodyPr wrap="square" lIns="0" tIns="0" rIns="0" bIns="0" rtlCol="0" anchor="ctr"/>
          <a:lstStyle/>
          <a:p>
            <a:pPr marL="0" indent="0">
              <a:buNone/>
            </a:pPr>
            <a:r>
              <a:rPr lang="en-US" sz="2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Problem Statement</a:t>
            </a:r>
            <a:endParaRPr lang="en-US" sz="2400" dirty="0"/>
          </a:p>
        </p:txBody>
      </p:sp>
      <p:sp>
        <p:nvSpPr>
          <p:cNvPr id="5" name="Shape 2"/>
          <p:cNvSpPr/>
          <p:nvPr/>
        </p:nvSpPr>
        <p:spPr>
          <a:xfrm>
            <a:off x="457200" y="1097280"/>
            <a:ext cx="8229600" cy="1371600"/>
          </a:xfrm>
          <a:prstGeom prst="rect">
            <a:avLst/>
          </a:prstGeom>
          <a:solidFill>
            <a:srgbClr val="FFFFFF"/>
          </a:solidFill>
          <a:effectLst>
            <a:outerShdw blurRad="76200" dist="25400" dir="8100000" algn="bl" rotWithShape="0">
              <a:srgbClr val="000000">
                <a:alpha val="10000"/>
              </a:srgbClr>
            </a:outerShdw>
          </a:effectLst>
        </p:spPr>
      </p:sp>
      <p:sp>
        <p:nvSpPr>
          <p:cNvPr id="6" name="Shape 3"/>
          <p:cNvSpPr/>
          <p:nvPr/>
        </p:nvSpPr>
        <p:spPr>
          <a:xfrm>
            <a:off x="457200" y="1097280"/>
            <a:ext cx="73152" cy="1371600"/>
          </a:xfrm>
          <a:prstGeom prst="rect">
            <a:avLst/>
          </a:prstGeom>
          <a:solidFill>
            <a:srgbClr val="0891B2"/>
          </a:solidFill>
          <a:ln>
            <a:noFill/>
          </a:ln>
        </p:spPr>
      </p:sp>
      <p:sp>
        <p:nvSpPr>
          <p:cNvPr id="7" name="Text 4"/>
          <p:cNvSpPr/>
          <p:nvPr/>
        </p:nvSpPr>
        <p:spPr>
          <a:xfrm>
            <a:off x="777240" y="1188720"/>
            <a:ext cx="7680960" cy="1188720"/>
          </a:xfrm>
          <a:prstGeom prst="rect">
            <a:avLst/>
          </a:prstGeom>
          <a:noFill/>
        </p:spPr>
        <p:txBody>
          <a:bodyPr wrap="square" lIns="0" tIns="0" rIns="0" bIns="0" rtlCol="0" anchor="ctr"/>
          <a:lstStyle/>
          <a:p>
            <a:pPr marL="0" indent="0">
              <a:lnSpc>
                <a:spcPct val="135000"/>
              </a:lnSpc>
              <a:buNone/>
            </a:pPr>
            <a:r>
              <a:rPr lang="en-US" sz="1300" dirty="0">
                <a:solidFill>
                  <a:srgbClr val="1E2761"/>
                </a:solidFill>
                <a:latin typeface="Calibri" pitchFamily="34" charset="0"/>
                <a:ea typeface="Calibri" pitchFamily="34" charset="-122"/>
                <a:cs typeface="Calibri" pitchFamily="34" charset="-120"/>
              </a:rPr>
              <a:t>Customer churn represents a significant financial risk for organizations in competitive markets. While companies collect extensive data across billing, usage, and engagement channels, these data are often underutilized or analyzed in isolation.</a:t>
            </a:r>
            <a:endParaRPr lang="en-US" sz="1300" dirty="0"/>
          </a:p>
        </p:txBody>
      </p:sp>
      <p:sp>
        <p:nvSpPr>
          <p:cNvPr id="8" name="Shape 5"/>
          <p:cNvSpPr/>
          <p:nvPr/>
        </p:nvSpPr>
        <p:spPr>
          <a:xfrm>
            <a:off x="457200" y="2834640"/>
            <a:ext cx="2560320" cy="1737360"/>
          </a:xfrm>
          <a:prstGeom prst="rect">
            <a:avLst/>
          </a:prstGeom>
          <a:solidFill>
            <a:srgbClr val="FFFFFF"/>
          </a:solidFill>
          <a:effectLst>
            <a:outerShdw blurRad="76200" dist="25400" dir="8100000" algn="bl" rotWithShape="0">
              <a:srgbClr val="000000">
                <a:alpha val="10000"/>
              </a:srgbClr>
            </a:outerShdw>
          </a:effectLst>
        </p:spPr>
      </p:sp>
      <p:sp>
        <p:nvSpPr>
          <p:cNvPr id="9" name="Shape 6"/>
          <p:cNvSpPr/>
          <p:nvPr/>
        </p:nvSpPr>
        <p:spPr>
          <a:xfrm>
            <a:off x="457200" y="2834640"/>
            <a:ext cx="2560320" cy="54864"/>
          </a:xfrm>
          <a:prstGeom prst="rect">
            <a:avLst/>
          </a:prstGeom>
          <a:solidFill>
            <a:srgbClr val="0891B2"/>
          </a:solidFill>
        </p:spPr>
      </p:sp>
      <p:sp>
        <p:nvSpPr>
          <p:cNvPr id="10" name="Text 7"/>
          <p:cNvSpPr/>
          <p:nvPr/>
        </p:nvSpPr>
        <p:spPr>
          <a:xfrm>
            <a:off x="640080" y="3063240"/>
            <a:ext cx="2194560" cy="365760"/>
          </a:xfrm>
          <a:prstGeom prst="rect">
            <a:avLst/>
          </a:prstGeom>
          <a:noFill/>
        </p:spPr>
        <p:txBody>
          <a:bodyPr wrap="square" lIns="0" tIns="0" rIns="0" bIns="0" rtlCol="0" anchor="ctr"/>
          <a:lstStyle/>
          <a:p>
            <a:pPr marL="0" indent="0">
              <a:buNone/>
            </a:pPr>
            <a:r>
              <a:rPr lang="en-US" sz="14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Data Silos</a:t>
            </a:r>
            <a:endParaRPr lang="en-US" sz="1400" dirty="0"/>
          </a:p>
        </p:txBody>
      </p:sp>
      <p:sp>
        <p:nvSpPr>
          <p:cNvPr id="11" name="Text 8"/>
          <p:cNvSpPr/>
          <p:nvPr/>
        </p:nvSpPr>
        <p:spPr>
          <a:xfrm>
            <a:off x="640080" y="3474720"/>
            <a:ext cx="2194560" cy="822960"/>
          </a:xfrm>
          <a:prstGeom prst="rect">
            <a:avLst/>
          </a:prstGeom>
          <a:noFill/>
        </p:spPr>
        <p:txBody>
          <a:bodyPr wrap="square" lIns="0" tIns="0" rIns="0" bIns="0" rtlCol="0" anchor="ctr"/>
          <a:lstStyle/>
          <a:p>
            <a:pPr marL="0" indent="0">
              <a:lnSpc>
                <a:spcPct val="130000"/>
              </a:lnSpc>
              <a:buNone/>
            </a:pPr>
            <a:r>
              <a:rPr lang="en-US" sz="1150" dirty="0">
                <a:solidFill>
                  <a:srgbClr val="1E2761"/>
                </a:solidFill>
                <a:latin typeface="Calibri" pitchFamily="34" charset="0"/>
                <a:ea typeface="Calibri" pitchFamily="34" charset="-122"/>
                <a:cs typeface="Calibri" pitchFamily="34" charset="-120"/>
              </a:rPr>
              <a:t>Customer data across channels analyzed in isolation</a:t>
            </a:r>
            <a:endParaRPr lang="en-US" sz="1150" dirty="0"/>
          </a:p>
        </p:txBody>
      </p:sp>
      <p:sp>
        <p:nvSpPr>
          <p:cNvPr id="12" name="Shape 9"/>
          <p:cNvSpPr/>
          <p:nvPr/>
        </p:nvSpPr>
        <p:spPr>
          <a:xfrm>
            <a:off x="3291840" y="2834640"/>
            <a:ext cx="2560320" cy="1737360"/>
          </a:xfrm>
          <a:prstGeom prst="rect">
            <a:avLst/>
          </a:prstGeom>
          <a:solidFill>
            <a:srgbClr val="FFFFFF"/>
          </a:solidFill>
          <a:effectLst>
            <a:outerShdw blurRad="76200" dist="25400" dir="8100000" algn="bl" rotWithShape="0">
              <a:srgbClr val="000000">
                <a:alpha val="10000"/>
              </a:srgbClr>
            </a:outerShdw>
          </a:effectLst>
        </p:spPr>
      </p:sp>
      <p:sp>
        <p:nvSpPr>
          <p:cNvPr id="13" name="Shape 10"/>
          <p:cNvSpPr/>
          <p:nvPr/>
        </p:nvSpPr>
        <p:spPr>
          <a:xfrm>
            <a:off x="3291840" y="2834640"/>
            <a:ext cx="2560320" cy="54864"/>
          </a:xfrm>
          <a:prstGeom prst="rect">
            <a:avLst/>
          </a:prstGeom>
          <a:solidFill>
            <a:srgbClr val="0891B2"/>
          </a:solidFill>
        </p:spPr>
      </p:sp>
      <p:sp>
        <p:nvSpPr>
          <p:cNvPr id="14" name="Text 11"/>
          <p:cNvSpPr/>
          <p:nvPr/>
        </p:nvSpPr>
        <p:spPr>
          <a:xfrm>
            <a:off x="3474720" y="3063240"/>
            <a:ext cx="2194560" cy="365760"/>
          </a:xfrm>
          <a:prstGeom prst="rect">
            <a:avLst/>
          </a:prstGeom>
          <a:noFill/>
        </p:spPr>
        <p:txBody>
          <a:bodyPr wrap="square" lIns="0" tIns="0" rIns="0" bIns="0" rtlCol="0" anchor="ctr"/>
          <a:lstStyle/>
          <a:p>
            <a:pPr marL="0" indent="0">
              <a:buNone/>
            </a:pPr>
            <a:r>
              <a:rPr lang="en-US" sz="14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No Early Warning</a:t>
            </a:r>
            <a:endParaRPr lang="en-US" sz="1400" dirty="0"/>
          </a:p>
        </p:txBody>
      </p:sp>
      <p:sp>
        <p:nvSpPr>
          <p:cNvPr id="15" name="Text 12"/>
          <p:cNvSpPr/>
          <p:nvPr/>
        </p:nvSpPr>
        <p:spPr>
          <a:xfrm>
            <a:off x="3474720" y="3474720"/>
            <a:ext cx="2194560" cy="822960"/>
          </a:xfrm>
          <a:prstGeom prst="rect">
            <a:avLst/>
          </a:prstGeom>
          <a:noFill/>
        </p:spPr>
        <p:txBody>
          <a:bodyPr wrap="square" lIns="0" tIns="0" rIns="0" bIns="0" rtlCol="0" anchor="ctr"/>
          <a:lstStyle/>
          <a:p>
            <a:pPr marL="0" indent="0">
              <a:lnSpc>
                <a:spcPct val="130000"/>
              </a:lnSpc>
              <a:buNone/>
            </a:pPr>
            <a:r>
              <a:rPr lang="en-US" sz="1150" dirty="0">
                <a:solidFill>
                  <a:srgbClr val="1E2761"/>
                </a:solidFill>
                <a:latin typeface="Calibri" pitchFamily="34" charset="0"/>
                <a:ea typeface="Calibri" pitchFamily="34" charset="-122"/>
                <a:cs typeface="Calibri" pitchFamily="34" charset="-120"/>
              </a:rPr>
              <a:t>Lack of timely mechanisms to identify at-risk customers</a:t>
            </a:r>
            <a:endParaRPr lang="en-US" sz="1150" dirty="0"/>
          </a:p>
        </p:txBody>
      </p:sp>
      <p:sp>
        <p:nvSpPr>
          <p:cNvPr id="16" name="Shape 13"/>
          <p:cNvSpPr/>
          <p:nvPr/>
        </p:nvSpPr>
        <p:spPr>
          <a:xfrm>
            <a:off x="6126480" y="2834640"/>
            <a:ext cx="2560320" cy="1737360"/>
          </a:xfrm>
          <a:prstGeom prst="rect">
            <a:avLst/>
          </a:prstGeom>
          <a:solidFill>
            <a:srgbClr val="FFFFFF"/>
          </a:solidFill>
          <a:effectLst>
            <a:outerShdw blurRad="76200" dist="25400" dir="8100000" algn="bl" rotWithShape="0">
              <a:srgbClr val="000000">
                <a:alpha val="10000"/>
              </a:srgbClr>
            </a:outerShdw>
          </a:effectLst>
        </p:spPr>
      </p:sp>
      <p:sp>
        <p:nvSpPr>
          <p:cNvPr id="17" name="Shape 14"/>
          <p:cNvSpPr/>
          <p:nvPr/>
        </p:nvSpPr>
        <p:spPr>
          <a:xfrm>
            <a:off x="6126480" y="2834640"/>
            <a:ext cx="2560320" cy="54864"/>
          </a:xfrm>
          <a:prstGeom prst="rect">
            <a:avLst/>
          </a:prstGeom>
          <a:solidFill>
            <a:srgbClr val="0891B2"/>
          </a:solidFill>
        </p:spPr>
      </p:sp>
      <p:sp>
        <p:nvSpPr>
          <p:cNvPr id="18" name="Text 15"/>
          <p:cNvSpPr/>
          <p:nvPr/>
        </p:nvSpPr>
        <p:spPr>
          <a:xfrm>
            <a:off x="6309360" y="3063240"/>
            <a:ext cx="2194560" cy="365760"/>
          </a:xfrm>
          <a:prstGeom prst="rect">
            <a:avLst/>
          </a:prstGeom>
          <a:noFill/>
        </p:spPr>
        <p:txBody>
          <a:bodyPr wrap="square" lIns="0" tIns="0" rIns="0" bIns="0" rtlCol="0" anchor="ctr"/>
          <a:lstStyle/>
          <a:p>
            <a:pPr marL="0" indent="0">
              <a:buNone/>
            </a:pPr>
            <a:r>
              <a:rPr lang="en-US" sz="14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No Automation</a:t>
            </a:r>
            <a:endParaRPr lang="en-US" sz="1400" dirty="0"/>
          </a:p>
        </p:txBody>
      </p:sp>
      <p:sp>
        <p:nvSpPr>
          <p:cNvPr id="19" name="Text 16"/>
          <p:cNvSpPr/>
          <p:nvPr/>
        </p:nvSpPr>
        <p:spPr>
          <a:xfrm>
            <a:off x="6309360" y="3474720"/>
            <a:ext cx="2194560" cy="822960"/>
          </a:xfrm>
          <a:prstGeom prst="rect">
            <a:avLst/>
          </a:prstGeom>
          <a:noFill/>
        </p:spPr>
        <p:txBody>
          <a:bodyPr wrap="square" lIns="0" tIns="0" rIns="0" bIns="0" rtlCol="0" anchor="ctr"/>
          <a:lstStyle/>
          <a:p>
            <a:pPr marL="0" indent="0">
              <a:lnSpc>
                <a:spcPct val="130000"/>
              </a:lnSpc>
              <a:buNone/>
            </a:pPr>
            <a:r>
              <a:rPr lang="en-US" sz="1150" dirty="0">
                <a:solidFill>
                  <a:srgbClr val="1E2761"/>
                </a:solidFill>
                <a:latin typeface="Calibri" pitchFamily="34" charset="0"/>
                <a:ea typeface="Calibri" pitchFamily="34" charset="-122"/>
                <a:cs typeface="Calibri" pitchFamily="34" charset="-120"/>
              </a:rPr>
              <a:t>Absence of scalable, end-to-end analytical pipelines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sp>
      <p:pic>
        <p:nvPicPr>
          <p:cNvPr id="3" name="Image 0" descr="preencoded.png"/>
          <p:cNvPicPr>
            <a:picLocks noChangeAspect="1"/>
          </p:cNvPicPr>
          <p:nvPr/>
        </p:nvPicPr>
        <p:blipFill>
          <a:blip r:embed="rId1"/>
          <a:stretch>
            <a:fillRect/>
          </a:stretch>
        </p:blipFill>
        <p:spPr>
          <a:xfrm>
            <a:off x="548640" y="182880"/>
            <a:ext cx="384048" cy="384048"/>
          </a:xfrm>
          <a:prstGeom prst="rect">
            <a:avLst/>
          </a:prstGeom>
        </p:spPr>
      </p:pic>
      <p:sp>
        <p:nvSpPr>
          <p:cNvPr id="4" name="Text 1"/>
          <p:cNvSpPr/>
          <p:nvPr/>
        </p:nvSpPr>
        <p:spPr>
          <a:xfrm>
            <a:off x="1051560" y="137160"/>
            <a:ext cx="7315200" cy="548640"/>
          </a:xfrm>
          <a:prstGeom prst="rect">
            <a:avLst/>
          </a:prstGeom>
          <a:solidFill>
            <a:srgbClr val="1E2761"/>
          </a:solidFill>
          <a:ln>
            <a:noFill/>
          </a:ln>
        </p:spPr>
        <p:txBody>
          <a:bodyPr wrap="square" lIns="0" tIns="0" rIns="0" bIns="0" rtlCol="0" anchor="ctr"/>
          <a:lstStyle/>
          <a:p>
            <a:pPr marL="0" indent="0">
              <a:buNone/>
            </a:pPr>
            <a:r>
              <a:rPr lang="en-US" sz="2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Research Objectives</a:t>
            </a:r>
            <a:endParaRPr lang="en-US" sz="2400" dirty="0"/>
          </a:p>
        </p:txBody>
      </p:sp>
      <p:sp>
        <p:nvSpPr>
          <p:cNvPr id="5" name="Shape 2"/>
          <p:cNvSpPr/>
          <p:nvPr/>
        </p:nvSpPr>
        <p:spPr>
          <a:xfrm>
            <a:off x="548640" y="1124712"/>
            <a:ext cx="457200" cy="457200"/>
          </a:xfrm>
          <a:prstGeom prst="ellipse">
            <a:avLst/>
          </a:prstGeom>
          <a:solidFill>
            <a:srgbClr val="0891B2"/>
          </a:solidFill>
        </p:spPr>
      </p:sp>
      <p:sp>
        <p:nvSpPr>
          <p:cNvPr id="6" name="Text 3"/>
          <p:cNvSpPr/>
          <p:nvPr/>
        </p:nvSpPr>
        <p:spPr>
          <a:xfrm>
            <a:off x="548640" y="1124712"/>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01</a:t>
            </a:r>
            <a:endParaRPr lang="en-US" sz="1400" dirty="0"/>
          </a:p>
        </p:txBody>
      </p:sp>
      <p:sp>
        <p:nvSpPr>
          <p:cNvPr id="7" name="Shape 4"/>
          <p:cNvSpPr/>
          <p:nvPr/>
        </p:nvSpPr>
        <p:spPr>
          <a:xfrm>
            <a:off x="1188720" y="1051560"/>
            <a:ext cx="7498080" cy="585216"/>
          </a:xfrm>
          <a:prstGeom prst="rect">
            <a:avLst/>
          </a:prstGeom>
          <a:solidFill>
            <a:srgbClr val="FFFFFF"/>
          </a:solidFill>
          <a:effectLst>
            <a:outerShdw blurRad="76200" dist="25400" dir="8100000" algn="bl" rotWithShape="0">
              <a:srgbClr val="000000">
                <a:alpha val="10000"/>
              </a:srgbClr>
            </a:outerShdw>
          </a:effectLst>
        </p:spPr>
      </p:sp>
      <p:sp>
        <p:nvSpPr>
          <p:cNvPr id="8" name="Text 5"/>
          <p:cNvSpPr/>
          <p:nvPr/>
        </p:nvSpPr>
        <p:spPr>
          <a:xfrm>
            <a:off x="1371600" y="1051560"/>
            <a:ext cx="7132320" cy="585216"/>
          </a:xfrm>
          <a:prstGeom prst="rect">
            <a:avLst/>
          </a:prstGeom>
          <a:noFill/>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Design an end-to-end ML pipeline for churn prediction using the CRISP-DM framework</a:t>
            </a:r>
            <a:endParaRPr lang="en-US" sz="1250" dirty="0"/>
          </a:p>
        </p:txBody>
      </p:sp>
      <p:sp>
        <p:nvSpPr>
          <p:cNvPr id="9" name="Shape 6"/>
          <p:cNvSpPr/>
          <p:nvPr/>
        </p:nvSpPr>
        <p:spPr>
          <a:xfrm>
            <a:off x="548640" y="1874520"/>
            <a:ext cx="457200" cy="457200"/>
          </a:xfrm>
          <a:prstGeom prst="ellipse">
            <a:avLst/>
          </a:prstGeom>
          <a:solidFill>
            <a:srgbClr val="0891B2"/>
          </a:solidFill>
        </p:spPr>
      </p:sp>
      <p:sp>
        <p:nvSpPr>
          <p:cNvPr id="10" name="Text 7"/>
          <p:cNvSpPr/>
          <p:nvPr/>
        </p:nvSpPr>
        <p:spPr>
          <a:xfrm>
            <a:off x="548640" y="187452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02</a:t>
            </a:r>
            <a:endParaRPr lang="en-US" sz="1400" dirty="0"/>
          </a:p>
        </p:txBody>
      </p:sp>
      <p:sp>
        <p:nvSpPr>
          <p:cNvPr id="11" name="Shape 8"/>
          <p:cNvSpPr/>
          <p:nvPr/>
        </p:nvSpPr>
        <p:spPr>
          <a:xfrm>
            <a:off x="1188720" y="1801368"/>
            <a:ext cx="7498080" cy="585216"/>
          </a:xfrm>
          <a:prstGeom prst="rect">
            <a:avLst/>
          </a:prstGeom>
          <a:solidFill>
            <a:srgbClr val="FFFFFF"/>
          </a:solidFill>
          <a:effectLst>
            <a:outerShdw blurRad="76200" dist="25400" dir="8100000" algn="bl" rotWithShape="0">
              <a:srgbClr val="000000">
                <a:alpha val="10000"/>
              </a:srgbClr>
            </a:outerShdw>
          </a:effectLst>
        </p:spPr>
      </p:sp>
      <p:sp>
        <p:nvSpPr>
          <p:cNvPr id="12" name="Text 9"/>
          <p:cNvSpPr/>
          <p:nvPr/>
        </p:nvSpPr>
        <p:spPr>
          <a:xfrm>
            <a:off x="1371600" y="1801368"/>
            <a:ext cx="7132320" cy="585216"/>
          </a:xfrm>
          <a:prstGeom prst="rect">
            <a:avLst/>
          </a:prstGeom>
          <a:noFill/>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Explore and engineer customer-level features capturing behavioral, temporal, and transactional patterns</a:t>
            </a:r>
            <a:endParaRPr lang="en-US" sz="1250" dirty="0"/>
          </a:p>
        </p:txBody>
      </p:sp>
      <p:sp>
        <p:nvSpPr>
          <p:cNvPr id="13" name="Shape 10"/>
          <p:cNvSpPr/>
          <p:nvPr/>
        </p:nvSpPr>
        <p:spPr>
          <a:xfrm>
            <a:off x="548640" y="2624328"/>
            <a:ext cx="457200" cy="457200"/>
          </a:xfrm>
          <a:prstGeom prst="ellipse">
            <a:avLst/>
          </a:prstGeom>
          <a:solidFill>
            <a:srgbClr val="0891B2"/>
          </a:solidFill>
        </p:spPr>
      </p:sp>
      <p:sp>
        <p:nvSpPr>
          <p:cNvPr id="14" name="Text 11"/>
          <p:cNvSpPr/>
          <p:nvPr/>
        </p:nvSpPr>
        <p:spPr>
          <a:xfrm>
            <a:off x="548640" y="2624328"/>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03</a:t>
            </a:r>
            <a:endParaRPr lang="en-US" sz="1400" dirty="0"/>
          </a:p>
        </p:txBody>
      </p:sp>
      <p:sp>
        <p:nvSpPr>
          <p:cNvPr id="15" name="Shape 12"/>
          <p:cNvSpPr/>
          <p:nvPr/>
        </p:nvSpPr>
        <p:spPr>
          <a:xfrm>
            <a:off x="1188720" y="2551176"/>
            <a:ext cx="7498080" cy="585216"/>
          </a:xfrm>
          <a:prstGeom prst="rect">
            <a:avLst/>
          </a:prstGeom>
          <a:solidFill>
            <a:srgbClr val="FFFFFF"/>
          </a:solidFill>
          <a:effectLst>
            <a:outerShdw blurRad="76200" dist="25400" dir="8100000" algn="bl" rotWithShape="0">
              <a:srgbClr val="000000">
                <a:alpha val="10000"/>
              </a:srgbClr>
            </a:outerShdw>
          </a:effectLst>
        </p:spPr>
      </p:sp>
      <p:sp>
        <p:nvSpPr>
          <p:cNvPr id="16" name="Text 13"/>
          <p:cNvSpPr/>
          <p:nvPr/>
        </p:nvSpPr>
        <p:spPr>
          <a:xfrm>
            <a:off x="1371600" y="2551176"/>
            <a:ext cx="7132320" cy="585216"/>
          </a:xfrm>
          <a:prstGeom prst="rect">
            <a:avLst/>
          </a:prstGeom>
          <a:noFill/>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Develop and evaluate multiple ML and deep learning models using appropriate performance metrics</a:t>
            </a:r>
            <a:endParaRPr lang="en-US" sz="1250" dirty="0"/>
          </a:p>
        </p:txBody>
      </p:sp>
      <p:sp>
        <p:nvSpPr>
          <p:cNvPr id="17" name="Shape 14"/>
          <p:cNvSpPr/>
          <p:nvPr/>
        </p:nvSpPr>
        <p:spPr>
          <a:xfrm>
            <a:off x="548640" y="3374136"/>
            <a:ext cx="457200" cy="457200"/>
          </a:xfrm>
          <a:prstGeom prst="ellipse">
            <a:avLst/>
          </a:prstGeom>
          <a:solidFill>
            <a:srgbClr val="0891B2"/>
          </a:solidFill>
        </p:spPr>
      </p:sp>
      <p:sp>
        <p:nvSpPr>
          <p:cNvPr id="18" name="Text 15"/>
          <p:cNvSpPr/>
          <p:nvPr/>
        </p:nvSpPr>
        <p:spPr>
          <a:xfrm>
            <a:off x="548640" y="3374136"/>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04</a:t>
            </a:r>
            <a:endParaRPr lang="en-US" sz="1400" dirty="0"/>
          </a:p>
        </p:txBody>
      </p:sp>
      <p:sp>
        <p:nvSpPr>
          <p:cNvPr id="19" name="Shape 16"/>
          <p:cNvSpPr/>
          <p:nvPr/>
        </p:nvSpPr>
        <p:spPr>
          <a:xfrm>
            <a:off x="1188720" y="3300984"/>
            <a:ext cx="7498080" cy="585216"/>
          </a:xfrm>
          <a:prstGeom prst="rect">
            <a:avLst/>
          </a:prstGeom>
          <a:solidFill>
            <a:srgbClr val="FFFFFF"/>
          </a:solidFill>
          <a:effectLst>
            <a:outerShdw blurRad="76200" dist="25400" dir="8100000" algn="bl" rotWithShape="0">
              <a:srgbClr val="000000">
                <a:alpha val="10000"/>
              </a:srgbClr>
            </a:outerShdw>
          </a:effectLst>
        </p:spPr>
      </p:sp>
      <p:sp>
        <p:nvSpPr>
          <p:cNvPr id="20" name="Text 17"/>
          <p:cNvSpPr/>
          <p:nvPr/>
        </p:nvSpPr>
        <p:spPr>
          <a:xfrm>
            <a:off x="1371600" y="3300984"/>
            <a:ext cx="7132320" cy="585216"/>
          </a:xfrm>
          <a:prstGeom prst="rect">
            <a:avLst/>
          </a:prstGeom>
          <a:noFill/>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Identify the most influential drivers of customer churn and assess their business implications</a:t>
            </a:r>
            <a:endParaRPr lang="en-US" sz="1250" dirty="0"/>
          </a:p>
        </p:txBody>
      </p:sp>
      <p:sp>
        <p:nvSpPr>
          <p:cNvPr id="21" name="Shape 18"/>
          <p:cNvSpPr/>
          <p:nvPr/>
        </p:nvSpPr>
        <p:spPr>
          <a:xfrm>
            <a:off x="548640" y="4123944"/>
            <a:ext cx="457200" cy="457200"/>
          </a:xfrm>
          <a:prstGeom prst="ellipse">
            <a:avLst/>
          </a:prstGeom>
          <a:solidFill>
            <a:srgbClr val="0891B2"/>
          </a:solidFill>
        </p:spPr>
      </p:sp>
      <p:sp>
        <p:nvSpPr>
          <p:cNvPr id="22" name="Text 19"/>
          <p:cNvSpPr/>
          <p:nvPr/>
        </p:nvSpPr>
        <p:spPr>
          <a:xfrm>
            <a:off x="548640" y="4123944"/>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05</a:t>
            </a:r>
            <a:endParaRPr lang="en-US" sz="1400" dirty="0"/>
          </a:p>
        </p:txBody>
      </p:sp>
      <p:sp>
        <p:nvSpPr>
          <p:cNvPr id="23" name="Shape 20"/>
          <p:cNvSpPr/>
          <p:nvPr/>
        </p:nvSpPr>
        <p:spPr>
          <a:xfrm>
            <a:off x="1188720" y="4050792"/>
            <a:ext cx="7498080" cy="585216"/>
          </a:xfrm>
          <a:prstGeom prst="rect">
            <a:avLst/>
          </a:prstGeom>
          <a:solidFill>
            <a:srgbClr val="1E2761"/>
          </a:solidFill>
          <a:ln>
            <a:noFill/>
          </a:ln>
          <a:effectLst>
            <a:outerShdw blurRad="76200" dist="25400" dir="8100000" algn="bl" rotWithShape="0">
              <a:srgbClr val="000000">
                <a:alpha val="10000"/>
              </a:srgbClr>
            </a:outerShdw>
          </a:effectLst>
        </p:spPr>
      </p:sp>
      <p:sp>
        <p:nvSpPr>
          <p:cNvPr id="24" name="Text 21"/>
          <p:cNvSpPr/>
          <p:nvPr/>
        </p:nvSpPr>
        <p:spPr>
          <a:xfrm>
            <a:off x="1371600" y="4050792"/>
            <a:ext cx="7132320" cy="585216"/>
          </a:xfrm>
          <a:prstGeom prst="rect">
            <a:avLst/>
          </a:prstGeom>
          <a:solidFill>
            <a:srgbClr val="1E2761"/>
          </a:solidFill>
          <a:ln>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Propose a feasible deployment and automation strategy for ongoing churn monitoring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2761"/>
          </a:solidFill>
          <a:ln>
            <a:noFill/>
          </a:ln>
        </p:spPr>
      </p:sp>
      <p:sp>
        <p:nvSpPr>
          <p:cNvPr id="3" name="Text 1"/>
          <p:cNvSpPr/>
          <p:nvPr/>
        </p:nvSpPr>
        <p:spPr>
          <a:xfrm>
            <a:off x="548640" y="274320"/>
            <a:ext cx="8229600" cy="548640"/>
          </a:xfrm>
          <a:prstGeom prst="rect">
            <a:avLst/>
          </a:prstGeom>
          <a:solidFill>
            <a:srgbClr val="1E2761"/>
          </a:solidFill>
          <a:ln>
            <a:noFill/>
          </a:ln>
        </p:spPr>
        <p:txBody>
          <a:bodyPr wrap="square" lIns="0" tIns="0" rIns="0" bIns="0" rtlCol="0" anchor="ctr"/>
          <a:lstStyle/>
          <a:p>
            <a:pPr marL="0" indent="0">
              <a:buNone/>
            </a:pPr>
            <a:r>
              <a:rPr lang="en-US" sz="26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Research Framework</a:t>
            </a:r>
            <a:endParaRPr lang="en-US" sz="2600" dirty="0"/>
          </a:p>
        </p:txBody>
      </p:sp>
      <p:sp>
        <p:nvSpPr>
          <p:cNvPr id="4" name="Shape 2"/>
          <p:cNvSpPr/>
          <p:nvPr/>
        </p:nvSpPr>
        <p:spPr>
          <a:xfrm>
            <a:off x="457200" y="1097280"/>
            <a:ext cx="2606040" cy="1828800"/>
          </a:xfrm>
          <a:prstGeom prst="rect">
            <a:avLst/>
          </a:prstGeom>
          <a:solidFill>
            <a:srgbClr val="EEF2F7"/>
          </a:solidFill>
          <a:ln>
            <a:noFill/>
          </a:ln>
        </p:spPr>
      </p:sp>
      <p:pic>
        <p:nvPicPr>
          <p:cNvPr id="5" name="Image 0" descr="preencoded.png"/>
          <p:cNvPicPr>
            <a:picLocks noChangeAspect="1"/>
          </p:cNvPicPr>
          <p:nvPr/>
        </p:nvPicPr>
        <p:blipFill>
          <a:blip r:embed="rId1"/>
          <a:stretch>
            <a:fillRect/>
          </a:stretch>
        </p:blipFill>
        <p:spPr>
          <a:xfrm>
            <a:off x="640080" y="1280160"/>
            <a:ext cx="347472" cy="347472"/>
          </a:xfrm>
          <a:prstGeom prst="rect">
            <a:avLst/>
          </a:prstGeom>
        </p:spPr>
      </p:pic>
      <p:sp>
        <p:nvSpPr>
          <p:cNvPr id="6" name="Text 3"/>
          <p:cNvSpPr/>
          <p:nvPr/>
        </p:nvSpPr>
        <p:spPr>
          <a:xfrm>
            <a:off x="1097280" y="1280160"/>
            <a:ext cx="18288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Unit of Analysis</a:t>
            </a:r>
            <a:endParaRPr lang="en-US" sz="1000" dirty="0"/>
          </a:p>
        </p:txBody>
      </p:sp>
      <p:sp>
        <p:nvSpPr>
          <p:cNvPr id="7" name="Text 4"/>
          <p:cNvSpPr/>
          <p:nvPr/>
        </p:nvSpPr>
        <p:spPr>
          <a:xfrm>
            <a:off x="640080" y="1828800"/>
            <a:ext cx="2286000" cy="365760"/>
          </a:xfrm>
          <a:prstGeom prst="rect">
            <a:avLst/>
          </a:prstGeom>
          <a:noFill/>
        </p:spPr>
        <p:txBody>
          <a:bodyPr wrap="square" lIns="0" tIns="0" rIns="0" bIns="0" rtlCol="0" anchor="ctr"/>
          <a:lstStyle/>
          <a:p>
            <a:pPr marL="0" indent="0">
              <a:buNone/>
            </a:pPr>
            <a:r>
              <a:rPr lang="en-US" sz="1600" b="1" dirty="0">
                <a:solidFill>
                  <a:srgbClr val="0891B2"/>
                </a:solidFill>
                <a:latin typeface="Trebuchet MS" panose="020B0603020202020204" pitchFamily="34" charset="0"/>
                <a:ea typeface="Trebuchet MS" panose="020B0603020202020204" pitchFamily="34" charset="-122"/>
                <a:cs typeface="Trebuchet MS" panose="020B0603020202020204" pitchFamily="34" charset="-120"/>
              </a:rPr>
              <a:t>Individual Customer</a:t>
            </a:r>
            <a:endParaRPr lang="en-US" sz="1600" dirty="0"/>
          </a:p>
        </p:txBody>
      </p:sp>
      <p:sp>
        <p:nvSpPr>
          <p:cNvPr id="8" name="Text 5"/>
          <p:cNvSpPr/>
          <p:nvPr/>
        </p:nvSpPr>
        <p:spPr>
          <a:xfrm>
            <a:off x="640080" y="2194560"/>
            <a:ext cx="2286000" cy="548640"/>
          </a:xfrm>
          <a:prstGeom prst="rect">
            <a:avLst/>
          </a:prstGeom>
          <a:noFill/>
        </p:spPr>
        <p:txBody>
          <a:bodyPr wrap="square" lIns="0" tIns="0" rIns="0" bIns="0" rtlCol="0" anchor="ctr"/>
          <a:lstStyle/>
          <a:p>
            <a:pPr marL="0" indent="0">
              <a:lnSpc>
                <a:spcPct val="130000"/>
              </a:lnSpc>
              <a:buNone/>
            </a:pPr>
            <a:r>
              <a:rPr lang="en-US" sz="1050" dirty="0">
                <a:solidFill>
                  <a:srgbClr val="1E2761"/>
                </a:solidFill>
                <a:latin typeface="Calibri" pitchFamily="34" charset="0"/>
                <a:ea typeface="Calibri" pitchFamily="34" charset="-122"/>
                <a:cs typeface="Calibri" pitchFamily="34" charset="-120"/>
              </a:rPr>
              <a:t>Each row = one customer's complete behavioral profile</a:t>
            </a:r>
            <a:endParaRPr lang="en-US" sz="1050" dirty="0"/>
          </a:p>
        </p:txBody>
      </p:sp>
      <p:sp>
        <p:nvSpPr>
          <p:cNvPr id="9" name="Shape 6"/>
          <p:cNvSpPr/>
          <p:nvPr/>
        </p:nvSpPr>
        <p:spPr>
          <a:xfrm>
            <a:off x="3337560" y="1097280"/>
            <a:ext cx="2606040" cy="1828800"/>
          </a:xfrm>
          <a:prstGeom prst="rect">
            <a:avLst/>
          </a:prstGeom>
          <a:solidFill>
            <a:srgbClr val="EEF2F7"/>
          </a:solidFill>
          <a:ln>
            <a:noFill/>
          </a:ln>
        </p:spPr>
      </p:sp>
      <p:pic>
        <p:nvPicPr>
          <p:cNvPr id="10" name="Image 1" descr="preencoded.png"/>
          <p:cNvPicPr>
            <a:picLocks noChangeAspect="1"/>
          </p:cNvPicPr>
          <p:nvPr/>
        </p:nvPicPr>
        <p:blipFill>
          <a:blip r:embed="rId2"/>
          <a:stretch>
            <a:fillRect/>
          </a:stretch>
        </p:blipFill>
        <p:spPr>
          <a:xfrm>
            <a:off x="3520440" y="1280160"/>
            <a:ext cx="347472" cy="347472"/>
          </a:xfrm>
          <a:prstGeom prst="rect">
            <a:avLst/>
          </a:prstGeom>
        </p:spPr>
      </p:pic>
      <p:sp>
        <p:nvSpPr>
          <p:cNvPr id="11" name="Text 7"/>
          <p:cNvSpPr/>
          <p:nvPr/>
        </p:nvSpPr>
        <p:spPr>
          <a:xfrm>
            <a:off x="3977640" y="1280160"/>
            <a:ext cx="18288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Outcome Variable</a:t>
            </a:r>
            <a:endParaRPr lang="en-US" sz="1000" dirty="0"/>
          </a:p>
        </p:txBody>
      </p:sp>
      <p:sp>
        <p:nvSpPr>
          <p:cNvPr id="12" name="Text 8"/>
          <p:cNvSpPr/>
          <p:nvPr/>
        </p:nvSpPr>
        <p:spPr>
          <a:xfrm>
            <a:off x="3520440" y="1828800"/>
            <a:ext cx="2286000" cy="365760"/>
          </a:xfrm>
          <a:prstGeom prst="rect">
            <a:avLst/>
          </a:prstGeom>
          <a:noFill/>
        </p:spPr>
        <p:txBody>
          <a:bodyPr wrap="square" lIns="0" tIns="0" rIns="0" bIns="0" rtlCol="0" anchor="ctr"/>
          <a:lstStyle/>
          <a:p>
            <a:pPr marL="0" indent="0">
              <a:buNone/>
            </a:pPr>
            <a:r>
              <a:rPr lang="en-US" sz="1600" b="1" dirty="0">
                <a:solidFill>
                  <a:srgbClr val="0891B2"/>
                </a:solidFill>
                <a:latin typeface="Trebuchet MS" panose="020B0603020202020204" pitchFamily="34" charset="0"/>
                <a:ea typeface="Trebuchet MS" panose="020B0603020202020204" pitchFamily="34" charset="-122"/>
                <a:cs typeface="Trebuchet MS" panose="020B0603020202020204" pitchFamily="34" charset="-120"/>
              </a:rPr>
              <a:t>Binary Churn Indicator</a:t>
            </a:r>
            <a:endParaRPr lang="en-US" sz="1600" dirty="0"/>
          </a:p>
        </p:txBody>
      </p:sp>
      <p:sp>
        <p:nvSpPr>
          <p:cNvPr id="13" name="Text 9"/>
          <p:cNvSpPr/>
          <p:nvPr/>
        </p:nvSpPr>
        <p:spPr>
          <a:xfrm>
            <a:off x="3520440" y="2194560"/>
            <a:ext cx="2286000" cy="548640"/>
          </a:xfrm>
          <a:prstGeom prst="rect">
            <a:avLst/>
          </a:prstGeom>
          <a:noFill/>
        </p:spPr>
        <p:txBody>
          <a:bodyPr wrap="square" lIns="0" tIns="0" rIns="0" bIns="0" rtlCol="0" anchor="ctr"/>
          <a:lstStyle/>
          <a:p>
            <a:pPr marL="0" indent="0">
              <a:lnSpc>
                <a:spcPct val="130000"/>
              </a:lnSpc>
              <a:buNone/>
            </a:pPr>
            <a:r>
              <a:rPr lang="en-US" sz="1050" dirty="0">
                <a:solidFill>
                  <a:srgbClr val="1E2761"/>
                </a:solidFill>
                <a:latin typeface="Calibri" pitchFamily="34" charset="0"/>
                <a:ea typeface="Calibri" pitchFamily="34" charset="-122"/>
                <a:cs typeface="Calibri" pitchFamily="34" charset="-120"/>
              </a:rPr>
              <a:t>Churn vs. No Churn classification</a:t>
            </a:r>
            <a:endParaRPr lang="en-US" sz="1050" dirty="0"/>
          </a:p>
        </p:txBody>
      </p:sp>
      <p:sp>
        <p:nvSpPr>
          <p:cNvPr id="14" name="Shape 10"/>
          <p:cNvSpPr/>
          <p:nvPr/>
        </p:nvSpPr>
        <p:spPr>
          <a:xfrm>
            <a:off x="6217920" y="1097280"/>
            <a:ext cx="2606040" cy="1828800"/>
          </a:xfrm>
          <a:prstGeom prst="rect">
            <a:avLst/>
          </a:prstGeom>
          <a:solidFill>
            <a:srgbClr val="EEF2F7"/>
          </a:solidFill>
          <a:ln>
            <a:noFill/>
          </a:ln>
        </p:spPr>
      </p:sp>
      <p:pic>
        <p:nvPicPr>
          <p:cNvPr id="15" name="Image 2" descr="preencoded.png"/>
          <p:cNvPicPr>
            <a:picLocks noChangeAspect="1"/>
          </p:cNvPicPr>
          <p:nvPr/>
        </p:nvPicPr>
        <p:blipFill>
          <a:blip r:embed="rId3"/>
          <a:stretch>
            <a:fillRect/>
          </a:stretch>
        </p:blipFill>
        <p:spPr>
          <a:xfrm>
            <a:off x="6400800" y="1280160"/>
            <a:ext cx="347472" cy="347472"/>
          </a:xfrm>
          <a:prstGeom prst="rect">
            <a:avLst/>
          </a:prstGeom>
        </p:spPr>
      </p:pic>
      <p:sp>
        <p:nvSpPr>
          <p:cNvPr id="16" name="Text 11"/>
          <p:cNvSpPr/>
          <p:nvPr/>
        </p:nvSpPr>
        <p:spPr>
          <a:xfrm>
            <a:off x="6858000" y="1280160"/>
            <a:ext cx="18288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Methodology</a:t>
            </a:r>
            <a:endParaRPr lang="en-US" sz="1000" dirty="0"/>
          </a:p>
        </p:txBody>
      </p:sp>
      <p:sp>
        <p:nvSpPr>
          <p:cNvPr id="17" name="Text 12"/>
          <p:cNvSpPr/>
          <p:nvPr/>
        </p:nvSpPr>
        <p:spPr>
          <a:xfrm>
            <a:off x="6400800" y="1828800"/>
            <a:ext cx="2286000" cy="365760"/>
          </a:xfrm>
          <a:prstGeom prst="rect">
            <a:avLst/>
          </a:prstGeom>
          <a:noFill/>
        </p:spPr>
        <p:txBody>
          <a:bodyPr wrap="square" lIns="0" tIns="0" rIns="0" bIns="0" rtlCol="0" anchor="ctr"/>
          <a:lstStyle/>
          <a:p>
            <a:pPr marL="0" indent="0">
              <a:buNone/>
            </a:pPr>
            <a:r>
              <a:rPr lang="en-US" sz="1600" b="1" dirty="0">
                <a:solidFill>
                  <a:srgbClr val="0891B2"/>
                </a:solidFill>
                <a:latin typeface="Trebuchet MS" panose="020B0603020202020204" pitchFamily="34" charset="0"/>
                <a:ea typeface="Trebuchet MS" panose="020B0603020202020204" pitchFamily="34" charset="-122"/>
                <a:cs typeface="Trebuchet MS" panose="020B0603020202020204" pitchFamily="34" charset="-120"/>
              </a:rPr>
              <a:t>CRISP-DM Framework</a:t>
            </a:r>
            <a:endParaRPr lang="en-US" sz="1600" dirty="0"/>
          </a:p>
        </p:txBody>
      </p:sp>
      <p:sp>
        <p:nvSpPr>
          <p:cNvPr id="18" name="Text 13"/>
          <p:cNvSpPr/>
          <p:nvPr/>
        </p:nvSpPr>
        <p:spPr>
          <a:xfrm>
            <a:off x="6400800" y="2194560"/>
            <a:ext cx="2286000" cy="548640"/>
          </a:xfrm>
          <a:prstGeom prst="rect">
            <a:avLst/>
          </a:prstGeom>
          <a:noFill/>
        </p:spPr>
        <p:txBody>
          <a:bodyPr wrap="square" lIns="0" tIns="0" rIns="0" bIns="0" rtlCol="0" anchor="ctr"/>
          <a:lstStyle/>
          <a:p>
            <a:pPr marL="0" indent="0">
              <a:lnSpc>
                <a:spcPct val="130000"/>
              </a:lnSpc>
              <a:buNone/>
            </a:pPr>
            <a:r>
              <a:rPr lang="en-US" sz="1050" dirty="0">
                <a:solidFill>
                  <a:srgbClr val="1E2761"/>
                </a:solidFill>
                <a:latin typeface="Calibri" pitchFamily="34" charset="0"/>
                <a:ea typeface="Calibri" pitchFamily="34" charset="-122"/>
                <a:cs typeface="Calibri" pitchFamily="34" charset="-120"/>
              </a:rPr>
              <a:t>6 iterative phases from business understanding to deployment</a:t>
            </a:r>
            <a:endParaRPr lang="en-US" sz="1050" dirty="0"/>
          </a:p>
        </p:txBody>
      </p:sp>
      <p:sp>
        <p:nvSpPr>
          <p:cNvPr id="19" name="Text 14"/>
          <p:cNvSpPr/>
          <p:nvPr/>
        </p:nvSpPr>
        <p:spPr>
          <a:xfrm>
            <a:off x="548640" y="3246120"/>
            <a:ext cx="8229600" cy="365760"/>
          </a:xfrm>
          <a:prstGeom prst="rect">
            <a:avLst/>
          </a:prstGeom>
          <a:noFill/>
        </p:spPr>
        <p:txBody>
          <a:bodyPr wrap="square" lIns="0" tIns="0" rIns="0" bIns="0" rtlCol="0" anchor="ctr"/>
          <a:lstStyle/>
          <a:p>
            <a:pPr marL="0" indent="0">
              <a:buNone/>
            </a:pPr>
            <a:r>
              <a:rPr lang="en-US" sz="14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Key Assumptions</a:t>
            </a:r>
            <a:endParaRPr lang="en-US" sz="1400" dirty="0"/>
          </a:p>
        </p:txBody>
      </p:sp>
      <p:sp>
        <p:nvSpPr>
          <p:cNvPr id="20" name="Shape 15"/>
          <p:cNvSpPr/>
          <p:nvPr/>
        </p:nvSpPr>
        <p:spPr>
          <a:xfrm>
            <a:off x="548640" y="3749040"/>
            <a:ext cx="2606040" cy="640080"/>
          </a:xfrm>
          <a:prstGeom prst="rect">
            <a:avLst/>
          </a:prstGeom>
          <a:solidFill>
            <a:srgbClr val="EEF2F7"/>
          </a:solidFill>
          <a:ln>
            <a:noFill/>
          </a:ln>
        </p:spPr>
      </p:sp>
      <p:sp>
        <p:nvSpPr>
          <p:cNvPr id="21" name="Shape 16"/>
          <p:cNvSpPr/>
          <p:nvPr/>
        </p:nvSpPr>
        <p:spPr>
          <a:xfrm>
            <a:off x="548640" y="3749040"/>
            <a:ext cx="54864" cy="640080"/>
          </a:xfrm>
          <a:prstGeom prst="rect">
            <a:avLst/>
          </a:prstGeom>
          <a:solidFill>
            <a:srgbClr val="0891B2"/>
          </a:solidFill>
        </p:spPr>
      </p:sp>
      <p:sp>
        <p:nvSpPr>
          <p:cNvPr id="22" name="Text 17"/>
          <p:cNvSpPr/>
          <p:nvPr/>
        </p:nvSpPr>
        <p:spPr>
          <a:xfrm>
            <a:off x="731520" y="3749040"/>
            <a:ext cx="2286000" cy="640080"/>
          </a:xfrm>
          <a:prstGeom prst="rect">
            <a:avLst/>
          </a:prstGeom>
          <a:noFill/>
        </p:spPr>
        <p:txBody>
          <a:bodyPr wrap="square" lIns="0" tIns="0" rIns="0" bIns="0" rtlCol="0" anchor="ctr"/>
          <a:lstStyle/>
          <a:p>
            <a:pPr marL="0" indent="0">
              <a:lnSpc>
                <a:spcPct val="125000"/>
              </a:lnSpc>
              <a:buNone/>
            </a:pPr>
            <a:r>
              <a:rPr lang="en-US" sz="1050" dirty="0">
                <a:solidFill>
                  <a:srgbClr val="1E2761"/>
                </a:solidFill>
                <a:latin typeface="Calibri" pitchFamily="34" charset="0"/>
                <a:ea typeface="Calibri" pitchFamily="34" charset="-122"/>
                <a:cs typeface="Calibri" pitchFamily="34" charset="-120"/>
              </a:rPr>
              <a:t>Historical customer behavior is predictive of future churn</a:t>
            </a:r>
            <a:endParaRPr lang="en-US" sz="1050" dirty="0"/>
          </a:p>
        </p:txBody>
      </p:sp>
      <p:sp>
        <p:nvSpPr>
          <p:cNvPr id="23" name="Shape 18"/>
          <p:cNvSpPr/>
          <p:nvPr/>
        </p:nvSpPr>
        <p:spPr>
          <a:xfrm>
            <a:off x="3429000" y="3749040"/>
            <a:ext cx="2606040" cy="640080"/>
          </a:xfrm>
          <a:prstGeom prst="rect">
            <a:avLst/>
          </a:prstGeom>
          <a:solidFill>
            <a:srgbClr val="EEF2F7"/>
          </a:solidFill>
          <a:ln>
            <a:noFill/>
          </a:ln>
        </p:spPr>
      </p:sp>
      <p:sp>
        <p:nvSpPr>
          <p:cNvPr id="24" name="Shape 19"/>
          <p:cNvSpPr/>
          <p:nvPr/>
        </p:nvSpPr>
        <p:spPr>
          <a:xfrm>
            <a:off x="3429000" y="3749040"/>
            <a:ext cx="54864" cy="640080"/>
          </a:xfrm>
          <a:prstGeom prst="rect">
            <a:avLst/>
          </a:prstGeom>
          <a:solidFill>
            <a:srgbClr val="0891B2"/>
          </a:solidFill>
        </p:spPr>
      </p:sp>
      <p:sp>
        <p:nvSpPr>
          <p:cNvPr id="25" name="Text 20"/>
          <p:cNvSpPr/>
          <p:nvPr/>
        </p:nvSpPr>
        <p:spPr>
          <a:xfrm>
            <a:off x="3611880" y="3749040"/>
            <a:ext cx="2286000" cy="640080"/>
          </a:xfrm>
          <a:prstGeom prst="rect">
            <a:avLst/>
          </a:prstGeom>
          <a:noFill/>
        </p:spPr>
        <p:txBody>
          <a:bodyPr wrap="square" lIns="0" tIns="0" rIns="0" bIns="0" rtlCol="0" anchor="ctr"/>
          <a:lstStyle/>
          <a:p>
            <a:pPr marL="0" indent="0">
              <a:lnSpc>
                <a:spcPct val="125000"/>
              </a:lnSpc>
              <a:buNone/>
            </a:pPr>
            <a:r>
              <a:rPr lang="en-US" sz="1050" dirty="0">
                <a:solidFill>
                  <a:srgbClr val="1E2761"/>
                </a:solidFill>
                <a:latin typeface="Calibri" pitchFamily="34" charset="0"/>
                <a:ea typeface="Calibri" pitchFamily="34" charset="-122"/>
                <a:cs typeface="Calibri" pitchFamily="34" charset="-120"/>
              </a:rPr>
              <a:t>Churn patterns are stable enough to support supervised learning</a:t>
            </a:r>
            <a:endParaRPr lang="en-US" sz="1050" dirty="0"/>
          </a:p>
        </p:txBody>
      </p:sp>
      <p:sp>
        <p:nvSpPr>
          <p:cNvPr id="26" name="Shape 21"/>
          <p:cNvSpPr/>
          <p:nvPr/>
        </p:nvSpPr>
        <p:spPr>
          <a:xfrm>
            <a:off x="6309360" y="3749040"/>
            <a:ext cx="2606040" cy="640080"/>
          </a:xfrm>
          <a:prstGeom prst="rect">
            <a:avLst/>
          </a:prstGeom>
          <a:solidFill>
            <a:srgbClr val="EEF2F7"/>
          </a:solidFill>
          <a:ln>
            <a:noFill/>
          </a:ln>
        </p:spPr>
      </p:sp>
      <p:sp>
        <p:nvSpPr>
          <p:cNvPr id="27" name="Shape 22"/>
          <p:cNvSpPr/>
          <p:nvPr/>
        </p:nvSpPr>
        <p:spPr>
          <a:xfrm>
            <a:off x="6309360" y="3749040"/>
            <a:ext cx="54864" cy="640080"/>
          </a:xfrm>
          <a:prstGeom prst="rect">
            <a:avLst/>
          </a:prstGeom>
          <a:solidFill>
            <a:srgbClr val="0891B2"/>
          </a:solidFill>
        </p:spPr>
      </p:sp>
      <p:sp>
        <p:nvSpPr>
          <p:cNvPr id="28" name="Text 23"/>
          <p:cNvSpPr/>
          <p:nvPr/>
        </p:nvSpPr>
        <p:spPr>
          <a:xfrm>
            <a:off x="6492240" y="3749040"/>
            <a:ext cx="2286000" cy="640080"/>
          </a:xfrm>
          <a:prstGeom prst="rect">
            <a:avLst/>
          </a:prstGeom>
          <a:noFill/>
        </p:spPr>
        <p:txBody>
          <a:bodyPr wrap="square" lIns="0" tIns="0" rIns="0" bIns="0" rtlCol="0" anchor="ctr"/>
          <a:lstStyle/>
          <a:p>
            <a:pPr marL="0" indent="0">
              <a:lnSpc>
                <a:spcPct val="125000"/>
              </a:lnSpc>
              <a:buNone/>
            </a:pPr>
            <a:r>
              <a:rPr lang="en-US" sz="1050" dirty="0">
                <a:solidFill>
                  <a:srgbClr val="1E2761"/>
                </a:solidFill>
                <a:latin typeface="Calibri" pitchFamily="34" charset="0"/>
                <a:ea typeface="Calibri" pitchFamily="34" charset="-122"/>
                <a:cs typeface="Calibri" pitchFamily="34" charset="-120"/>
              </a:rPr>
              <a:t>Retention interventions can be prioritized based on predicted risk</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sp>
      <p:pic>
        <p:nvPicPr>
          <p:cNvPr id="3" name="Image 0" descr="preencoded.png"/>
          <p:cNvPicPr>
            <a:picLocks noChangeAspect="1"/>
          </p:cNvPicPr>
          <p:nvPr/>
        </p:nvPicPr>
        <p:blipFill>
          <a:blip r:embed="rId1"/>
          <a:stretch>
            <a:fillRect/>
          </a:stretch>
        </p:blipFill>
        <p:spPr>
          <a:xfrm>
            <a:off x="548640" y="182880"/>
            <a:ext cx="384048" cy="384048"/>
          </a:xfrm>
          <a:prstGeom prst="rect">
            <a:avLst/>
          </a:prstGeom>
        </p:spPr>
      </p:pic>
      <p:sp>
        <p:nvSpPr>
          <p:cNvPr id="4" name="Text 1"/>
          <p:cNvSpPr/>
          <p:nvPr/>
        </p:nvSpPr>
        <p:spPr>
          <a:xfrm>
            <a:off x="1051560" y="137160"/>
            <a:ext cx="4572000" cy="548640"/>
          </a:xfrm>
          <a:prstGeom prst="rect">
            <a:avLst/>
          </a:prstGeom>
          <a:noFill/>
        </p:spPr>
        <p:txBody>
          <a:bodyPr wrap="square" lIns="0" tIns="0" rIns="0" bIns="0" rtlCol="0" anchor="ctr"/>
          <a:lstStyle/>
          <a:p>
            <a:pPr marL="0" indent="0">
              <a:buNone/>
            </a:pPr>
            <a:r>
              <a:rPr lang="en-US" sz="2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Literature Review</a:t>
            </a:r>
            <a:endParaRPr lang="en-US" sz="2400" dirty="0"/>
          </a:p>
        </p:txBody>
      </p:sp>
      <p:sp>
        <p:nvSpPr>
          <p:cNvPr id="5" name="Text 2"/>
          <p:cNvSpPr/>
          <p:nvPr/>
        </p:nvSpPr>
        <p:spPr>
          <a:xfrm>
            <a:off x="5029200" y="137160"/>
            <a:ext cx="3657600" cy="548640"/>
          </a:xfrm>
          <a:prstGeom prst="rect">
            <a:avLst/>
          </a:prstGeom>
          <a:noFill/>
        </p:spPr>
        <p:txBody>
          <a:bodyPr wrap="square" lIns="0" tIns="0" rIns="0" bIns="0" rtlCol="0" anchor="ctr"/>
          <a:lstStyle/>
          <a:p>
            <a:pPr marL="0" indent="0" algn="r">
              <a:buNone/>
            </a:pPr>
            <a:r>
              <a:rPr lang="en-US" sz="1200" dirty="0">
                <a:solidFill>
                  <a:srgbClr val="1E2761"/>
                </a:solidFill>
                <a:latin typeface="Calibri" pitchFamily="34" charset="0"/>
                <a:ea typeface="Calibri" pitchFamily="34" charset="-122"/>
                <a:cs typeface="Calibri" pitchFamily="34" charset="-120"/>
              </a:rPr>
              <a:t>9 Sources  •  3 Thematic Areas</a:t>
            </a:r>
            <a:endParaRPr lang="en-US" sz="1200" dirty="0"/>
          </a:p>
        </p:txBody>
      </p:sp>
      <p:sp>
        <p:nvSpPr>
          <p:cNvPr id="6" name="Shape 3"/>
          <p:cNvSpPr/>
          <p:nvPr/>
        </p:nvSpPr>
        <p:spPr>
          <a:xfrm>
            <a:off x="457200" y="1097280"/>
            <a:ext cx="2606040" cy="3566160"/>
          </a:xfrm>
          <a:prstGeom prst="rect">
            <a:avLst/>
          </a:prstGeom>
          <a:solidFill>
            <a:srgbClr val="FFFFFF"/>
          </a:solidFill>
          <a:effectLst>
            <a:outerShdw blurRad="76200" dist="25400" dir="8100000" algn="bl" rotWithShape="0">
              <a:srgbClr val="000000">
                <a:alpha val="10000"/>
              </a:srgbClr>
            </a:outerShdw>
          </a:effectLst>
        </p:spPr>
      </p:sp>
      <p:sp>
        <p:nvSpPr>
          <p:cNvPr id="7" name="Shape 4"/>
          <p:cNvSpPr/>
          <p:nvPr/>
        </p:nvSpPr>
        <p:spPr>
          <a:xfrm>
            <a:off x="457200" y="1097280"/>
            <a:ext cx="2606040" cy="54864"/>
          </a:xfrm>
          <a:prstGeom prst="rect">
            <a:avLst/>
          </a:prstGeom>
          <a:solidFill>
            <a:srgbClr val="0891B2"/>
          </a:solidFill>
        </p:spPr>
      </p:sp>
      <p:sp>
        <p:nvSpPr>
          <p:cNvPr id="8" name="Text 5"/>
          <p:cNvSpPr/>
          <p:nvPr/>
        </p:nvSpPr>
        <p:spPr>
          <a:xfrm>
            <a:off x="640080" y="1325880"/>
            <a:ext cx="2240280" cy="640080"/>
          </a:xfrm>
          <a:prstGeom prst="rect">
            <a:avLst/>
          </a:prstGeom>
          <a:noFill/>
        </p:spPr>
        <p:txBody>
          <a:bodyPr wrap="square" lIns="0" tIns="0" rIns="0" bIns="0" rtlCol="0" anchor="ctr"/>
          <a:lstStyle/>
          <a:p>
            <a:pPr marL="0" indent="0">
              <a:lnSpc>
                <a:spcPct val="115000"/>
              </a:lnSpc>
              <a:buNone/>
            </a:pPr>
            <a:r>
              <a:rPr lang="en-US" sz="14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Methodological</a:t>
            </a:r>
            <a:endParaRPr lang="en-US" sz="1400" dirty="0"/>
          </a:p>
          <a:p>
            <a:pPr marL="0" indent="0">
              <a:lnSpc>
                <a:spcPct val="115000"/>
              </a:lnSpc>
              <a:buNone/>
            </a:pPr>
            <a:r>
              <a:rPr lang="en-US" sz="14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Foundations</a:t>
            </a:r>
            <a:endParaRPr lang="en-US" sz="1400" dirty="0"/>
          </a:p>
        </p:txBody>
      </p:sp>
      <p:sp>
        <p:nvSpPr>
          <p:cNvPr id="9" name="Shape 6"/>
          <p:cNvSpPr/>
          <p:nvPr/>
        </p:nvSpPr>
        <p:spPr>
          <a:xfrm>
            <a:off x="640080" y="2103120"/>
            <a:ext cx="2103120" cy="0"/>
          </a:xfrm>
          <a:prstGeom prst="line">
            <a:avLst/>
          </a:prstGeom>
          <a:noFill/>
          <a:ln w="12700">
            <a:solidFill>
              <a:srgbClr val="E2E8F0"/>
            </a:solidFill>
            <a:prstDash val="solid"/>
          </a:ln>
        </p:spPr>
      </p:sp>
      <p:sp>
        <p:nvSpPr>
          <p:cNvPr id="10" name="Shape 7"/>
          <p:cNvSpPr/>
          <p:nvPr/>
        </p:nvSpPr>
        <p:spPr>
          <a:xfrm>
            <a:off x="640080" y="2331720"/>
            <a:ext cx="182880" cy="182880"/>
          </a:xfrm>
          <a:prstGeom prst="ellipse">
            <a:avLst/>
          </a:prstGeom>
          <a:solidFill>
            <a:srgbClr val="0891B2"/>
          </a:solidFill>
        </p:spPr>
      </p:sp>
      <p:sp>
        <p:nvSpPr>
          <p:cNvPr id="11" name="Text 8"/>
          <p:cNvSpPr/>
          <p:nvPr/>
        </p:nvSpPr>
        <p:spPr>
          <a:xfrm>
            <a:off x="960120" y="2286000"/>
            <a:ext cx="1965960" cy="502920"/>
          </a:xfrm>
          <a:prstGeom prst="rect">
            <a:avLst/>
          </a:prstGeom>
          <a:noFill/>
        </p:spPr>
        <p:txBody>
          <a:bodyPr wrap="square" lIns="0" tIns="0" rIns="0" bIns="0" rtlCol="0" anchor="t"/>
          <a:lstStyle/>
          <a:p>
            <a:pPr marL="0" indent="0">
              <a:lnSpc>
                <a:spcPct val="120000"/>
              </a:lnSpc>
              <a:buNone/>
            </a:pPr>
            <a:r>
              <a:rPr lang="en-US" sz="1050" dirty="0">
                <a:solidFill>
                  <a:srgbClr val="1E2761"/>
                </a:solidFill>
                <a:latin typeface="Calibri" pitchFamily="34" charset="0"/>
                <a:ea typeface="Calibri" pitchFamily="34" charset="-122"/>
                <a:cs typeface="Calibri" pitchFamily="34" charset="-120"/>
              </a:rPr>
              <a:t>Shearer (2000) – CRISP-DM</a:t>
            </a:r>
            <a:endParaRPr lang="en-US" sz="1050" dirty="0"/>
          </a:p>
        </p:txBody>
      </p:sp>
      <p:sp>
        <p:nvSpPr>
          <p:cNvPr id="12" name="Shape 9"/>
          <p:cNvSpPr/>
          <p:nvPr/>
        </p:nvSpPr>
        <p:spPr>
          <a:xfrm>
            <a:off x="640080" y="3017520"/>
            <a:ext cx="182880" cy="182880"/>
          </a:xfrm>
          <a:prstGeom prst="ellipse">
            <a:avLst/>
          </a:prstGeom>
          <a:solidFill>
            <a:srgbClr val="0891B2"/>
          </a:solidFill>
        </p:spPr>
      </p:sp>
      <p:sp>
        <p:nvSpPr>
          <p:cNvPr id="13" name="Text 10"/>
          <p:cNvSpPr/>
          <p:nvPr/>
        </p:nvSpPr>
        <p:spPr>
          <a:xfrm>
            <a:off x="960120" y="2971800"/>
            <a:ext cx="1965960" cy="502920"/>
          </a:xfrm>
          <a:prstGeom prst="rect">
            <a:avLst/>
          </a:prstGeom>
          <a:noFill/>
        </p:spPr>
        <p:txBody>
          <a:bodyPr wrap="square" lIns="0" tIns="0" rIns="0" bIns="0" rtlCol="0" anchor="t"/>
          <a:lstStyle/>
          <a:p>
            <a:pPr marL="0" indent="0">
              <a:lnSpc>
                <a:spcPct val="120000"/>
              </a:lnSpc>
              <a:buNone/>
            </a:pPr>
            <a:r>
              <a:rPr lang="en-US" sz="1050" dirty="0">
                <a:solidFill>
                  <a:srgbClr val="1E2761"/>
                </a:solidFill>
                <a:latin typeface="Calibri" pitchFamily="34" charset="0"/>
                <a:ea typeface="Calibri" pitchFamily="34" charset="-122"/>
                <a:cs typeface="Calibri" pitchFamily="34" charset="-120"/>
              </a:rPr>
              <a:t>Domingos (2012) – ML principles</a:t>
            </a:r>
            <a:endParaRPr lang="en-US" sz="1050" dirty="0"/>
          </a:p>
        </p:txBody>
      </p:sp>
      <p:sp>
        <p:nvSpPr>
          <p:cNvPr id="14" name="Shape 11"/>
          <p:cNvSpPr/>
          <p:nvPr/>
        </p:nvSpPr>
        <p:spPr>
          <a:xfrm>
            <a:off x="640080" y="3703320"/>
            <a:ext cx="182880" cy="182880"/>
          </a:xfrm>
          <a:prstGeom prst="ellipse">
            <a:avLst/>
          </a:prstGeom>
          <a:solidFill>
            <a:srgbClr val="0891B2"/>
          </a:solidFill>
        </p:spPr>
      </p:sp>
      <p:sp>
        <p:nvSpPr>
          <p:cNvPr id="15" name="Text 12"/>
          <p:cNvSpPr/>
          <p:nvPr/>
        </p:nvSpPr>
        <p:spPr>
          <a:xfrm>
            <a:off x="960120" y="3657600"/>
            <a:ext cx="1965960" cy="502920"/>
          </a:xfrm>
          <a:prstGeom prst="rect">
            <a:avLst/>
          </a:prstGeom>
          <a:noFill/>
        </p:spPr>
        <p:txBody>
          <a:bodyPr wrap="square" lIns="0" tIns="0" rIns="0" bIns="0" rtlCol="0" anchor="t"/>
          <a:lstStyle/>
          <a:p>
            <a:pPr marL="0" indent="0">
              <a:lnSpc>
                <a:spcPct val="120000"/>
              </a:lnSpc>
              <a:buNone/>
            </a:pPr>
            <a:r>
              <a:rPr lang="en-US" sz="1050" dirty="0">
                <a:solidFill>
                  <a:srgbClr val="1E2761"/>
                </a:solidFill>
                <a:latin typeface="Calibri" pitchFamily="34" charset="0"/>
                <a:ea typeface="Calibri" pitchFamily="34" charset="-122"/>
                <a:cs typeface="Calibri" pitchFamily="34" charset="-120"/>
              </a:rPr>
              <a:t>Sculley et al. (2015) – ML tech debt</a:t>
            </a:r>
            <a:endParaRPr lang="en-US" sz="1050" dirty="0"/>
          </a:p>
        </p:txBody>
      </p:sp>
      <p:sp>
        <p:nvSpPr>
          <p:cNvPr id="16" name="Shape 13"/>
          <p:cNvSpPr/>
          <p:nvPr/>
        </p:nvSpPr>
        <p:spPr>
          <a:xfrm>
            <a:off x="3337560" y="1097280"/>
            <a:ext cx="2606040" cy="3566160"/>
          </a:xfrm>
          <a:prstGeom prst="rect">
            <a:avLst/>
          </a:prstGeom>
          <a:solidFill>
            <a:srgbClr val="FFFFFF"/>
          </a:solidFill>
          <a:effectLst>
            <a:outerShdw blurRad="76200" dist="25400" dir="8100000" algn="bl" rotWithShape="0">
              <a:srgbClr val="000000">
                <a:alpha val="10000"/>
              </a:srgbClr>
            </a:outerShdw>
          </a:effectLst>
        </p:spPr>
      </p:sp>
      <p:sp>
        <p:nvSpPr>
          <p:cNvPr id="17" name="Shape 14"/>
          <p:cNvSpPr/>
          <p:nvPr/>
        </p:nvSpPr>
        <p:spPr>
          <a:xfrm>
            <a:off x="3337560" y="1097280"/>
            <a:ext cx="2606040" cy="54864"/>
          </a:xfrm>
          <a:prstGeom prst="rect">
            <a:avLst/>
          </a:prstGeom>
          <a:solidFill>
            <a:srgbClr val="0891B2"/>
          </a:solidFill>
        </p:spPr>
      </p:sp>
      <p:sp>
        <p:nvSpPr>
          <p:cNvPr id="18" name="Text 15"/>
          <p:cNvSpPr/>
          <p:nvPr/>
        </p:nvSpPr>
        <p:spPr>
          <a:xfrm>
            <a:off x="3520440" y="1325880"/>
            <a:ext cx="2240280" cy="640080"/>
          </a:xfrm>
          <a:prstGeom prst="rect">
            <a:avLst/>
          </a:prstGeom>
          <a:noFill/>
        </p:spPr>
        <p:txBody>
          <a:bodyPr wrap="square" lIns="0" tIns="0" rIns="0" bIns="0" rtlCol="0" anchor="ctr"/>
          <a:lstStyle/>
          <a:p>
            <a:pPr marL="0" indent="0">
              <a:lnSpc>
                <a:spcPct val="115000"/>
              </a:lnSpc>
              <a:buNone/>
            </a:pPr>
            <a:r>
              <a:rPr lang="en-US" sz="14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Churn Prediction</a:t>
            </a:r>
            <a:endParaRPr lang="en-US" sz="1400" dirty="0"/>
          </a:p>
          <a:p>
            <a:pPr marL="0" indent="0">
              <a:lnSpc>
                <a:spcPct val="115000"/>
              </a:lnSpc>
              <a:buNone/>
            </a:pPr>
            <a:r>
              <a:rPr lang="en-US" sz="14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&amp; Profitability</a:t>
            </a:r>
            <a:endParaRPr lang="en-US" sz="1400" dirty="0"/>
          </a:p>
        </p:txBody>
      </p:sp>
      <p:sp>
        <p:nvSpPr>
          <p:cNvPr id="19" name="Shape 16"/>
          <p:cNvSpPr/>
          <p:nvPr/>
        </p:nvSpPr>
        <p:spPr>
          <a:xfrm>
            <a:off x="3520440" y="2103120"/>
            <a:ext cx="2103120" cy="0"/>
          </a:xfrm>
          <a:prstGeom prst="line">
            <a:avLst/>
          </a:prstGeom>
          <a:noFill/>
          <a:ln w="12700">
            <a:solidFill>
              <a:srgbClr val="E2E8F0"/>
            </a:solidFill>
            <a:prstDash val="solid"/>
          </a:ln>
        </p:spPr>
      </p:sp>
      <p:sp>
        <p:nvSpPr>
          <p:cNvPr id="20" name="Shape 17"/>
          <p:cNvSpPr/>
          <p:nvPr/>
        </p:nvSpPr>
        <p:spPr>
          <a:xfrm>
            <a:off x="3520440" y="2331720"/>
            <a:ext cx="182880" cy="182880"/>
          </a:xfrm>
          <a:prstGeom prst="ellipse">
            <a:avLst/>
          </a:prstGeom>
          <a:solidFill>
            <a:srgbClr val="0891B2"/>
          </a:solidFill>
        </p:spPr>
      </p:sp>
      <p:sp>
        <p:nvSpPr>
          <p:cNvPr id="21" name="Text 18"/>
          <p:cNvSpPr/>
          <p:nvPr/>
        </p:nvSpPr>
        <p:spPr>
          <a:xfrm>
            <a:off x="3840480" y="2286000"/>
            <a:ext cx="1965960" cy="502920"/>
          </a:xfrm>
          <a:prstGeom prst="rect">
            <a:avLst/>
          </a:prstGeom>
          <a:noFill/>
        </p:spPr>
        <p:txBody>
          <a:bodyPr wrap="square" lIns="0" tIns="0" rIns="0" bIns="0" rtlCol="0" anchor="t"/>
          <a:lstStyle/>
          <a:p>
            <a:pPr marL="0" indent="0">
              <a:lnSpc>
                <a:spcPct val="120000"/>
              </a:lnSpc>
              <a:buNone/>
            </a:pPr>
            <a:r>
              <a:rPr lang="en-US" sz="1050" dirty="0">
                <a:solidFill>
                  <a:srgbClr val="1E2761"/>
                </a:solidFill>
                <a:latin typeface="Calibri" pitchFamily="34" charset="0"/>
                <a:ea typeface="Calibri" pitchFamily="34" charset="-122"/>
                <a:cs typeface="Calibri" pitchFamily="34" charset="-120"/>
              </a:rPr>
              <a:t>Verbeke et al. (2012) – Profit-driven</a:t>
            </a:r>
            <a:endParaRPr lang="en-US" sz="1050" dirty="0"/>
          </a:p>
        </p:txBody>
      </p:sp>
      <p:sp>
        <p:nvSpPr>
          <p:cNvPr id="22" name="Shape 19"/>
          <p:cNvSpPr/>
          <p:nvPr/>
        </p:nvSpPr>
        <p:spPr>
          <a:xfrm>
            <a:off x="3520440" y="3017520"/>
            <a:ext cx="182880" cy="182880"/>
          </a:xfrm>
          <a:prstGeom prst="ellipse">
            <a:avLst/>
          </a:prstGeom>
          <a:solidFill>
            <a:srgbClr val="0891B2"/>
          </a:solidFill>
        </p:spPr>
      </p:sp>
      <p:sp>
        <p:nvSpPr>
          <p:cNvPr id="23" name="Text 20"/>
          <p:cNvSpPr/>
          <p:nvPr/>
        </p:nvSpPr>
        <p:spPr>
          <a:xfrm>
            <a:off x="3840480" y="2971800"/>
            <a:ext cx="1965960" cy="502920"/>
          </a:xfrm>
          <a:prstGeom prst="rect">
            <a:avLst/>
          </a:prstGeom>
          <a:noFill/>
        </p:spPr>
        <p:txBody>
          <a:bodyPr wrap="square" lIns="0" tIns="0" rIns="0" bIns="0" rtlCol="0" anchor="t"/>
          <a:lstStyle/>
          <a:p>
            <a:pPr marL="0" indent="0">
              <a:lnSpc>
                <a:spcPct val="120000"/>
              </a:lnSpc>
              <a:buNone/>
            </a:pPr>
            <a:r>
              <a:rPr lang="en-US" sz="1050" dirty="0">
                <a:solidFill>
                  <a:srgbClr val="1E2761"/>
                </a:solidFill>
                <a:latin typeface="Calibri" pitchFamily="34" charset="0"/>
                <a:ea typeface="Calibri" pitchFamily="34" charset="-122"/>
                <a:cs typeface="Calibri" pitchFamily="34" charset="-120"/>
              </a:rPr>
              <a:t>Neslin et al. (2006) – Defection detection</a:t>
            </a:r>
            <a:endParaRPr lang="en-US" sz="1050" dirty="0"/>
          </a:p>
        </p:txBody>
      </p:sp>
      <p:sp>
        <p:nvSpPr>
          <p:cNvPr id="24" name="Shape 21"/>
          <p:cNvSpPr/>
          <p:nvPr/>
        </p:nvSpPr>
        <p:spPr>
          <a:xfrm>
            <a:off x="3520440" y="3703320"/>
            <a:ext cx="182880" cy="182880"/>
          </a:xfrm>
          <a:prstGeom prst="ellipse">
            <a:avLst/>
          </a:prstGeom>
          <a:solidFill>
            <a:srgbClr val="0891B2"/>
          </a:solidFill>
        </p:spPr>
      </p:sp>
      <p:sp>
        <p:nvSpPr>
          <p:cNvPr id="25" name="Text 22"/>
          <p:cNvSpPr/>
          <p:nvPr/>
        </p:nvSpPr>
        <p:spPr>
          <a:xfrm>
            <a:off x="3840480" y="3657600"/>
            <a:ext cx="1965960" cy="502920"/>
          </a:xfrm>
          <a:prstGeom prst="rect">
            <a:avLst/>
          </a:prstGeom>
          <a:noFill/>
        </p:spPr>
        <p:txBody>
          <a:bodyPr wrap="square" lIns="0" tIns="0" rIns="0" bIns="0" rtlCol="0" anchor="t"/>
          <a:lstStyle/>
          <a:p>
            <a:pPr marL="0" indent="0">
              <a:lnSpc>
                <a:spcPct val="120000"/>
              </a:lnSpc>
              <a:buNone/>
            </a:pPr>
            <a:r>
              <a:rPr lang="en-US" sz="1050" dirty="0">
                <a:solidFill>
                  <a:srgbClr val="1E2761"/>
                </a:solidFill>
                <a:latin typeface="Calibri" pitchFamily="34" charset="0"/>
                <a:ea typeface="Calibri" pitchFamily="34" charset="-122"/>
                <a:cs typeface="Calibri" pitchFamily="34" charset="-120"/>
              </a:rPr>
              <a:t>Burez &amp; Van den Poel (2009) – Class imbalance</a:t>
            </a:r>
            <a:endParaRPr lang="en-US" sz="1050" dirty="0"/>
          </a:p>
        </p:txBody>
      </p:sp>
      <p:sp>
        <p:nvSpPr>
          <p:cNvPr id="26" name="Shape 23"/>
          <p:cNvSpPr/>
          <p:nvPr/>
        </p:nvSpPr>
        <p:spPr>
          <a:xfrm>
            <a:off x="6217920" y="1097280"/>
            <a:ext cx="2606040" cy="3566160"/>
          </a:xfrm>
          <a:prstGeom prst="rect">
            <a:avLst/>
          </a:prstGeom>
          <a:solidFill>
            <a:srgbClr val="FFFFFF"/>
          </a:solidFill>
          <a:effectLst>
            <a:outerShdw blurRad="76200" dist="25400" dir="8100000" algn="bl" rotWithShape="0">
              <a:srgbClr val="000000">
                <a:alpha val="10000"/>
              </a:srgbClr>
            </a:outerShdw>
          </a:effectLst>
        </p:spPr>
      </p:sp>
      <p:sp>
        <p:nvSpPr>
          <p:cNvPr id="27" name="Shape 24"/>
          <p:cNvSpPr/>
          <p:nvPr/>
        </p:nvSpPr>
        <p:spPr>
          <a:xfrm>
            <a:off x="6217920" y="1097280"/>
            <a:ext cx="2606040" cy="54864"/>
          </a:xfrm>
          <a:prstGeom prst="rect">
            <a:avLst/>
          </a:prstGeom>
          <a:solidFill>
            <a:srgbClr val="0891B2"/>
          </a:solidFill>
        </p:spPr>
      </p:sp>
      <p:sp>
        <p:nvSpPr>
          <p:cNvPr id="28" name="Text 25"/>
          <p:cNvSpPr/>
          <p:nvPr/>
        </p:nvSpPr>
        <p:spPr>
          <a:xfrm>
            <a:off x="6400800" y="1325880"/>
            <a:ext cx="2240280" cy="640080"/>
          </a:xfrm>
          <a:prstGeom prst="rect">
            <a:avLst/>
          </a:prstGeom>
          <a:noFill/>
        </p:spPr>
        <p:txBody>
          <a:bodyPr wrap="square" lIns="0" tIns="0" rIns="0" bIns="0" rtlCol="0" anchor="ctr"/>
          <a:lstStyle/>
          <a:p>
            <a:pPr marL="0" indent="0">
              <a:lnSpc>
                <a:spcPct val="115000"/>
              </a:lnSpc>
              <a:buNone/>
            </a:pPr>
            <a:r>
              <a:rPr lang="en-US" sz="14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Advanced Techniques</a:t>
            </a:r>
            <a:endParaRPr lang="en-US" sz="1400" dirty="0"/>
          </a:p>
          <a:p>
            <a:pPr marL="0" indent="0">
              <a:lnSpc>
                <a:spcPct val="115000"/>
              </a:lnSpc>
              <a:buNone/>
            </a:pPr>
            <a:r>
              <a:rPr lang="en-US" sz="14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&amp; Applications</a:t>
            </a:r>
            <a:endParaRPr lang="en-US" sz="1400" dirty="0"/>
          </a:p>
        </p:txBody>
      </p:sp>
      <p:sp>
        <p:nvSpPr>
          <p:cNvPr id="29" name="Shape 26"/>
          <p:cNvSpPr/>
          <p:nvPr/>
        </p:nvSpPr>
        <p:spPr>
          <a:xfrm>
            <a:off x="6400800" y="2103120"/>
            <a:ext cx="2103120" cy="0"/>
          </a:xfrm>
          <a:prstGeom prst="line">
            <a:avLst/>
          </a:prstGeom>
          <a:noFill/>
          <a:ln w="12700">
            <a:solidFill>
              <a:srgbClr val="E2E8F0"/>
            </a:solidFill>
            <a:prstDash val="solid"/>
          </a:ln>
        </p:spPr>
      </p:sp>
      <p:sp>
        <p:nvSpPr>
          <p:cNvPr id="30" name="Shape 27"/>
          <p:cNvSpPr/>
          <p:nvPr/>
        </p:nvSpPr>
        <p:spPr>
          <a:xfrm>
            <a:off x="6400800" y="2331720"/>
            <a:ext cx="182880" cy="182880"/>
          </a:xfrm>
          <a:prstGeom prst="ellipse">
            <a:avLst/>
          </a:prstGeom>
          <a:solidFill>
            <a:srgbClr val="0891B2"/>
          </a:solidFill>
        </p:spPr>
      </p:sp>
      <p:sp>
        <p:nvSpPr>
          <p:cNvPr id="31" name="Text 28"/>
          <p:cNvSpPr/>
          <p:nvPr/>
        </p:nvSpPr>
        <p:spPr>
          <a:xfrm>
            <a:off x="6720840" y="2286000"/>
            <a:ext cx="1965960" cy="502920"/>
          </a:xfrm>
          <a:prstGeom prst="rect">
            <a:avLst/>
          </a:prstGeom>
          <a:noFill/>
        </p:spPr>
        <p:txBody>
          <a:bodyPr wrap="square" lIns="0" tIns="0" rIns="0" bIns="0" rtlCol="0" anchor="t"/>
          <a:lstStyle/>
          <a:p>
            <a:pPr marL="0" indent="0">
              <a:lnSpc>
                <a:spcPct val="120000"/>
              </a:lnSpc>
              <a:buNone/>
            </a:pPr>
            <a:r>
              <a:rPr lang="en-US" sz="1050" dirty="0">
                <a:solidFill>
                  <a:srgbClr val="1E2761"/>
                </a:solidFill>
                <a:latin typeface="Calibri" pitchFamily="34" charset="0"/>
                <a:ea typeface="Calibri" pitchFamily="34" charset="-122"/>
                <a:cs typeface="Calibri" pitchFamily="34" charset="-120"/>
              </a:rPr>
              <a:t>Lemmens &amp; Croux (2006) – Ensembles</a:t>
            </a:r>
            <a:endParaRPr lang="en-US" sz="1050" dirty="0"/>
          </a:p>
        </p:txBody>
      </p:sp>
      <p:sp>
        <p:nvSpPr>
          <p:cNvPr id="32" name="Shape 29"/>
          <p:cNvSpPr/>
          <p:nvPr/>
        </p:nvSpPr>
        <p:spPr>
          <a:xfrm>
            <a:off x="6400800" y="3017520"/>
            <a:ext cx="182880" cy="182880"/>
          </a:xfrm>
          <a:prstGeom prst="ellipse">
            <a:avLst/>
          </a:prstGeom>
          <a:solidFill>
            <a:srgbClr val="0891B2"/>
          </a:solidFill>
        </p:spPr>
      </p:sp>
      <p:sp>
        <p:nvSpPr>
          <p:cNvPr id="33" name="Text 30"/>
          <p:cNvSpPr/>
          <p:nvPr/>
        </p:nvSpPr>
        <p:spPr>
          <a:xfrm>
            <a:off x="6720840" y="2971800"/>
            <a:ext cx="1965960" cy="502920"/>
          </a:xfrm>
          <a:prstGeom prst="rect">
            <a:avLst/>
          </a:prstGeom>
          <a:noFill/>
        </p:spPr>
        <p:txBody>
          <a:bodyPr wrap="square" lIns="0" tIns="0" rIns="0" bIns="0" rtlCol="0" anchor="t"/>
          <a:lstStyle/>
          <a:p>
            <a:pPr marL="0" indent="0">
              <a:lnSpc>
                <a:spcPct val="120000"/>
              </a:lnSpc>
              <a:buNone/>
            </a:pPr>
            <a:r>
              <a:rPr lang="en-US" sz="1050" dirty="0">
                <a:solidFill>
                  <a:srgbClr val="1E2761"/>
                </a:solidFill>
                <a:latin typeface="Calibri" pitchFamily="34" charset="0"/>
                <a:ea typeface="Calibri" pitchFamily="34" charset="-122"/>
                <a:cs typeface="Calibri" pitchFamily="34" charset="-120"/>
              </a:rPr>
              <a:t>Mozer et al. (2000) – Neural networks</a:t>
            </a:r>
            <a:endParaRPr lang="en-US" sz="1050" dirty="0"/>
          </a:p>
        </p:txBody>
      </p:sp>
      <p:sp>
        <p:nvSpPr>
          <p:cNvPr id="34" name="Shape 31"/>
          <p:cNvSpPr/>
          <p:nvPr/>
        </p:nvSpPr>
        <p:spPr>
          <a:xfrm>
            <a:off x="6400800" y="3703320"/>
            <a:ext cx="182880" cy="182880"/>
          </a:xfrm>
          <a:prstGeom prst="ellipse">
            <a:avLst/>
          </a:prstGeom>
          <a:solidFill>
            <a:srgbClr val="0891B2"/>
          </a:solidFill>
        </p:spPr>
      </p:sp>
      <p:sp>
        <p:nvSpPr>
          <p:cNvPr id="35" name="Text 32"/>
          <p:cNvSpPr/>
          <p:nvPr/>
        </p:nvSpPr>
        <p:spPr>
          <a:xfrm>
            <a:off x="6720840" y="3657600"/>
            <a:ext cx="1965960" cy="502920"/>
          </a:xfrm>
          <a:prstGeom prst="rect">
            <a:avLst/>
          </a:prstGeom>
          <a:noFill/>
        </p:spPr>
        <p:txBody>
          <a:bodyPr wrap="square" lIns="0" tIns="0" rIns="0" bIns="0" rtlCol="0" anchor="t"/>
          <a:lstStyle/>
          <a:p>
            <a:pPr marL="0" indent="0">
              <a:lnSpc>
                <a:spcPct val="120000"/>
              </a:lnSpc>
              <a:buNone/>
            </a:pPr>
            <a:r>
              <a:rPr lang="en-US" sz="1050" dirty="0">
                <a:solidFill>
                  <a:srgbClr val="1E2761"/>
                </a:solidFill>
                <a:latin typeface="Calibri" pitchFamily="34" charset="0"/>
                <a:ea typeface="Calibri" pitchFamily="34" charset="-122"/>
                <a:cs typeface="Calibri" pitchFamily="34" charset="-120"/>
              </a:rPr>
              <a:t>Imani et al. (2025) – Systematic review</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sp>
      <p:sp>
        <p:nvSpPr>
          <p:cNvPr id="3" name="Text 1"/>
          <p:cNvSpPr/>
          <p:nvPr/>
        </p:nvSpPr>
        <p:spPr>
          <a:xfrm>
            <a:off x="548640" y="137160"/>
            <a:ext cx="7315200" cy="548640"/>
          </a:xfrm>
          <a:prstGeom prst="rect">
            <a:avLst/>
          </a:prstGeom>
          <a:solidFill>
            <a:srgbClr val="1E2761"/>
          </a:solidFill>
          <a:ln>
            <a:noFill/>
          </a:ln>
        </p:spPr>
        <p:txBody>
          <a:bodyPr wrap="square" lIns="0" tIns="0" rIns="0" bIns="0" rtlCol="0" anchor="ctr"/>
          <a:lstStyle/>
          <a:p>
            <a:pPr marL="0" indent="0">
              <a:buNone/>
            </a:pPr>
            <a:r>
              <a:rPr lang="en-US" sz="2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Methodological Foundations</a:t>
            </a:r>
            <a:endParaRPr lang="en-US" sz="2400" dirty="0"/>
          </a:p>
        </p:txBody>
      </p:sp>
      <p:sp>
        <p:nvSpPr>
          <p:cNvPr id="4" name="Shape 2"/>
          <p:cNvSpPr/>
          <p:nvPr/>
        </p:nvSpPr>
        <p:spPr>
          <a:xfrm>
            <a:off x="457200" y="1051560"/>
            <a:ext cx="3931920" cy="2286000"/>
          </a:xfrm>
          <a:prstGeom prst="rect">
            <a:avLst/>
          </a:prstGeom>
          <a:solidFill>
            <a:srgbClr val="FFFFFF"/>
          </a:solidFill>
          <a:effectLst>
            <a:outerShdw blurRad="76200" dist="25400" dir="8100000" algn="bl" rotWithShape="0">
              <a:srgbClr val="000000">
                <a:alpha val="10000"/>
              </a:srgbClr>
            </a:outerShdw>
          </a:effectLst>
        </p:spPr>
      </p:sp>
      <p:sp>
        <p:nvSpPr>
          <p:cNvPr id="5" name="Shape 3"/>
          <p:cNvSpPr/>
          <p:nvPr/>
        </p:nvSpPr>
        <p:spPr>
          <a:xfrm>
            <a:off x="457200" y="1051560"/>
            <a:ext cx="73152" cy="2286000"/>
          </a:xfrm>
          <a:prstGeom prst="rect">
            <a:avLst/>
          </a:prstGeom>
          <a:solidFill>
            <a:srgbClr val="0891B2"/>
          </a:solidFill>
          <a:ln>
            <a:noFill/>
          </a:ln>
        </p:spPr>
      </p:sp>
      <p:sp>
        <p:nvSpPr>
          <p:cNvPr id="6" name="Text 4"/>
          <p:cNvSpPr/>
          <p:nvPr/>
        </p:nvSpPr>
        <p:spPr>
          <a:xfrm>
            <a:off x="777240" y="1143000"/>
            <a:ext cx="3383280" cy="320040"/>
          </a:xfrm>
          <a:prstGeom prst="rect">
            <a:avLst/>
          </a:prstGeom>
          <a:noFill/>
        </p:spPr>
        <p:txBody>
          <a:bodyPr wrap="square" lIns="0" tIns="0" rIns="0" bIns="0" rtlCol="0" anchor="ctr"/>
          <a:lstStyle/>
          <a:p>
            <a:pPr marL="0" indent="0">
              <a:buNone/>
            </a:pPr>
            <a:r>
              <a:rPr lang="en-US" sz="1300" b="1" dirty="0">
                <a:solidFill>
                  <a:srgbClr val="0891B2"/>
                </a:solidFill>
                <a:latin typeface="Trebuchet MS" panose="020B0603020202020204" pitchFamily="34" charset="0"/>
                <a:ea typeface="Trebuchet MS" panose="020B0603020202020204" pitchFamily="34" charset="-122"/>
                <a:cs typeface="Trebuchet MS" panose="020B0603020202020204" pitchFamily="34" charset="-120"/>
              </a:rPr>
              <a:t>Shearer (2000)</a:t>
            </a:r>
            <a:endParaRPr lang="en-US" sz="1300" dirty="0"/>
          </a:p>
        </p:txBody>
      </p:sp>
      <p:sp>
        <p:nvSpPr>
          <p:cNvPr id="7" name="Text 5"/>
          <p:cNvSpPr/>
          <p:nvPr/>
        </p:nvSpPr>
        <p:spPr>
          <a:xfrm>
            <a:off x="777240" y="1463040"/>
            <a:ext cx="3383280" cy="274320"/>
          </a:xfrm>
          <a:prstGeom prst="rect">
            <a:avLst/>
          </a:prstGeom>
          <a:noFill/>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CRISP-DM Framework</a:t>
            </a:r>
            <a:endParaRPr lang="en-US" sz="1100" dirty="0"/>
          </a:p>
        </p:txBody>
      </p:sp>
      <p:sp>
        <p:nvSpPr>
          <p:cNvPr id="8" name="Text 6"/>
          <p:cNvSpPr/>
          <p:nvPr/>
        </p:nvSpPr>
        <p:spPr>
          <a:xfrm>
            <a:off x="777240" y="1828800"/>
            <a:ext cx="3383280" cy="1371600"/>
          </a:xfrm>
          <a:prstGeom prst="rect">
            <a:avLst/>
          </a:prstGeom>
          <a:noFill/>
        </p:spPr>
        <p:txBody>
          <a:bodyPr wrap="square" lIns="0" tIns="0" rIns="0" bIns="0" rtlCol="0" anchor="ctr"/>
          <a:lstStyle/>
          <a:p>
            <a:pPr marL="0" indent="0">
              <a:lnSpc>
                <a:spcPct val="135000"/>
              </a:lnSpc>
              <a:buNone/>
            </a:pPr>
            <a:r>
              <a:rPr lang="en-US" sz="1050" dirty="0">
                <a:solidFill>
                  <a:srgbClr val="1E2761"/>
                </a:solidFill>
                <a:latin typeface="Calibri" pitchFamily="34" charset="0"/>
                <a:ea typeface="Calibri" pitchFamily="34" charset="-122"/>
                <a:cs typeface="Calibri" pitchFamily="34" charset="-120"/>
              </a:rPr>
              <a:t>Provides the 6-phase iterative methodology: business understanding, data understanding, data preparation, modeling, evaluation, and deployment. Emphasizes aligning technical analysis with business objectives and the iterative nature of ML projects.</a:t>
            </a:r>
            <a:endParaRPr lang="en-US" sz="1050" dirty="0"/>
          </a:p>
        </p:txBody>
      </p:sp>
      <p:sp>
        <p:nvSpPr>
          <p:cNvPr id="9" name="Shape 7"/>
          <p:cNvSpPr/>
          <p:nvPr/>
        </p:nvSpPr>
        <p:spPr>
          <a:xfrm>
            <a:off x="4754880" y="1051560"/>
            <a:ext cx="3931920" cy="2286000"/>
          </a:xfrm>
          <a:prstGeom prst="rect">
            <a:avLst/>
          </a:prstGeom>
          <a:solidFill>
            <a:srgbClr val="FFFFFF"/>
          </a:solidFill>
          <a:effectLst>
            <a:outerShdw blurRad="76200" dist="25400" dir="8100000" algn="bl" rotWithShape="0">
              <a:srgbClr val="000000">
                <a:alpha val="10000"/>
              </a:srgbClr>
            </a:outerShdw>
          </a:effectLst>
        </p:spPr>
      </p:sp>
      <p:sp>
        <p:nvSpPr>
          <p:cNvPr id="10" name="Shape 8"/>
          <p:cNvSpPr/>
          <p:nvPr/>
        </p:nvSpPr>
        <p:spPr>
          <a:xfrm>
            <a:off x="4754880" y="1051560"/>
            <a:ext cx="73152" cy="2286000"/>
          </a:xfrm>
          <a:prstGeom prst="rect">
            <a:avLst/>
          </a:prstGeom>
          <a:solidFill>
            <a:srgbClr val="0891B2"/>
          </a:solidFill>
        </p:spPr>
      </p:sp>
      <p:sp>
        <p:nvSpPr>
          <p:cNvPr id="11" name="Text 9"/>
          <p:cNvSpPr/>
          <p:nvPr/>
        </p:nvSpPr>
        <p:spPr>
          <a:xfrm>
            <a:off x="5074920" y="1143000"/>
            <a:ext cx="3383280" cy="320040"/>
          </a:xfrm>
          <a:prstGeom prst="rect">
            <a:avLst/>
          </a:prstGeom>
          <a:noFill/>
        </p:spPr>
        <p:txBody>
          <a:bodyPr wrap="square" lIns="0" tIns="0" rIns="0" bIns="0" rtlCol="0" anchor="ctr"/>
          <a:lstStyle/>
          <a:p>
            <a:pPr marL="0" indent="0">
              <a:buNone/>
            </a:pPr>
            <a:r>
              <a:rPr lang="en-US" sz="13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Domingos (2012)</a:t>
            </a:r>
            <a:endParaRPr lang="en-US" sz="1300" dirty="0"/>
          </a:p>
        </p:txBody>
      </p:sp>
      <p:sp>
        <p:nvSpPr>
          <p:cNvPr id="12" name="Text 10"/>
          <p:cNvSpPr/>
          <p:nvPr/>
        </p:nvSpPr>
        <p:spPr>
          <a:xfrm>
            <a:off x="5074920" y="1463040"/>
            <a:ext cx="3383280" cy="274320"/>
          </a:xfrm>
          <a:prstGeom prst="rect">
            <a:avLst/>
          </a:prstGeom>
          <a:noFill/>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ML Principles &amp; Feature Engineering</a:t>
            </a:r>
            <a:endParaRPr lang="en-US" sz="1100" dirty="0"/>
          </a:p>
        </p:txBody>
      </p:sp>
      <p:sp>
        <p:nvSpPr>
          <p:cNvPr id="13" name="Text 11"/>
          <p:cNvSpPr/>
          <p:nvPr/>
        </p:nvSpPr>
        <p:spPr>
          <a:xfrm>
            <a:off x="5074920" y="1828800"/>
            <a:ext cx="3383280" cy="1371600"/>
          </a:xfrm>
          <a:prstGeom prst="rect">
            <a:avLst/>
          </a:prstGeom>
          <a:noFill/>
        </p:spPr>
        <p:txBody>
          <a:bodyPr wrap="square" lIns="0" tIns="0" rIns="0" bIns="0" rtlCol="0" anchor="ctr"/>
          <a:lstStyle/>
          <a:p>
            <a:pPr marL="0" indent="0">
              <a:lnSpc>
                <a:spcPct val="135000"/>
              </a:lnSpc>
              <a:buNone/>
            </a:pPr>
            <a:r>
              <a:rPr lang="en-US" sz="1050" dirty="0">
                <a:solidFill>
                  <a:srgbClr val="1E2761"/>
                </a:solidFill>
                <a:latin typeface="Calibri" pitchFamily="34" charset="0"/>
                <a:ea typeface="Calibri" pitchFamily="34" charset="-122"/>
                <a:cs typeface="Calibri" pitchFamily="34" charset="-120"/>
              </a:rPr>
              <a:t>Feature quality matters more than algorithm choice. Discusses bias-variance tradeoff, overfitting risks, and the "no free lunch" theorem — justifying multi-model evaluation rather than reliance on a single approach.</a:t>
            </a:r>
            <a:endParaRPr lang="en-US" sz="1050" dirty="0"/>
          </a:p>
        </p:txBody>
      </p:sp>
      <p:sp>
        <p:nvSpPr>
          <p:cNvPr id="14" name="Shape 12"/>
          <p:cNvSpPr/>
          <p:nvPr/>
        </p:nvSpPr>
        <p:spPr>
          <a:xfrm>
            <a:off x="457200" y="3566160"/>
            <a:ext cx="8229600" cy="1234440"/>
          </a:xfrm>
          <a:prstGeom prst="rect">
            <a:avLst/>
          </a:prstGeom>
          <a:solidFill>
            <a:srgbClr val="FFFFFF"/>
          </a:solidFill>
          <a:effectLst>
            <a:outerShdw blurRad="76200" dist="25400" dir="8100000" algn="bl" rotWithShape="0">
              <a:srgbClr val="000000">
                <a:alpha val="10000"/>
              </a:srgbClr>
            </a:outerShdw>
          </a:effectLst>
        </p:spPr>
      </p:sp>
      <p:sp>
        <p:nvSpPr>
          <p:cNvPr id="15" name="Shape 13"/>
          <p:cNvSpPr/>
          <p:nvPr/>
        </p:nvSpPr>
        <p:spPr>
          <a:xfrm>
            <a:off x="457200" y="3566160"/>
            <a:ext cx="73152" cy="1234440"/>
          </a:xfrm>
          <a:prstGeom prst="rect">
            <a:avLst/>
          </a:prstGeom>
          <a:solidFill>
            <a:srgbClr val="0891B2"/>
          </a:solidFill>
          <a:ln>
            <a:noFill/>
          </a:ln>
        </p:spPr>
      </p:sp>
      <p:sp>
        <p:nvSpPr>
          <p:cNvPr id="16" name="Text 14"/>
          <p:cNvSpPr/>
          <p:nvPr/>
        </p:nvSpPr>
        <p:spPr>
          <a:xfrm>
            <a:off x="777240" y="3630168"/>
            <a:ext cx="2743200" cy="320040"/>
          </a:xfrm>
          <a:prstGeom prst="rect">
            <a:avLst/>
          </a:prstGeom>
          <a:noFill/>
        </p:spPr>
        <p:txBody>
          <a:bodyPr wrap="square" lIns="0" tIns="0" rIns="0" bIns="0" rtlCol="0" anchor="ctr"/>
          <a:lstStyle/>
          <a:p>
            <a:pPr marL="0" indent="0">
              <a:buNone/>
            </a:pPr>
            <a:r>
              <a:rPr lang="en-US" sz="1300" b="1" dirty="0">
                <a:solidFill>
                  <a:srgbClr val="0891B2"/>
                </a:solidFill>
                <a:latin typeface="Trebuchet MS" panose="020B0603020202020204" pitchFamily="34" charset="0"/>
                <a:ea typeface="Trebuchet MS" panose="020B0603020202020204" pitchFamily="34" charset="-122"/>
                <a:cs typeface="Trebuchet MS" panose="020B0603020202020204" pitchFamily="34" charset="-120"/>
              </a:rPr>
              <a:t>Sculley et al. (2015)</a:t>
            </a:r>
            <a:endParaRPr lang="en-US" sz="1300" dirty="0"/>
          </a:p>
        </p:txBody>
      </p:sp>
      <p:sp>
        <p:nvSpPr>
          <p:cNvPr id="17" name="Text 15"/>
          <p:cNvSpPr/>
          <p:nvPr/>
        </p:nvSpPr>
        <p:spPr>
          <a:xfrm>
            <a:off x="3200400" y="3630168"/>
            <a:ext cx="3200400" cy="320040"/>
          </a:xfrm>
          <a:prstGeom prst="rect">
            <a:avLst/>
          </a:prstGeom>
          <a:noFill/>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Hidden Technical Debt in ML Systems</a:t>
            </a:r>
            <a:endParaRPr lang="en-US" sz="1100" dirty="0"/>
          </a:p>
        </p:txBody>
      </p:sp>
      <p:sp>
        <p:nvSpPr>
          <p:cNvPr id="18" name="Text 16"/>
          <p:cNvSpPr/>
          <p:nvPr/>
        </p:nvSpPr>
        <p:spPr>
          <a:xfrm>
            <a:off x="777240" y="3977640"/>
            <a:ext cx="7680960" cy="731520"/>
          </a:xfrm>
          <a:prstGeom prst="rect">
            <a:avLst/>
          </a:prstGeom>
          <a:solidFill>
            <a:srgbClr val="1E2761"/>
          </a:solidFill>
          <a:ln>
            <a:noFill/>
          </a:ln>
        </p:spPr>
        <p:txBody>
          <a:bodyPr wrap="square" lIns="0" tIns="0" rIns="0" bIns="0" rtlCol="0" anchor="ctr"/>
          <a:lstStyle/>
          <a:p>
            <a:pPr marL="0" indent="0">
              <a:lnSpc>
                <a:spcPct val="135000"/>
              </a:lnSpc>
              <a:buNone/>
            </a:pPr>
            <a:r>
              <a:rPr lang="en-US" sz="1050" dirty="0">
                <a:solidFill>
                  <a:srgbClr val="FFFFFF"/>
                </a:solidFill>
                <a:latin typeface="Calibri" pitchFamily="34" charset="0"/>
                <a:ea typeface="Calibri" pitchFamily="34" charset="-122"/>
                <a:cs typeface="Calibri" pitchFamily="34" charset="-120"/>
              </a:rPr>
              <a:t>Highlights operational challenges: poorly documented pipelines, brittle feature dependencies, data drift, and lack of monitoring. Emphasizes designing robust, maintainable pipelines with automation, version control, and continuous evaluation.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sp>
      <p:sp>
        <p:nvSpPr>
          <p:cNvPr id="3" name="Text 1"/>
          <p:cNvSpPr/>
          <p:nvPr/>
        </p:nvSpPr>
        <p:spPr>
          <a:xfrm>
            <a:off x="548640" y="137160"/>
            <a:ext cx="7315200" cy="548640"/>
          </a:xfrm>
          <a:prstGeom prst="rect">
            <a:avLst/>
          </a:prstGeom>
          <a:solidFill>
            <a:srgbClr val="1E2761"/>
          </a:solidFill>
          <a:ln>
            <a:noFill/>
          </a:ln>
        </p:spPr>
        <p:txBody>
          <a:bodyPr wrap="square" lIns="0" tIns="0" rIns="0" bIns="0" rtlCol="0" anchor="ctr"/>
          <a:lstStyle/>
          <a:p>
            <a:pPr marL="0" indent="0">
              <a:buNone/>
            </a:pPr>
            <a:r>
              <a:rPr lang="en-US" sz="2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Churn Prediction &amp; Profitability</a:t>
            </a:r>
            <a:endParaRPr lang="en-US" sz="2400" dirty="0"/>
          </a:p>
        </p:txBody>
      </p:sp>
      <p:sp>
        <p:nvSpPr>
          <p:cNvPr id="4" name="Shape 2"/>
          <p:cNvSpPr/>
          <p:nvPr/>
        </p:nvSpPr>
        <p:spPr>
          <a:xfrm>
            <a:off x="457200" y="1051560"/>
            <a:ext cx="8229600" cy="1188720"/>
          </a:xfrm>
          <a:prstGeom prst="rect">
            <a:avLst/>
          </a:prstGeom>
          <a:solidFill>
            <a:srgbClr val="FFFFFF"/>
          </a:solidFill>
          <a:effectLst>
            <a:outerShdw blurRad="76200" dist="25400" dir="8100000" algn="bl" rotWithShape="0">
              <a:srgbClr val="000000">
                <a:alpha val="10000"/>
              </a:srgbClr>
            </a:outerShdw>
          </a:effectLst>
        </p:spPr>
      </p:sp>
      <p:sp>
        <p:nvSpPr>
          <p:cNvPr id="5" name="Shape 3"/>
          <p:cNvSpPr/>
          <p:nvPr/>
        </p:nvSpPr>
        <p:spPr>
          <a:xfrm>
            <a:off x="457200" y="1051560"/>
            <a:ext cx="73152" cy="1188720"/>
          </a:xfrm>
          <a:prstGeom prst="rect">
            <a:avLst/>
          </a:prstGeom>
          <a:solidFill>
            <a:srgbClr val="0891B2"/>
          </a:solidFill>
          <a:ln>
            <a:noFill/>
          </a:ln>
        </p:spPr>
      </p:sp>
      <p:sp>
        <p:nvSpPr>
          <p:cNvPr id="6" name="Text 4"/>
          <p:cNvSpPr/>
          <p:nvPr/>
        </p:nvSpPr>
        <p:spPr>
          <a:xfrm>
            <a:off x="777240" y="1115568"/>
            <a:ext cx="7315200" cy="320040"/>
          </a:xfrm>
          <a:prstGeom prst="rect">
            <a:avLst/>
          </a:prstGeom>
          <a:noFill/>
        </p:spPr>
        <p:txBody>
          <a:bodyPr wrap="square" lIns="0" tIns="0" rIns="0" bIns="0" rtlCol="0" anchor="ctr"/>
          <a:lstStyle/>
          <a:p>
            <a:pPr marL="0" indent="0">
              <a:buNone/>
            </a:pPr>
            <a:r>
              <a:rPr lang="en-US" sz="13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Verbeke et al. (2012) — Profit-Driven Modeling</a:t>
            </a:r>
            <a:endParaRPr lang="en-US" sz="1300" dirty="0"/>
          </a:p>
        </p:txBody>
      </p:sp>
      <p:sp>
        <p:nvSpPr>
          <p:cNvPr id="7" name="Text 5"/>
          <p:cNvSpPr/>
          <p:nvPr/>
        </p:nvSpPr>
        <p:spPr>
          <a:xfrm>
            <a:off x="777240" y="1463040"/>
            <a:ext cx="7680960" cy="685800"/>
          </a:xfrm>
          <a:prstGeom prst="rect">
            <a:avLst/>
          </a:prstGeom>
          <a:noFill/>
        </p:spPr>
        <p:txBody>
          <a:bodyPr wrap="square" lIns="0" tIns="0" rIns="0" bIns="0" rtlCol="0" anchor="ctr"/>
          <a:lstStyle/>
          <a:p>
            <a:pPr marL="0" indent="0">
              <a:lnSpc>
                <a:spcPct val="135000"/>
              </a:lnSpc>
              <a:buNone/>
            </a:pPr>
            <a:r>
              <a:rPr lang="en-US" sz="1050" dirty="0">
                <a:solidFill>
                  <a:srgbClr val="1E2761"/>
                </a:solidFill>
                <a:latin typeface="Calibri" pitchFamily="34" charset="0"/>
                <a:ea typeface="Calibri" pitchFamily="34" charset="-122"/>
                <a:cs typeface="Calibri" pitchFamily="34" charset="-120"/>
              </a:rPr>
              <a:t>Traditional metrics (accuracy, AUC) are insufficient — they ignore asymmetric costs of churn misclassification. Introduces profit-driven evaluation where churn prediction is assessed by its ability to maximize expected profit through targeted retention campaigns. Models with similar accuracy can produce very different business outcomes.</a:t>
            </a:r>
            <a:endParaRPr lang="en-US" sz="1050" dirty="0"/>
          </a:p>
        </p:txBody>
      </p:sp>
      <p:sp>
        <p:nvSpPr>
          <p:cNvPr id="8" name="Shape 6"/>
          <p:cNvSpPr/>
          <p:nvPr/>
        </p:nvSpPr>
        <p:spPr>
          <a:xfrm>
            <a:off x="457200" y="2468880"/>
            <a:ext cx="8229600" cy="1188720"/>
          </a:xfrm>
          <a:prstGeom prst="rect">
            <a:avLst/>
          </a:prstGeom>
          <a:solidFill>
            <a:srgbClr val="FFFFFF"/>
          </a:solidFill>
          <a:effectLst>
            <a:outerShdw blurRad="76200" dist="25400" dir="8100000" algn="bl" rotWithShape="0">
              <a:srgbClr val="000000">
                <a:alpha val="10000"/>
              </a:srgbClr>
            </a:outerShdw>
          </a:effectLst>
        </p:spPr>
      </p:sp>
      <p:sp>
        <p:nvSpPr>
          <p:cNvPr id="9" name="Shape 7"/>
          <p:cNvSpPr/>
          <p:nvPr/>
        </p:nvSpPr>
        <p:spPr>
          <a:xfrm>
            <a:off x="457200" y="2468880"/>
            <a:ext cx="73152" cy="1188720"/>
          </a:xfrm>
          <a:prstGeom prst="rect">
            <a:avLst/>
          </a:prstGeom>
          <a:solidFill>
            <a:srgbClr val="0891B2"/>
          </a:solidFill>
          <a:ln>
            <a:noFill/>
          </a:ln>
        </p:spPr>
      </p:sp>
      <p:sp>
        <p:nvSpPr>
          <p:cNvPr id="10" name="Text 8"/>
          <p:cNvSpPr/>
          <p:nvPr/>
        </p:nvSpPr>
        <p:spPr>
          <a:xfrm>
            <a:off x="777240" y="2532888"/>
            <a:ext cx="7315200" cy="320040"/>
          </a:xfrm>
          <a:prstGeom prst="rect">
            <a:avLst/>
          </a:prstGeom>
          <a:noFill/>
        </p:spPr>
        <p:txBody>
          <a:bodyPr wrap="square" lIns="0" tIns="0" rIns="0" bIns="0" rtlCol="0" anchor="ctr"/>
          <a:lstStyle/>
          <a:p>
            <a:pPr marL="0" indent="0">
              <a:buNone/>
            </a:pPr>
            <a:r>
              <a:rPr lang="en-US" sz="1300" b="1" dirty="0">
                <a:solidFill>
                  <a:srgbClr val="0891B2"/>
                </a:solidFill>
                <a:latin typeface="Trebuchet MS" panose="020B0603020202020204" pitchFamily="34" charset="0"/>
                <a:ea typeface="Trebuchet MS" panose="020B0603020202020204" pitchFamily="34" charset="-122"/>
                <a:cs typeface="Trebuchet MS" panose="020B0603020202020204" pitchFamily="34" charset="-120"/>
              </a:rPr>
              <a:t>Neslin et al. (2006) — Defection Detection</a:t>
            </a:r>
            <a:endParaRPr lang="en-US" sz="1300" dirty="0"/>
          </a:p>
        </p:txBody>
      </p:sp>
      <p:sp>
        <p:nvSpPr>
          <p:cNvPr id="11" name="Text 9"/>
          <p:cNvSpPr/>
          <p:nvPr/>
        </p:nvSpPr>
        <p:spPr>
          <a:xfrm>
            <a:off x="777240" y="2880360"/>
            <a:ext cx="7680960" cy="685800"/>
          </a:xfrm>
          <a:prstGeom prst="rect">
            <a:avLst/>
          </a:prstGeom>
          <a:noFill/>
        </p:spPr>
        <p:txBody>
          <a:bodyPr wrap="square" lIns="0" tIns="0" rIns="0" bIns="0" rtlCol="0" anchor="ctr"/>
          <a:lstStyle/>
          <a:p>
            <a:pPr marL="0" indent="0">
              <a:lnSpc>
                <a:spcPct val="135000"/>
              </a:lnSpc>
              <a:buNone/>
            </a:pPr>
            <a:r>
              <a:rPr lang="en-US" sz="1050" dirty="0">
                <a:solidFill>
                  <a:srgbClr val="1E2761"/>
                </a:solidFill>
                <a:latin typeface="Calibri" pitchFamily="34" charset="0"/>
                <a:ea typeface="Calibri" pitchFamily="34" charset="-122"/>
                <a:cs typeface="Calibri" pitchFamily="34" charset="-120"/>
              </a:rPr>
              <a:t>Evaluates churn models by ranking ability rather than raw accuracy. Ranking customers by defection risk is more aligned with how managers deploy retention resources. Even modest improvements in predictive ranking can yield substantial financial gains at scale. Highlights challenges of class imbalance and noisy behavioral signals.</a:t>
            </a:r>
            <a:endParaRPr lang="en-US" sz="1050" dirty="0"/>
          </a:p>
        </p:txBody>
      </p:sp>
      <p:sp>
        <p:nvSpPr>
          <p:cNvPr id="12" name="Shape 10"/>
          <p:cNvSpPr/>
          <p:nvPr/>
        </p:nvSpPr>
        <p:spPr>
          <a:xfrm>
            <a:off x="457200" y="3886200"/>
            <a:ext cx="8229600" cy="1005840"/>
          </a:xfrm>
          <a:prstGeom prst="rect">
            <a:avLst/>
          </a:prstGeom>
          <a:solidFill>
            <a:srgbClr val="1E2761"/>
          </a:solidFill>
          <a:ln>
            <a:noFill/>
          </a:ln>
          <a:effectLst>
            <a:outerShdw blurRad="76200" dist="25400" dir="8100000" algn="bl" rotWithShape="0">
              <a:srgbClr val="000000">
                <a:alpha val="10000"/>
              </a:srgbClr>
            </a:outerShdw>
          </a:effectLst>
        </p:spPr>
      </p:sp>
      <p:sp>
        <p:nvSpPr>
          <p:cNvPr id="13" name="Shape 11"/>
          <p:cNvSpPr/>
          <p:nvPr/>
        </p:nvSpPr>
        <p:spPr>
          <a:xfrm>
            <a:off x="457200" y="3886200"/>
            <a:ext cx="73152" cy="1005840"/>
          </a:xfrm>
          <a:prstGeom prst="rect">
            <a:avLst/>
          </a:prstGeom>
          <a:solidFill>
            <a:srgbClr val="0891B2"/>
          </a:solidFill>
          <a:ln>
            <a:noFill/>
          </a:ln>
        </p:spPr>
      </p:sp>
      <p:sp>
        <p:nvSpPr>
          <p:cNvPr id="14" name="Text 12"/>
          <p:cNvSpPr/>
          <p:nvPr/>
        </p:nvSpPr>
        <p:spPr>
          <a:xfrm>
            <a:off x="777240" y="3950208"/>
            <a:ext cx="7315200" cy="320040"/>
          </a:xfrm>
          <a:prstGeom prst="rect">
            <a:avLst/>
          </a:prstGeom>
          <a:solidFill>
            <a:srgbClr val="1E2761"/>
          </a:solidFill>
          <a:ln>
            <a:noFill/>
          </a:ln>
        </p:spPr>
        <p:txBody>
          <a:bodyPr wrap="square" lIns="0" tIns="0" rIns="0" bIns="0" rtlCol="0" anchor="ctr"/>
          <a:lstStyle/>
          <a:p>
            <a:pPr marL="0" indent="0">
              <a:buNone/>
            </a:pPr>
            <a:r>
              <a:rPr lang="en-US" sz="13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Burez &amp; Van den Poel (2009) — Class Imbalance</a:t>
            </a:r>
            <a:endParaRPr lang="en-US" sz="1300" dirty="0"/>
          </a:p>
        </p:txBody>
      </p:sp>
      <p:sp>
        <p:nvSpPr>
          <p:cNvPr id="15" name="Text 13"/>
          <p:cNvSpPr/>
          <p:nvPr/>
        </p:nvSpPr>
        <p:spPr>
          <a:xfrm>
            <a:off x="777240" y="4297680"/>
            <a:ext cx="7680960" cy="502920"/>
          </a:xfrm>
          <a:prstGeom prst="rect">
            <a:avLst/>
          </a:prstGeom>
          <a:solidFill>
            <a:srgbClr val="1E2761"/>
          </a:solidFill>
          <a:ln>
            <a:noFill/>
          </a:ln>
        </p:spPr>
        <p:txBody>
          <a:bodyPr wrap="square" lIns="0" tIns="0" rIns="0" bIns="0" rtlCol="0" anchor="ctr"/>
          <a:lstStyle/>
          <a:p>
            <a:pPr marL="0" indent="0">
              <a:lnSpc>
                <a:spcPct val="135000"/>
              </a:lnSpc>
              <a:buNone/>
            </a:pPr>
            <a:r>
              <a:rPr lang="en-US" sz="1050" dirty="0">
                <a:solidFill>
                  <a:srgbClr val="FFFFFF"/>
                </a:solidFill>
                <a:latin typeface="Calibri" pitchFamily="34" charset="0"/>
                <a:ea typeface="Calibri" pitchFamily="34" charset="-122"/>
                <a:cs typeface="Calibri" pitchFamily="34" charset="-120"/>
              </a:rPr>
              <a:t>Systematically evaluates resampling, cost-sensitive learning, and ensemble methods for imbalanced churn datasets. Proper handling of class imbalance significantly improves identification of high-risk customers. Supports use of recall, precision, and profit-based evaluation metrics.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sp>
      <p:sp>
        <p:nvSpPr>
          <p:cNvPr id="3" name="Text 1"/>
          <p:cNvSpPr/>
          <p:nvPr/>
        </p:nvSpPr>
        <p:spPr>
          <a:xfrm>
            <a:off x="548640" y="137160"/>
            <a:ext cx="7315200" cy="548640"/>
          </a:xfrm>
          <a:prstGeom prst="rect">
            <a:avLst/>
          </a:prstGeom>
          <a:solidFill>
            <a:srgbClr val="1E2761"/>
          </a:solidFill>
          <a:ln>
            <a:noFill/>
          </a:ln>
        </p:spPr>
        <p:txBody>
          <a:bodyPr wrap="square" lIns="0" tIns="0" rIns="0" bIns="0" rtlCol="0" anchor="ctr"/>
          <a:lstStyle/>
          <a:p>
            <a:pPr marL="0" indent="0">
              <a:buNone/>
            </a:pPr>
            <a:r>
              <a:rPr lang="en-US" sz="2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Advanced Techniques &amp; Applications</a:t>
            </a:r>
            <a:endParaRPr lang="en-US" sz="2400" dirty="0"/>
          </a:p>
        </p:txBody>
      </p:sp>
      <p:sp>
        <p:nvSpPr>
          <p:cNvPr id="4" name="Shape 2"/>
          <p:cNvSpPr/>
          <p:nvPr/>
        </p:nvSpPr>
        <p:spPr>
          <a:xfrm>
            <a:off x="457200" y="1051560"/>
            <a:ext cx="3931920" cy="1783080"/>
          </a:xfrm>
          <a:prstGeom prst="rect">
            <a:avLst/>
          </a:prstGeom>
          <a:solidFill>
            <a:srgbClr val="FFFFFF"/>
          </a:solidFill>
          <a:effectLst>
            <a:outerShdw blurRad="76200" dist="25400" dir="8100000" algn="bl" rotWithShape="0">
              <a:srgbClr val="000000">
                <a:alpha val="10000"/>
              </a:srgbClr>
            </a:outerShdw>
          </a:effectLst>
        </p:spPr>
      </p:sp>
      <p:sp>
        <p:nvSpPr>
          <p:cNvPr id="5" name="Shape 3"/>
          <p:cNvSpPr/>
          <p:nvPr/>
        </p:nvSpPr>
        <p:spPr>
          <a:xfrm>
            <a:off x="457200" y="1051560"/>
            <a:ext cx="3931920" cy="54864"/>
          </a:xfrm>
          <a:prstGeom prst="rect">
            <a:avLst/>
          </a:prstGeom>
          <a:solidFill>
            <a:srgbClr val="0891B2"/>
          </a:solidFill>
        </p:spPr>
      </p:sp>
      <p:sp>
        <p:nvSpPr>
          <p:cNvPr id="6" name="Text 4"/>
          <p:cNvSpPr/>
          <p:nvPr/>
        </p:nvSpPr>
        <p:spPr>
          <a:xfrm>
            <a:off x="640080" y="1234440"/>
            <a:ext cx="3566160" cy="274320"/>
          </a:xfrm>
          <a:prstGeom prst="rect">
            <a:avLst/>
          </a:prstGeom>
          <a:noFill/>
        </p:spPr>
        <p:txBody>
          <a:bodyPr wrap="square" lIns="0" tIns="0" rIns="0" bIns="0" rtlCol="0" anchor="ctr"/>
          <a:lstStyle/>
          <a:p>
            <a:pPr marL="0" indent="0">
              <a:buNone/>
            </a:pPr>
            <a:r>
              <a:rPr lang="en-US" sz="1300" b="1" dirty="0">
                <a:solidFill>
                  <a:srgbClr val="0891B2"/>
                </a:solidFill>
                <a:latin typeface="Trebuchet MS" panose="020B0603020202020204" pitchFamily="34" charset="0"/>
                <a:ea typeface="Trebuchet MS" panose="020B0603020202020204" pitchFamily="34" charset="-122"/>
                <a:cs typeface="Trebuchet MS" panose="020B0603020202020204" pitchFamily="34" charset="-120"/>
              </a:rPr>
              <a:t>Lemmens &amp; Croux (2006)</a:t>
            </a:r>
            <a:endParaRPr lang="en-US" sz="1300" dirty="0"/>
          </a:p>
        </p:txBody>
      </p:sp>
      <p:sp>
        <p:nvSpPr>
          <p:cNvPr id="7" name="Text 5"/>
          <p:cNvSpPr/>
          <p:nvPr/>
        </p:nvSpPr>
        <p:spPr>
          <a:xfrm>
            <a:off x="640080" y="1508760"/>
            <a:ext cx="3566160" cy="228600"/>
          </a:xfrm>
          <a:prstGeom prst="rect">
            <a:avLst/>
          </a:prstGeom>
          <a:noFill/>
        </p:spPr>
        <p:txBody>
          <a:bodyPr wrap="square" lIns="0" tIns="0" rIns="0" bIns="0"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Bagging &amp; Boosting Classification Trees</a:t>
            </a:r>
            <a:endParaRPr lang="en-US" sz="1000" dirty="0"/>
          </a:p>
        </p:txBody>
      </p:sp>
      <p:sp>
        <p:nvSpPr>
          <p:cNvPr id="8" name="Text 6"/>
          <p:cNvSpPr/>
          <p:nvPr/>
        </p:nvSpPr>
        <p:spPr>
          <a:xfrm>
            <a:off x="640080" y="1828800"/>
            <a:ext cx="3566160" cy="868680"/>
          </a:xfrm>
          <a:prstGeom prst="rect">
            <a:avLst/>
          </a:prstGeom>
          <a:noFill/>
        </p:spPr>
        <p:txBody>
          <a:bodyPr wrap="square" lIns="0" tIns="0" rIns="0" bIns="0" rtlCol="0" anchor="ctr"/>
          <a:lstStyle/>
          <a:p>
            <a:pPr marL="0" indent="0">
              <a:lnSpc>
                <a:spcPct val="135000"/>
              </a:lnSpc>
              <a:buNone/>
            </a:pPr>
            <a:r>
              <a:rPr lang="en-US" sz="1050" dirty="0">
                <a:solidFill>
                  <a:srgbClr val="1E2761"/>
                </a:solidFill>
                <a:latin typeface="Calibri" pitchFamily="34" charset="0"/>
                <a:ea typeface="Calibri" pitchFamily="34" charset="-122"/>
                <a:cs typeface="Calibri" pitchFamily="34" charset="-120"/>
              </a:rPr>
              <a:t>Ensemble methods significantly outperform single classifiers. Emphasize feature quality for tree-based models and ranking-based evaluation aligned with retention strategies.</a:t>
            </a:r>
            <a:endParaRPr lang="en-US" sz="1050" dirty="0"/>
          </a:p>
        </p:txBody>
      </p:sp>
      <p:sp>
        <p:nvSpPr>
          <p:cNvPr id="9" name="Shape 7"/>
          <p:cNvSpPr/>
          <p:nvPr/>
        </p:nvSpPr>
        <p:spPr>
          <a:xfrm>
            <a:off x="457200" y="3063240"/>
            <a:ext cx="3931920" cy="1783080"/>
          </a:xfrm>
          <a:prstGeom prst="rect">
            <a:avLst/>
          </a:prstGeom>
          <a:solidFill>
            <a:srgbClr val="FFFFFF"/>
          </a:solidFill>
          <a:effectLst>
            <a:outerShdw blurRad="76200" dist="25400" dir="8100000" algn="bl" rotWithShape="0">
              <a:srgbClr val="000000">
                <a:alpha val="10000"/>
              </a:srgbClr>
            </a:outerShdw>
          </a:effectLst>
        </p:spPr>
      </p:sp>
      <p:sp>
        <p:nvSpPr>
          <p:cNvPr id="10" name="Shape 8"/>
          <p:cNvSpPr/>
          <p:nvPr/>
        </p:nvSpPr>
        <p:spPr>
          <a:xfrm>
            <a:off x="457200" y="3063240"/>
            <a:ext cx="3931920" cy="54864"/>
          </a:xfrm>
          <a:prstGeom prst="rect">
            <a:avLst/>
          </a:prstGeom>
          <a:solidFill>
            <a:srgbClr val="0891B2"/>
          </a:solidFill>
        </p:spPr>
      </p:sp>
      <p:sp>
        <p:nvSpPr>
          <p:cNvPr id="11" name="Text 9"/>
          <p:cNvSpPr/>
          <p:nvPr/>
        </p:nvSpPr>
        <p:spPr>
          <a:xfrm>
            <a:off x="640080" y="3246120"/>
            <a:ext cx="3566160" cy="274320"/>
          </a:xfrm>
          <a:prstGeom prst="rect">
            <a:avLst/>
          </a:prstGeom>
          <a:noFill/>
        </p:spPr>
        <p:txBody>
          <a:bodyPr wrap="square" lIns="0" tIns="0" rIns="0" bIns="0" rtlCol="0" anchor="ctr"/>
          <a:lstStyle/>
          <a:p>
            <a:pPr marL="0" indent="0">
              <a:buNone/>
            </a:pPr>
            <a:r>
              <a:rPr lang="en-US" sz="13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Mozer et al. (2000)</a:t>
            </a:r>
            <a:endParaRPr lang="en-US" sz="1300" dirty="0"/>
          </a:p>
        </p:txBody>
      </p:sp>
      <p:sp>
        <p:nvSpPr>
          <p:cNvPr id="12" name="Text 10"/>
          <p:cNvSpPr/>
          <p:nvPr/>
        </p:nvSpPr>
        <p:spPr>
          <a:xfrm>
            <a:off x="640080" y="3520440"/>
            <a:ext cx="3566160" cy="228600"/>
          </a:xfrm>
          <a:prstGeom prst="rect">
            <a:avLst/>
          </a:prstGeom>
          <a:noFill/>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Neural Networks for Telecom Churn</a:t>
            </a:r>
            <a:endParaRPr lang="en-US" sz="1000" dirty="0"/>
          </a:p>
        </p:txBody>
      </p:sp>
      <p:sp>
        <p:nvSpPr>
          <p:cNvPr id="13" name="Text 11"/>
          <p:cNvSpPr/>
          <p:nvPr/>
        </p:nvSpPr>
        <p:spPr>
          <a:xfrm>
            <a:off x="640080" y="3840480"/>
            <a:ext cx="3566160" cy="868680"/>
          </a:xfrm>
          <a:prstGeom prst="rect">
            <a:avLst/>
          </a:prstGeom>
          <a:noFill/>
        </p:spPr>
        <p:txBody>
          <a:bodyPr wrap="square" lIns="0" tIns="0" rIns="0" bIns="0" rtlCol="0" anchor="ctr"/>
          <a:lstStyle/>
          <a:p>
            <a:pPr marL="0" indent="0">
              <a:lnSpc>
                <a:spcPct val="135000"/>
              </a:lnSpc>
              <a:buNone/>
            </a:pPr>
            <a:r>
              <a:rPr lang="en-US" sz="1050" dirty="0">
                <a:solidFill>
                  <a:srgbClr val="1E2761"/>
                </a:solidFill>
                <a:latin typeface="Calibri" pitchFamily="34" charset="0"/>
                <a:ea typeface="Calibri" pitchFamily="34" charset="-122"/>
                <a:cs typeface="Calibri" pitchFamily="34" charset="-120"/>
              </a:rPr>
              <a:t>Pioneering use of neural networks for churn. Demonstrates that raw data must be aggregated into meaningful behavioral features. Discusses CRM integration for deployment.</a:t>
            </a:r>
            <a:endParaRPr lang="en-US" sz="1050" dirty="0"/>
          </a:p>
        </p:txBody>
      </p:sp>
      <p:sp>
        <p:nvSpPr>
          <p:cNvPr id="14" name="Shape 12"/>
          <p:cNvSpPr/>
          <p:nvPr/>
        </p:nvSpPr>
        <p:spPr>
          <a:xfrm>
            <a:off x="4754880" y="1051560"/>
            <a:ext cx="3931920" cy="1783080"/>
          </a:xfrm>
          <a:prstGeom prst="rect">
            <a:avLst/>
          </a:prstGeom>
          <a:solidFill>
            <a:srgbClr val="FFFFFF"/>
          </a:solidFill>
          <a:effectLst>
            <a:outerShdw blurRad="76200" dist="25400" dir="8100000" algn="bl" rotWithShape="0">
              <a:srgbClr val="000000">
                <a:alpha val="10000"/>
              </a:srgbClr>
            </a:outerShdw>
          </a:effectLst>
        </p:spPr>
      </p:sp>
      <p:sp>
        <p:nvSpPr>
          <p:cNvPr id="15" name="Shape 13"/>
          <p:cNvSpPr/>
          <p:nvPr/>
        </p:nvSpPr>
        <p:spPr>
          <a:xfrm>
            <a:off x="4754880" y="1051560"/>
            <a:ext cx="3931920" cy="54864"/>
          </a:xfrm>
          <a:prstGeom prst="rect">
            <a:avLst/>
          </a:prstGeom>
          <a:solidFill>
            <a:srgbClr val="0891B2"/>
          </a:solidFill>
        </p:spPr>
      </p:sp>
      <p:sp>
        <p:nvSpPr>
          <p:cNvPr id="16" name="Text 14"/>
          <p:cNvSpPr/>
          <p:nvPr/>
        </p:nvSpPr>
        <p:spPr>
          <a:xfrm>
            <a:off x="4937760" y="1234440"/>
            <a:ext cx="3566160" cy="274320"/>
          </a:xfrm>
          <a:prstGeom prst="rect">
            <a:avLst/>
          </a:prstGeom>
          <a:noFill/>
        </p:spPr>
        <p:txBody>
          <a:bodyPr wrap="square" lIns="0" tIns="0" rIns="0" bIns="0" rtlCol="0" anchor="ctr"/>
          <a:lstStyle/>
          <a:p>
            <a:pPr marL="0" indent="0">
              <a:buNone/>
            </a:pPr>
            <a:r>
              <a:rPr lang="en-US" sz="1300" b="1" dirty="0">
                <a:solidFill>
                  <a:srgbClr val="0891B2"/>
                </a:solidFill>
                <a:latin typeface="Trebuchet MS" panose="020B0603020202020204" pitchFamily="34" charset="0"/>
                <a:ea typeface="Trebuchet MS" panose="020B0603020202020204" pitchFamily="34" charset="-122"/>
                <a:cs typeface="Trebuchet MS" panose="020B0603020202020204" pitchFamily="34" charset="-120"/>
              </a:rPr>
              <a:t>Imani et al. (2025)</a:t>
            </a:r>
            <a:endParaRPr lang="en-US" sz="1300" dirty="0"/>
          </a:p>
        </p:txBody>
      </p:sp>
      <p:sp>
        <p:nvSpPr>
          <p:cNvPr id="17" name="Text 15"/>
          <p:cNvSpPr/>
          <p:nvPr/>
        </p:nvSpPr>
        <p:spPr>
          <a:xfrm>
            <a:off x="4937760" y="1508760"/>
            <a:ext cx="3566160" cy="228600"/>
          </a:xfrm>
          <a:prstGeom prst="rect">
            <a:avLst/>
          </a:prstGeom>
          <a:noFill/>
        </p:spPr>
        <p:txBody>
          <a:bodyPr wrap="square" lIns="0" tIns="0" rIns="0" bIns="0"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Systematic Review (200+ Studies)</a:t>
            </a:r>
            <a:endParaRPr lang="en-US" sz="1000" dirty="0"/>
          </a:p>
        </p:txBody>
      </p:sp>
      <p:sp>
        <p:nvSpPr>
          <p:cNvPr id="18" name="Text 16"/>
          <p:cNvSpPr/>
          <p:nvPr/>
        </p:nvSpPr>
        <p:spPr>
          <a:xfrm>
            <a:off x="4937760" y="1828800"/>
            <a:ext cx="3566160" cy="868680"/>
          </a:xfrm>
          <a:prstGeom prst="rect">
            <a:avLst/>
          </a:prstGeom>
          <a:noFill/>
        </p:spPr>
        <p:txBody>
          <a:bodyPr wrap="square" lIns="0" tIns="0" rIns="0" bIns="0" rtlCol="0" anchor="ctr"/>
          <a:lstStyle/>
          <a:p>
            <a:pPr marL="0" indent="0">
              <a:lnSpc>
                <a:spcPct val="135000"/>
              </a:lnSpc>
              <a:buNone/>
            </a:pPr>
            <a:r>
              <a:rPr lang="en-US" sz="1050" dirty="0">
                <a:solidFill>
                  <a:srgbClr val="1E2761"/>
                </a:solidFill>
                <a:latin typeface="Calibri" pitchFamily="34" charset="0"/>
                <a:ea typeface="Calibri" pitchFamily="34" charset="-122"/>
                <a:cs typeface="Calibri" pitchFamily="34" charset="-120"/>
              </a:rPr>
              <a:t>Synthesizes trends in ensemble, deep learning, and hybrid methods. Identifies persistent challenges: class imbalance, feature instability, limited interpretability, and deployment constraints.</a:t>
            </a:r>
            <a:endParaRPr lang="en-US" sz="1050" dirty="0"/>
          </a:p>
        </p:txBody>
      </p:sp>
      <p:sp>
        <p:nvSpPr>
          <p:cNvPr id="19" name="Shape 17"/>
          <p:cNvSpPr/>
          <p:nvPr/>
        </p:nvSpPr>
        <p:spPr>
          <a:xfrm>
            <a:off x="4754880" y="3063240"/>
            <a:ext cx="3931920" cy="1783080"/>
          </a:xfrm>
          <a:prstGeom prst="rect">
            <a:avLst/>
          </a:prstGeom>
          <a:solidFill>
            <a:srgbClr val="FFFFFF"/>
          </a:solidFill>
          <a:effectLst>
            <a:outerShdw blurRad="76200" dist="25400" dir="8100000" algn="bl" rotWithShape="0">
              <a:srgbClr val="000000">
                <a:alpha val="10000"/>
              </a:srgbClr>
            </a:outerShdw>
          </a:effectLst>
        </p:spPr>
      </p:sp>
      <p:sp>
        <p:nvSpPr>
          <p:cNvPr id="20" name="Shape 18"/>
          <p:cNvSpPr/>
          <p:nvPr/>
        </p:nvSpPr>
        <p:spPr>
          <a:xfrm>
            <a:off x="4754880" y="3063240"/>
            <a:ext cx="3931920" cy="54864"/>
          </a:xfrm>
          <a:prstGeom prst="rect">
            <a:avLst/>
          </a:prstGeom>
          <a:solidFill>
            <a:srgbClr val="0891B2"/>
          </a:solidFill>
        </p:spPr>
      </p:sp>
      <p:sp>
        <p:nvSpPr>
          <p:cNvPr id="21" name="Text 19"/>
          <p:cNvSpPr/>
          <p:nvPr/>
        </p:nvSpPr>
        <p:spPr>
          <a:xfrm>
            <a:off x="4937760" y="3246120"/>
            <a:ext cx="3566160" cy="274320"/>
          </a:xfrm>
          <a:prstGeom prst="rect">
            <a:avLst/>
          </a:prstGeom>
          <a:noFill/>
        </p:spPr>
        <p:txBody>
          <a:bodyPr wrap="square" lIns="0" tIns="0" rIns="0" bIns="0" rtlCol="0" anchor="ctr"/>
          <a:lstStyle/>
          <a:p>
            <a:pPr marL="0" indent="0">
              <a:buNone/>
            </a:pPr>
            <a:r>
              <a:rPr lang="en-US" sz="13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Ullah et al. (2019)</a:t>
            </a:r>
            <a:endParaRPr lang="en-US" sz="1300" dirty="0"/>
          </a:p>
        </p:txBody>
      </p:sp>
      <p:sp>
        <p:nvSpPr>
          <p:cNvPr id="22" name="Text 20"/>
          <p:cNvSpPr/>
          <p:nvPr/>
        </p:nvSpPr>
        <p:spPr>
          <a:xfrm>
            <a:off x="4937760" y="3520440"/>
            <a:ext cx="3566160" cy="228600"/>
          </a:xfrm>
          <a:prstGeom prst="rect">
            <a:avLst/>
          </a:prstGeom>
          <a:noFill/>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Random Forest for Telecom Churn</a:t>
            </a:r>
            <a:endParaRPr lang="en-US" sz="1000" dirty="0"/>
          </a:p>
        </p:txBody>
      </p:sp>
      <p:sp>
        <p:nvSpPr>
          <p:cNvPr id="23" name="Text 21"/>
          <p:cNvSpPr/>
          <p:nvPr/>
        </p:nvSpPr>
        <p:spPr>
          <a:xfrm>
            <a:off x="4937760" y="3840480"/>
            <a:ext cx="3566160" cy="868680"/>
          </a:xfrm>
          <a:prstGeom prst="rect">
            <a:avLst/>
          </a:prstGeom>
          <a:noFill/>
        </p:spPr>
        <p:txBody>
          <a:bodyPr wrap="square" lIns="0" tIns="0" rIns="0" bIns="0" rtlCol="0" anchor="ctr"/>
          <a:lstStyle/>
          <a:p>
            <a:pPr marL="0" indent="0">
              <a:lnSpc>
                <a:spcPct val="135000"/>
              </a:lnSpc>
              <a:buNone/>
            </a:pPr>
            <a:r>
              <a:rPr lang="en-US" sz="1050" dirty="0">
                <a:solidFill>
                  <a:srgbClr val="1E2761"/>
                </a:solidFill>
                <a:latin typeface="Calibri" pitchFamily="34" charset="0"/>
                <a:ea typeface="Calibri" pitchFamily="34" charset="-122"/>
                <a:cs typeface="Calibri" pitchFamily="34" charset="-120"/>
              </a:rPr>
              <a:t>Hybrid model combining classification and clustering achieves ~88.6% accuracy. Demonstrates that integrated ML techniques provide both accurate predictions and actionable CRM insights.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sp>
      <p:pic>
        <p:nvPicPr>
          <p:cNvPr id="3" name="Image 0" descr="preencoded.png"/>
          <p:cNvPicPr>
            <a:picLocks noChangeAspect="1"/>
          </p:cNvPicPr>
          <p:nvPr/>
        </p:nvPicPr>
        <p:blipFill>
          <a:blip r:embed="rId1"/>
          <a:stretch>
            <a:fillRect/>
          </a:stretch>
        </p:blipFill>
        <p:spPr>
          <a:xfrm>
            <a:off x="548640" y="182880"/>
            <a:ext cx="384048" cy="384048"/>
          </a:xfrm>
          <a:prstGeom prst="rect">
            <a:avLst/>
          </a:prstGeom>
        </p:spPr>
      </p:pic>
      <p:sp>
        <p:nvSpPr>
          <p:cNvPr id="4" name="Text 1"/>
          <p:cNvSpPr/>
          <p:nvPr/>
        </p:nvSpPr>
        <p:spPr>
          <a:xfrm>
            <a:off x="1051560" y="137160"/>
            <a:ext cx="7315200" cy="548640"/>
          </a:xfrm>
          <a:prstGeom prst="rect">
            <a:avLst/>
          </a:prstGeom>
          <a:solidFill>
            <a:srgbClr val="1E2761"/>
          </a:solidFill>
          <a:ln>
            <a:noFill/>
          </a:ln>
        </p:spPr>
        <p:txBody>
          <a:bodyPr wrap="square" lIns="0" tIns="0" rIns="0" bIns="0" rtlCol="0" anchor="ctr"/>
          <a:lstStyle/>
          <a:p>
            <a:pPr marL="0" indent="0">
              <a:buNone/>
            </a:pPr>
            <a:r>
              <a:rPr lang="en-US" sz="2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Key Themes from Literature</a:t>
            </a:r>
            <a:endParaRPr lang="en-US" sz="2400" dirty="0"/>
          </a:p>
        </p:txBody>
      </p:sp>
      <p:sp>
        <p:nvSpPr>
          <p:cNvPr id="5" name="Shape 2"/>
          <p:cNvSpPr/>
          <p:nvPr/>
        </p:nvSpPr>
        <p:spPr>
          <a:xfrm>
            <a:off x="457200" y="1097280"/>
            <a:ext cx="8229600" cy="804672"/>
          </a:xfrm>
          <a:prstGeom prst="rect">
            <a:avLst/>
          </a:prstGeom>
          <a:solidFill>
            <a:srgbClr val="FFFFFF"/>
          </a:solidFill>
          <a:effectLst>
            <a:outerShdw blurRad="76200" dist="25400" dir="8100000" algn="bl" rotWithShape="0">
              <a:srgbClr val="000000">
                <a:alpha val="10000"/>
              </a:srgbClr>
            </a:outerShdw>
          </a:effectLst>
        </p:spPr>
      </p:sp>
      <p:sp>
        <p:nvSpPr>
          <p:cNvPr id="6" name="Shape 3"/>
          <p:cNvSpPr/>
          <p:nvPr/>
        </p:nvSpPr>
        <p:spPr>
          <a:xfrm>
            <a:off x="457200" y="1097280"/>
            <a:ext cx="73152" cy="804672"/>
          </a:xfrm>
          <a:prstGeom prst="rect">
            <a:avLst/>
          </a:prstGeom>
          <a:solidFill>
            <a:srgbClr val="0891B2"/>
          </a:solidFill>
        </p:spPr>
      </p:sp>
      <p:pic>
        <p:nvPicPr>
          <p:cNvPr id="7" name="Image 1" descr="preencoded.png"/>
          <p:cNvPicPr>
            <a:picLocks noChangeAspect="1"/>
          </p:cNvPicPr>
          <p:nvPr/>
        </p:nvPicPr>
        <p:blipFill>
          <a:blip r:embed="rId2"/>
          <a:stretch>
            <a:fillRect/>
          </a:stretch>
        </p:blipFill>
        <p:spPr>
          <a:xfrm>
            <a:off x="731520" y="1280160"/>
            <a:ext cx="365760" cy="365760"/>
          </a:xfrm>
          <a:prstGeom prst="rect">
            <a:avLst/>
          </a:prstGeom>
        </p:spPr>
      </p:pic>
      <p:sp>
        <p:nvSpPr>
          <p:cNvPr id="8" name="Text 4"/>
          <p:cNvSpPr/>
          <p:nvPr/>
        </p:nvSpPr>
        <p:spPr>
          <a:xfrm>
            <a:off x="1280160" y="1170432"/>
            <a:ext cx="7132320" cy="274320"/>
          </a:xfrm>
          <a:prstGeom prst="rect">
            <a:avLst/>
          </a:prstGeom>
          <a:noFill/>
        </p:spPr>
        <p:txBody>
          <a:bodyPr wrap="square" lIns="0" tIns="0" rIns="0" bIns="0" rtlCol="0" anchor="ctr"/>
          <a:lstStyle/>
          <a:p>
            <a:pPr marL="0" indent="0">
              <a:buNone/>
            </a:pPr>
            <a:r>
              <a:rPr lang="en-US" sz="13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Feature Engineering &gt; Algorithm Choice</a:t>
            </a:r>
            <a:endParaRPr lang="en-US" sz="1300" dirty="0"/>
          </a:p>
        </p:txBody>
      </p:sp>
      <p:sp>
        <p:nvSpPr>
          <p:cNvPr id="9" name="Text 5"/>
          <p:cNvSpPr/>
          <p:nvPr/>
        </p:nvSpPr>
        <p:spPr>
          <a:xfrm>
            <a:off x="1280160" y="1463040"/>
            <a:ext cx="7132320" cy="384048"/>
          </a:xfrm>
          <a:prstGeom prst="rect">
            <a:avLst/>
          </a:prstGeom>
          <a:noFill/>
        </p:spPr>
        <p:txBody>
          <a:bodyPr wrap="square" lIns="0" tIns="0" rIns="0" bIns="0" rtlCol="0" anchor="ctr"/>
          <a:lstStyle/>
          <a:p>
            <a:pPr marL="0" indent="0">
              <a:lnSpc>
                <a:spcPct val="130000"/>
              </a:lnSpc>
              <a:buNone/>
            </a:pPr>
            <a:r>
              <a:rPr lang="en-US" sz="1050" dirty="0">
                <a:solidFill>
                  <a:srgbClr val="1E2761"/>
                </a:solidFill>
                <a:latin typeface="Calibri" pitchFamily="34" charset="0"/>
                <a:ea typeface="Calibri" pitchFamily="34" charset="-122"/>
                <a:cs typeface="Calibri" pitchFamily="34" charset="-120"/>
              </a:rPr>
              <a:t>Multiple studies confirm that feature quality and business relevance have greater impact on churn prediction than algorithm selection alone.</a:t>
            </a:r>
            <a:endParaRPr lang="en-US" sz="1050" dirty="0"/>
          </a:p>
        </p:txBody>
      </p:sp>
      <p:sp>
        <p:nvSpPr>
          <p:cNvPr id="10" name="Shape 6"/>
          <p:cNvSpPr/>
          <p:nvPr/>
        </p:nvSpPr>
        <p:spPr>
          <a:xfrm>
            <a:off x="457200" y="2057400"/>
            <a:ext cx="8229600" cy="804672"/>
          </a:xfrm>
          <a:prstGeom prst="rect">
            <a:avLst/>
          </a:prstGeom>
          <a:solidFill>
            <a:srgbClr val="FFFFFF"/>
          </a:solidFill>
          <a:effectLst>
            <a:outerShdw blurRad="76200" dist="25400" dir="8100000" algn="bl" rotWithShape="0">
              <a:srgbClr val="000000">
                <a:alpha val="10000"/>
              </a:srgbClr>
            </a:outerShdw>
          </a:effectLst>
        </p:spPr>
      </p:sp>
      <p:sp>
        <p:nvSpPr>
          <p:cNvPr id="11" name="Shape 7"/>
          <p:cNvSpPr/>
          <p:nvPr/>
        </p:nvSpPr>
        <p:spPr>
          <a:xfrm>
            <a:off x="457200" y="2057400"/>
            <a:ext cx="73152" cy="804672"/>
          </a:xfrm>
          <a:prstGeom prst="rect">
            <a:avLst/>
          </a:prstGeom>
          <a:solidFill>
            <a:srgbClr val="0891B2"/>
          </a:solidFill>
        </p:spPr>
      </p:sp>
      <p:pic>
        <p:nvPicPr>
          <p:cNvPr id="12" name="Image 2" descr="preencoded.png"/>
          <p:cNvPicPr>
            <a:picLocks noChangeAspect="1"/>
          </p:cNvPicPr>
          <p:nvPr/>
        </p:nvPicPr>
        <p:blipFill>
          <a:blip r:embed="rId3"/>
          <a:stretch>
            <a:fillRect/>
          </a:stretch>
        </p:blipFill>
        <p:spPr>
          <a:xfrm>
            <a:off x="731520" y="2240280"/>
            <a:ext cx="365760" cy="365760"/>
          </a:xfrm>
          <a:prstGeom prst="rect">
            <a:avLst/>
          </a:prstGeom>
        </p:spPr>
      </p:pic>
      <p:sp>
        <p:nvSpPr>
          <p:cNvPr id="13" name="Text 8"/>
          <p:cNvSpPr/>
          <p:nvPr/>
        </p:nvSpPr>
        <p:spPr>
          <a:xfrm>
            <a:off x="1280160" y="2130552"/>
            <a:ext cx="7132320" cy="274320"/>
          </a:xfrm>
          <a:prstGeom prst="rect">
            <a:avLst/>
          </a:prstGeom>
          <a:noFill/>
        </p:spPr>
        <p:txBody>
          <a:bodyPr wrap="square" lIns="0" tIns="0" rIns="0" bIns="0" rtlCol="0" anchor="ctr"/>
          <a:lstStyle/>
          <a:p>
            <a:pPr marL="0" indent="0">
              <a:buNone/>
            </a:pPr>
            <a:r>
              <a:rPr lang="en-US" sz="13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Profit-Driven Evaluation</a:t>
            </a:r>
            <a:endParaRPr lang="en-US" sz="1300" dirty="0"/>
          </a:p>
        </p:txBody>
      </p:sp>
      <p:sp>
        <p:nvSpPr>
          <p:cNvPr id="14" name="Text 9"/>
          <p:cNvSpPr/>
          <p:nvPr/>
        </p:nvSpPr>
        <p:spPr>
          <a:xfrm>
            <a:off x="1280160" y="2423160"/>
            <a:ext cx="7132320" cy="384048"/>
          </a:xfrm>
          <a:prstGeom prst="rect">
            <a:avLst/>
          </a:prstGeom>
          <a:noFill/>
        </p:spPr>
        <p:txBody>
          <a:bodyPr wrap="square" lIns="0" tIns="0" rIns="0" bIns="0" rtlCol="0" anchor="ctr"/>
          <a:lstStyle/>
          <a:p>
            <a:pPr marL="0" indent="0">
              <a:lnSpc>
                <a:spcPct val="130000"/>
              </a:lnSpc>
              <a:buNone/>
            </a:pPr>
            <a:r>
              <a:rPr lang="en-US" sz="1050" dirty="0">
                <a:solidFill>
                  <a:srgbClr val="1E2761"/>
                </a:solidFill>
                <a:latin typeface="Calibri" pitchFamily="34" charset="0"/>
                <a:ea typeface="Calibri" pitchFamily="34" charset="-122"/>
                <a:cs typeface="Calibri" pitchFamily="34" charset="-120"/>
              </a:rPr>
              <a:t>Traditional accuracy metrics are insufficient. Models must be evaluated by ranking ability and expected profit impact on retention campaigns.</a:t>
            </a:r>
            <a:endParaRPr lang="en-US" sz="1050" dirty="0"/>
          </a:p>
        </p:txBody>
      </p:sp>
      <p:sp>
        <p:nvSpPr>
          <p:cNvPr id="15" name="Shape 10"/>
          <p:cNvSpPr/>
          <p:nvPr/>
        </p:nvSpPr>
        <p:spPr>
          <a:xfrm>
            <a:off x="457200" y="3017520"/>
            <a:ext cx="8229600" cy="804672"/>
          </a:xfrm>
          <a:prstGeom prst="rect">
            <a:avLst/>
          </a:prstGeom>
          <a:solidFill>
            <a:srgbClr val="FFFFFF"/>
          </a:solidFill>
          <a:effectLst>
            <a:outerShdw blurRad="76200" dist="25400" dir="8100000" algn="bl" rotWithShape="0">
              <a:srgbClr val="000000">
                <a:alpha val="10000"/>
              </a:srgbClr>
            </a:outerShdw>
          </a:effectLst>
        </p:spPr>
      </p:sp>
      <p:sp>
        <p:nvSpPr>
          <p:cNvPr id="16" name="Shape 11"/>
          <p:cNvSpPr/>
          <p:nvPr/>
        </p:nvSpPr>
        <p:spPr>
          <a:xfrm>
            <a:off x="457200" y="3017520"/>
            <a:ext cx="73152" cy="804672"/>
          </a:xfrm>
          <a:prstGeom prst="rect">
            <a:avLst/>
          </a:prstGeom>
          <a:solidFill>
            <a:srgbClr val="0891B2"/>
          </a:solidFill>
        </p:spPr>
      </p:sp>
      <p:pic>
        <p:nvPicPr>
          <p:cNvPr id="17" name="Image 3" descr="preencoded.png"/>
          <p:cNvPicPr>
            <a:picLocks noChangeAspect="1"/>
          </p:cNvPicPr>
          <p:nvPr/>
        </p:nvPicPr>
        <p:blipFill>
          <a:blip r:embed="rId4"/>
          <a:stretch>
            <a:fillRect/>
          </a:stretch>
        </p:blipFill>
        <p:spPr>
          <a:xfrm>
            <a:off x="731520" y="3200400"/>
            <a:ext cx="365760" cy="365760"/>
          </a:xfrm>
          <a:prstGeom prst="rect">
            <a:avLst/>
          </a:prstGeom>
        </p:spPr>
      </p:pic>
      <p:sp>
        <p:nvSpPr>
          <p:cNvPr id="18" name="Text 12"/>
          <p:cNvSpPr/>
          <p:nvPr/>
        </p:nvSpPr>
        <p:spPr>
          <a:xfrm>
            <a:off x="1280160" y="3090672"/>
            <a:ext cx="7132320" cy="274320"/>
          </a:xfrm>
          <a:prstGeom prst="rect">
            <a:avLst/>
          </a:prstGeom>
          <a:noFill/>
        </p:spPr>
        <p:txBody>
          <a:bodyPr wrap="square" lIns="0" tIns="0" rIns="0" bIns="0" rtlCol="0" anchor="ctr"/>
          <a:lstStyle/>
          <a:p>
            <a:pPr marL="0" indent="0">
              <a:buNone/>
            </a:pPr>
            <a:r>
              <a:rPr lang="en-US" sz="1300" b="1" dirty="0">
                <a:solidFill>
                  <a:srgbClr val="1E2761"/>
                </a:solidFill>
                <a:latin typeface="Trebuchet MS" panose="020B0603020202020204" pitchFamily="34" charset="0"/>
                <a:ea typeface="Trebuchet MS" panose="020B0603020202020204" pitchFamily="34" charset="-122"/>
                <a:cs typeface="Trebuchet MS" panose="020B0603020202020204" pitchFamily="34" charset="-120"/>
              </a:rPr>
              <a:t>Class Imbalance is Critical</a:t>
            </a:r>
            <a:endParaRPr lang="en-US" sz="1300" dirty="0"/>
          </a:p>
        </p:txBody>
      </p:sp>
      <p:sp>
        <p:nvSpPr>
          <p:cNvPr id="19" name="Text 13"/>
          <p:cNvSpPr/>
          <p:nvPr/>
        </p:nvSpPr>
        <p:spPr>
          <a:xfrm>
            <a:off x="1280160" y="3383280"/>
            <a:ext cx="7132320" cy="384048"/>
          </a:xfrm>
          <a:prstGeom prst="rect">
            <a:avLst/>
          </a:prstGeom>
          <a:noFill/>
        </p:spPr>
        <p:txBody>
          <a:bodyPr wrap="square" lIns="0" tIns="0" rIns="0" bIns="0" rtlCol="0" anchor="ctr"/>
          <a:lstStyle/>
          <a:p>
            <a:pPr marL="0" indent="0">
              <a:lnSpc>
                <a:spcPct val="130000"/>
              </a:lnSpc>
              <a:buNone/>
            </a:pPr>
            <a:r>
              <a:rPr lang="en-US" sz="1050" dirty="0">
                <a:solidFill>
                  <a:srgbClr val="1E2761"/>
                </a:solidFill>
                <a:latin typeface="Calibri" pitchFamily="34" charset="0"/>
                <a:ea typeface="Calibri" pitchFamily="34" charset="-122"/>
                <a:cs typeface="Calibri" pitchFamily="34" charset="-120"/>
              </a:rPr>
              <a:t>Churners are typically a small fraction of the customer base. Proper handling via resampling, cost-sensitive learning, and appropriate metrics is essential.</a:t>
            </a:r>
            <a:endParaRPr lang="en-US" sz="1050" dirty="0"/>
          </a:p>
        </p:txBody>
      </p:sp>
      <p:sp>
        <p:nvSpPr>
          <p:cNvPr id="20" name="Shape 14"/>
          <p:cNvSpPr/>
          <p:nvPr/>
        </p:nvSpPr>
        <p:spPr>
          <a:xfrm>
            <a:off x="457200" y="3977640"/>
            <a:ext cx="8229600" cy="804672"/>
          </a:xfrm>
          <a:prstGeom prst="rect">
            <a:avLst/>
          </a:prstGeom>
          <a:solidFill>
            <a:srgbClr val="1E2761"/>
          </a:solidFill>
          <a:ln>
            <a:noFill/>
          </a:ln>
          <a:effectLst>
            <a:outerShdw blurRad="76200" dist="25400" dir="8100000" algn="bl" rotWithShape="0">
              <a:srgbClr val="000000">
                <a:alpha val="10000"/>
              </a:srgbClr>
            </a:outerShdw>
          </a:effectLst>
        </p:spPr>
      </p:sp>
      <p:sp>
        <p:nvSpPr>
          <p:cNvPr id="21" name="Shape 15"/>
          <p:cNvSpPr/>
          <p:nvPr/>
        </p:nvSpPr>
        <p:spPr>
          <a:xfrm>
            <a:off x="457200" y="3977640"/>
            <a:ext cx="73152" cy="804672"/>
          </a:xfrm>
          <a:prstGeom prst="rect">
            <a:avLst/>
          </a:prstGeom>
          <a:solidFill>
            <a:srgbClr val="0891B2"/>
          </a:solidFill>
        </p:spPr>
      </p:sp>
      <p:pic>
        <p:nvPicPr>
          <p:cNvPr id="22" name="Image 4" descr="preencoded.png"/>
          <p:cNvPicPr>
            <a:picLocks noChangeAspect="1"/>
          </p:cNvPicPr>
          <p:nvPr/>
        </p:nvPicPr>
        <p:blipFill>
          <a:blip r:embed="rId5"/>
          <a:stretch>
            <a:fillRect/>
          </a:stretch>
        </p:blipFill>
        <p:spPr>
          <a:xfrm>
            <a:off x="731520" y="4160520"/>
            <a:ext cx="365760" cy="365760"/>
          </a:xfrm>
          <a:prstGeom prst="rect">
            <a:avLst/>
          </a:prstGeom>
        </p:spPr>
      </p:pic>
      <p:sp>
        <p:nvSpPr>
          <p:cNvPr id="23" name="Text 16"/>
          <p:cNvSpPr/>
          <p:nvPr/>
        </p:nvSpPr>
        <p:spPr>
          <a:xfrm>
            <a:off x="1280160" y="4050792"/>
            <a:ext cx="7132320" cy="274320"/>
          </a:xfrm>
          <a:prstGeom prst="rect">
            <a:avLst/>
          </a:prstGeom>
          <a:solidFill>
            <a:srgbClr val="1E2761"/>
          </a:solidFill>
          <a:ln>
            <a:noFill/>
          </a:ln>
        </p:spPr>
        <p:txBody>
          <a:bodyPr wrap="square" lIns="0" tIns="0" rIns="0" bIns="0" rtlCol="0" anchor="ctr"/>
          <a:lstStyle/>
          <a:p>
            <a:pPr marL="0" indent="0">
              <a:buNone/>
            </a:pPr>
            <a:r>
              <a:rPr lang="en-US" sz="13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Business Interpretability Matters</a:t>
            </a:r>
            <a:endParaRPr lang="en-US" sz="1300" dirty="0"/>
          </a:p>
        </p:txBody>
      </p:sp>
      <p:sp>
        <p:nvSpPr>
          <p:cNvPr id="24" name="Text 17"/>
          <p:cNvSpPr/>
          <p:nvPr/>
        </p:nvSpPr>
        <p:spPr>
          <a:xfrm>
            <a:off x="1280160" y="4343400"/>
            <a:ext cx="7132320" cy="384048"/>
          </a:xfrm>
          <a:prstGeom prst="rect">
            <a:avLst/>
          </a:prstGeom>
          <a:solidFill>
            <a:srgbClr val="1E2761"/>
          </a:solidFill>
          <a:ln>
            <a:noFill/>
          </a:ln>
        </p:spPr>
        <p:txBody>
          <a:bodyPr wrap="square" lIns="0" tIns="0" rIns="0" bIns="0" rtlCol="0" anchor="ctr"/>
          <a:lstStyle/>
          <a:p>
            <a:pPr marL="0" indent="0">
              <a:lnSpc>
                <a:spcPct val="130000"/>
              </a:lnSpc>
              <a:buNone/>
            </a:pPr>
            <a:r>
              <a:rPr lang="en-US" sz="1050" dirty="0">
                <a:solidFill>
                  <a:srgbClr val="FFFFFF"/>
                </a:solidFill>
                <a:latin typeface="Calibri" pitchFamily="34" charset="0"/>
                <a:ea typeface="Calibri" pitchFamily="34" charset="-122"/>
                <a:cs typeface="Calibri" pitchFamily="34" charset="-120"/>
              </a:rPr>
              <a:t>Model outputs must be translated into actionable retention strategies for executive stakeholders — not just technical performance reports.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a:noFill/>
          </a:ln>
        </p:spPr>
        <p:txBody>
          <a:bodyPr/>
          <a:lstStyle/>
          <a:p>
            <a:endParaRPr lang="en-US"/>
          </a:p>
        </p:txBody>
      </p:sp>
      <p:sp>
        <p:nvSpPr>
          <p:cNvPr id="3" name="Text 1"/>
          <p:cNvSpPr/>
          <p:nvPr/>
        </p:nvSpPr>
        <p:spPr>
          <a:xfrm>
            <a:off x="365760" y="164592"/>
            <a:ext cx="8229600" cy="59436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Dataset Overview</a:t>
            </a:r>
            <a:endParaRPr lang="en-US" sz="2800" dirty="0"/>
          </a:p>
        </p:txBody>
      </p:sp>
      <p:sp>
        <p:nvSpPr>
          <p:cNvPr id="4" name="Shape 2"/>
          <p:cNvSpPr/>
          <p:nvPr/>
        </p:nvSpPr>
        <p:spPr>
          <a:xfrm>
            <a:off x="365760" y="1051560"/>
            <a:ext cx="1920240" cy="12801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65760" y="1051560"/>
            <a:ext cx="1920240" cy="73152"/>
          </a:xfrm>
          <a:prstGeom prst="rect">
            <a:avLst/>
          </a:prstGeom>
          <a:solidFill>
            <a:srgbClr val="0891B2"/>
          </a:solidFill>
          <a:ln w="12700">
            <a:solidFill>
              <a:srgbClr val="1E2761"/>
            </a:solidFill>
            <a:prstDash val="solid"/>
          </a:ln>
        </p:spPr>
        <p:txBody>
          <a:bodyPr/>
          <a:lstStyle/>
          <a:p>
            <a:endParaRPr lang="en-US"/>
          </a:p>
        </p:txBody>
      </p:sp>
      <p:sp>
        <p:nvSpPr>
          <p:cNvPr id="6" name="Text 4"/>
          <p:cNvSpPr/>
          <p:nvPr/>
        </p:nvSpPr>
        <p:spPr>
          <a:xfrm>
            <a:off x="365760" y="1188720"/>
            <a:ext cx="1920240" cy="640080"/>
          </a:xfrm>
          <a:prstGeom prst="rect">
            <a:avLst/>
          </a:prstGeom>
          <a:noFill/>
        </p:spPr>
        <p:txBody>
          <a:bodyPr wrap="square" lIns="0" tIns="0" rIns="0" bIns="0" rtlCol="0" anchor="ctr"/>
          <a:lstStyle/>
          <a:p>
            <a:pPr marL="0" indent="0" algn="ctr">
              <a:buNone/>
            </a:pPr>
            <a:r>
              <a:rPr lang="en-US" sz="3200" b="1" dirty="0">
                <a:solidFill>
                  <a:srgbClr val="1E2761"/>
                </a:solidFill>
                <a:latin typeface="Calibri" pitchFamily="34" charset="0"/>
                <a:ea typeface="Calibri" pitchFamily="34" charset="-122"/>
                <a:cs typeface="Calibri" pitchFamily="34" charset="-120"/>
              </a:rPr>
              <a:t>2,666</a:t>
            </a:r>
            <a:endParaRPr lang="en-US" sz="3200" dirty="0"/>
          </a:p>
        </p:txBody>
      </p:sp>
      <p:sp>
        <p:nvSpPr>
          <p:cNvPr id="7" name="Text 5"/>
          <p:cNvSpPr/>
          <p:nvPr/>
        </p:nvSpPr>
        <p:spPr>
          <a:xfrm>
            <a:off x="365760" y="1828800"/>
            <a:ext cx="1920240" cy="365760"/>
          </a:xfrm>
          <a:prstGeom prst="rect">
            <a:avLst/>
          </a:prstGeom>
          <a:noFill/>
        </p:spPr>
        <p:txBody>
          <a:bodyPr wrap="square" lIns="0" tIns="0" rIns="0" bIns="0" rtlCol="0" anchor="ctr"/>
          <a:lstStyle/>
          <a:p>
            <a:pPr marL="0" indent="0" algn="ctr">
              <a:buNone/>
            </a:pPr>
            <a:r>
              <a:rPr lang="en-US" sz="1100" dirty="0">
                <a:solidFill>
                  <a:srgbClr val="1E2761"/>
                </a:solidFill>
                <a:latin typeface="Calibri" pitchFamily="34" charset="0"/>
                <a:ea typeface="Calibri" pitchFamily="34" charset="-122"/>
                <a:cs typeface="Calibri" pitchFamily="34" charset="-120"/>
              </a:rPr>
              <a:t>Total Records</a:t>
            </a:r>
            <a:endParaRPr lang="en-US" sz="1100" dirty="0"/>
          </a:p>
        </p:txBody>
      </p:sp>
      <p:sp>
        <p:nvSpPr>
          <p:cNvPr id="8" name="Shape 6"/>
          <p:cNvSpPr/>
          <p:nvPr/>
        </p:nvSpPr>
        <p:spPr>
          <a:xfrm>
            <a:off x="2514600" y="1051560"/>
            <a:ext cx="1920240" cy="12801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2514600" y="1051560"/>
            <a:ext cx="1920240" cy="73152"/>
          </a:xfrm>
          <a:prstGeom prst="rect">
            <a:avLst/>
          </a:prstGeom>
          <a:solidFill>
            <a:srgbClr val="0891B2"/>
          </a:solidFill>
          <a:ln w="12700">
            <a:solidFill>
              <a:srgbClr val="1E2761"/>
            </a:solidFill>
            <a:prstDash val="solid"/>
          </a:ln>
        </p:spPr>
        <p:txBody>
          <a:bodyPr/>
          <a:lstStyle/>
          <a:p>
            <a:endParaRPr lang="en-US"/>
          </a:p>
        </p:txBody>
      </p:sp>
      <p:sp>
        <p:nvSpPr>
          <p:cNvPr id="10" name="Text 8"/>
          <p:cNvSpPr/>
          <p:nvPr/>
        </p:nvSpPr>
        <p:spPr>
          <a:xfrm>
            <a:off x="2514600" y="1188720"/>
            <a:ext cx="1920240" cy="640080"/>
          </a:xfrm>
          <a:prstGeom prst="rect">
            <a:avLst/>
          </a:prstGeom>
          <a:noFill/>
        </p:spPr>
        <p:txBody>
          <a:bodyPr wrap="square" lIns="0" tIns="0" rIns="0" bIns="0" rtlCol="0" anchor="ctr"/>
          <a:lstStyle/>
          <a:p>
            <a:pPr marL="0" indent="0" algn="ctr">
              <a:buNone/>
            </a:pPr>
            <a:r>
              <a:rPr lang="en-US" sz="3200" b="1" dirty="0">
                <a:solidFill>
                  <a:srgbClr val="1E2761"/>
                </a:solidFill>
                <a:latin typeface="Calibri" pitchFamily="34" charset="0"/>
                <a:ea typeface="Calibri" pitchFamily="34" charset="-122"/>
                <a:cs typeface="Calibri" pitchFamily="34" charset="-120"/>
              </a:rPr>
              <a:t>21</a:t>
            </a:r>
            <a:endParaRPr lang="en-US" sz="3200" dirty="0"/>
          </a:p>
        </p:txBody>
      </p:sp>
      <p:sp>
        <p:nvSpPr>
          <p:cNvPr id="11" name="Text 9"/>
          <p:cNvSpPr/>
          <p:nvPr/>
        </p:nvSpPr>
        <p:spPr>
          <a:xfrm>
            <a:off x="2514600" y="1828800"/>
            <a:ext cx="1920240" cy="365760"/>
          </a:xfrm>
          <a:prstGeom prst="rect">
            <a:avLst/>
          </a:prstGeom>
          <a:noFill/>
        </p:spPr>
        <p:txBody>
          <a:bodyPr wrap="square" lIns="0" tIns="0" rIns="0" bIns="0" rtlCol="0" anchor="ctr"/>
          <a:lstStyle/>
          <a:p>
            <a:pPr marL="0" indent="0" algn="ctr">
              <a:buNone/>
            </a:pPr>
            <a:r>
              <a:rPr lang="en-US" sz="1100" dirty="0">
                <a:solidFill>
                  <a:srgbClr val="1E2761"/>
                </a:solidFill>
                <a:latin typeface="Calibri" pitchFamily="34" charset="0"/>
                <a:ea typeface="Calibri" pitchFamily="34" charset="-122"/>
                <a:cs typeface="Calibri" pitchFamily="34" charset="-120"/>
              </a:rPr>
              <a:t>Total Features</a:t>
            </a:r>
            <a:endParaRPr lang="en-US" sz="1100" dirty="0"/>
          </a:p>
        </p:txBody>
      </p:sp>
      <p:sp>
        <p:nvSpPr>
          <p:cNvPr id="12" name="Shape 10"/>
          <p:cNvSpPr/>
          <p:nvPr/>
        </p:nvSpPr>
        <p:spPr>
          <a:xfrm>
            <a:off x="4663440" y="1051560"/>
            <a:ext cx="1920240" cy="12801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4663440" y="1051560"/>
            <a:ext cx="1920240" cy="73152"/>
          </a:xfrm>
          <a:prstGeom prst="rect">
            <a:avLst/>
          </a:prstGeom>
          <a:solidFill>
            <a:srgbClr val="0891B2"/>
          </a:solidFill>
          <a:ln w="12700">
            <a:solidFill>
              <a:srgbClr val="1E2761"/>
            </a:solidFill>
            <a:prstDash val="solid"/>
          </a:ln>
        </p:spPr>
        <p:txBody>
          <a:bodyPr/>
          <a:lstStyle/>
          <a:p>
            <a:endParaRPr lang="en-US"/>
          </a:p>
        </p:txBody>
      </p:sp>
      <p:sp>
        <p:nvSpPr>
          <p:cNvPr id="14" name="Text 12"/>
          <p:cNvSpPr/>
          <p:nvPr/>
        </p:nvSpPr>
        <p:spPr>
          <a:xfrm>
            <a:off x="4663440" y="1188720"/>
            <a:ext cx="1920240" cy="640080"/>
          </a:xfrm>
          <a:prstGeom prst="rect">
            <a:avLst/>
          </a:prstGeom>
          <a:noFill/>
        </p:spPr>
        <p:txBody>
          <a:bodyPr wrap="square" lIns="0" tIns="0" rIns="0" bIns="0" rtlCol="0" anchor="ctr"/>
          <a:lstStyle/>
          <a:p>
            <a:pPr marL="0" indent="0" algn="ctr">
              <a:buNone/>
            </a:pPr>
            <a:r>
              <a:rPr lang="en-US" sz="3200" b="1" dirty="0">
                <a:solidFill>
                  <a:srgbClr val="1E2761"/>
                </a:solidFill>
                <a:latin typeface="Calibri" pitchFamily="34" charset="0"/>
                <a:ea typeface="Calibri" pitchFamily="34" charset="-122"/>
                <a:cs typeface="Calibri" pitchFamily="34" charset="-120"/>
              </a:rPr>
              <a:t>0</a:t>
            </a:r>
            <a:endParaRPr lang="en-US" sz="3200" dirty="0"/>
          </a:p>
        </p:txBody>
      </p:sp>
      <p:sp>
        <p:nvSpPr>
          <p:cNvPr id="15" name="Text 13"/>
          <p:cNvSpPr/>
          <p:nvPr/>
        </p:nvSpPr>
        <p:spPr>
          <a:xfrm>
            <a:off x="4663440" y="1828800"/>
            <a:ext cx="1920240" cy="365760"/>
          </a:xfrm>
          <a:prstGeom prst="rect">
            <a:avLst/>
          </a:prstGeom>
          <a:noFill/>
        </p:spPr>
        <p:txBody>
          <a:bodyPr wrap="square" lIns="0" tIns="0" rIns="0" bIns="0" rtlCol="0" anchor="ctr"/>
          <a:lstStyle/>
          <a:p>
            <a:pPr marL="0" indent="0" algn="ctr">
              <a:buNone/>
            </a:pPr>
            <a:r>
              <a:rPr lang="en-US" sz="1100" dirty="0">
                <a:solidFill>
                  <a:srgbClr val="1E2761"/>
                </a:solidFill>
                <a:latin typeface="Calibri" pitchFamily="34" charset="0"/>
                <a:ea typeface="Calibri" pitchFamily="34" charset="-122"/>
                <a:cs typeface="Calibri" pitchFamily="34" charset="-120"/>
              </a:rPr>
              <a:t>Missing Values</a:t>
            </a:r>
            <a:endParaRPr lang="en-US" sz="1100" dirty="0"/>
          </a:p>
        </p:txBody>
      </p:sp>
      <p:sp>
        <p:nvSpPr>
          <p:cNvPr id="16" name="Shape 14"/>
          <p:cNvSpPr/>
          <p:nvPr/>
        </p:nvSpPr>
        <p:spPr>
          <a:xfrm>
            <a:off x="6812280" y="1051560"/>
            <a:ext cx="1920240" cy="12801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6812280" y="1051560"/>
            <a:ext cx="1920240" cy="73152"/>
          </a:xfrm>
          <a:prstGeom prst="rect">
            <a:avLst/>
          </a:prstGeom>
          <a:solidFill>
            <a:srgbClr val="0891B2"/>
          </a:solidFill>
          <a:ln w="12700">
            <a:solidFill>
              <a:srgbClr val="1E2761"/>
            </a:solidFill>
            <a:prstDash val="solid"/>
          </a:ln>
        </p:spPr>
        <p:txBody>
          <a:bodyPr/>
          <a:lstStyle/>
          <a:p>
            <a:endParaRPr lang="en-US"/>
          </a:p>
        </p:txBody>
      </p:sp>
      <p:sp>
        <p:nvSpPr>
          <p:cNvPr id="18" name="Text 16"/>
          <p:cNvSpPr/>
          <p:nvPr/>
        </p:nvSpPr>
        <p:spPr>
          <a:xfrm>
            <a:off x="6812280" y="1188720"/>
            <a:ext cx="1920240" cy="640080"/>
          </a:xfrm>
          <a:prstGeom prst="rect">
            <a:avLst/>
          </a:prstGeom>
          <a:noFill/>
        </p:spPr>
        <p:txBody>
          <a:bodyPr wrap="square" lIns="0" tIns="0" rIns="0" bIns="0" rtlCol="0" anchor="ctr"/>
          <a:lstStyle/>
          <a:p>
            <a:pPr marL="0" indent="0" algn="ctr">
              <a:buNone/>
            </a:pPr>
            <a:r>
              <a:rPr lang="en-US" sz="3200" b="1" dirty="0">
                <a:solidFill>
                  <a:srgbClr val="1E2761"/>
                </a:solidFill>
                <a:latin typeface="Calibri" pitchFamily="34" charset="0"/>
                <a:ea typeface="Calibri" pitchFamily="34" charset="-122"/>
                <a:cs typeface="Calibri" pitchFamily="34" charset="-120"/>
              </a:rPr>
              <a:t>14.5%</a:t>
            </a:r>
            <a:endParaRPr lang="en-US" sz="3200" dirty="0"/>
          </a:p>
        </p:txBody>
      </p:sp>
      <p:sp>
        <p:nvSpPr>
          <p:cNvPr id="19" name="Text 17"/>
          <p:cNvSpPr/>
          <p:nvPr/>
        </p:nvSpPr>
        <p:spPr>
          <a:xfrm>
            <a:off x="6812280" y="1828800"/>
            <a:ext cx="1920240" cy="365760"/>
          </a:xfrm>
          <a:prstGeom prst="rect">
            <a:avLst/>
          </a:prstGeom>
          <a:noFill/>
        </p:spPr>
        <p:txBody>
          <a:bodyPr wrap="square" lIns="0" tIns="0" rIns="0" bIns="0" rtlCol="0" anchor="ctr"/>
          <a:lstStyle/>
          <a:p>
            <a:pPr marL="0" indent="0" algn="ctr">
              <a:buNone/>
            </a:pPr>
            <a:r>
              <a:rPr lang="en-US" sz="1100" dirty="0">
                <a:solidFill>
                  <a:srgbClr val="1E2761"/>
                </a:solidFill>
                <a:latin typeface="Calibri" pitchFamily="34" charset="0"/>
                <a:ea typeface="Calibri" pitchFamily="34" charset="-122"/>
                <a:cs typeface="Calibri" pitchFamily="34" charset="-120"/>
              </a:rPr>
              <a:t>Churn Rate</a:t>
            </a:r>
            <a:endParaRPr lang="en-US" sz="1100" dirty="0"/>
          </a:p>
        </p:txBody>
      </p:sp>
      <p:sp>
        <p:nvSpPr>
          <p:cNvPr id="20" name="Text 18"/>
          <p:cNvSpPr/>
          <p:nvPr/>
        </p:nvSpPr>
        <p:spPr>
          <a:xfrm>
            <a:off x="365760" y="2560320"/>
            <a:ext cx="4572000" cy="32004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Feature Breakdown</a:t>
            </a:r>
            <a:endParaRPr lang="en-US" sz="1400" dirty="0"/>
          </a:p>
        </p:txBody>
      </p:sp>
      <p:graphicFrame>
        <p:nvGraphicFramePr>
          <p:cNvPr id="21" name="Table 0"/>
          <p:cNvGraphicFramePr>
            <a:graphicFrameLocks noGrp="1"/>
          </p:cNvGraphicFramePr>
          <p:nvPr/>
        </p:nvGraphicFramePr>
        <p:xfrm>
          <a:off x="365760" y="2926080"/>
          <a:ext cx="8412480" cy="1965960"/>
        </p:xfrm>
        <a:graphic>
          <a:graphicData uri="http://schemas.openxmlformats.org/drawingml/2006/table">
            <a:tbl>
              <a:tblPr/>
              <a:tblGrid>
                <a:gridCol w="2011680"/>
                <a:gridCol w="1463040"/>
                <a:gridCol w="4937760"/>
              </a:tblGrid>
              <a:tr h="24003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240030">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Account length</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int64</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How long the customer has been with the company</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40030">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International plan</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binary</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Customer subscribed to international plan (Yes/No)</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40030">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Voice mail plan</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binary</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Customer has voicemail plan (Yes/No)</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40030">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Total day/eve/night minutes</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float64</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Usage minutes in each time period</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40030">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Total day/eve/night charge</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float64</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Associated charges per time period</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40030">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Customer service calls</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int64</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Number of calls made to customer service</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40030">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Churn</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bool (target)</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761"/>
                          </a:solidFill>
                          <a:latin typeface="Calibri" pitchFamily="34" charset="0"/>
                          <a:ea typeface="Calibri" pitchFamily="34" charset="-122"/>
                          <a:cs typeface="Calibri" pitchFamily="34" charset="-120"/>
                        </a:rPr>
                        <a:t>Whether the customer churned (True/False)</a:t>
                      </a:r>
                      <a:endParaRPr lang="en-US" sz="1000" dirty="0">
                        <a:latin typeface="Calibri" pitchFamily="34" charset="0"/>
                        <a:ea typeface="Calibri" pitchFamily="34" charset="0"/>
                        <a:cs typeface="Calibri"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a:noFill/>
          </a:ln>
        </p:spPr>
        <p:txBody>
          <a:bodyPr/>
          <a:lstStyle/>
          <a:p>
            <a:endParaRPr lang="en-US"/>
          </a:p>
        </p:txBody>
      </p:sp>
      <p:sp>
        <p:nvSpPr>
          <p:cNvPr id="3" name="Text 1"/>
          <p:cNvSpPr/>
          <p:nvPr/>
        </p:nvSpPr>
        <p:spPr>
          <a:xfrm>
            <a:off x="365760" y="164592"/>
            <a:ext cx="8229600" cy="59436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 Structure</a:t>
            </a:r>
            <a:endParaRPr lang="en-US" sz="2800" dirty="0"/>
          </a:p>
        </p:txBody>
      </p:sp>
      <p:sp>
        <p:nvSpPr>
          <p:cNvPr id="4" name="Shape 2"/>
          <p:cNvSpPr/>
          <p:nvPr/>
        </p:nvSpPr>
        <p:spPr>
          <a:xfrm>
            <a:off x="320040" y="1005840"/>
            <a:ext cx="2697480" cy="38404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0040" y="1005840"/>
            <a:ext cx="2697480" cy="502920"/>
          </a:xfrm>
          <a:prstGeom prst="rect">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411480" y="1005840"/>
            <a:ext cx="2514600" cy="502920"/>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Numeric Features</a:t>
            </a:r>
            <a:endParaRPr lang="en-US" sz="1200" dirty="0"/>
          </a:p>
        </p:txBody>
      </p:sp>
      <p:sp>
        <p:nvSpPr>
          <p:cNvPr id="7" name="Shape 5"/>
          <p:cNvSpPr/>
          <p:nvPr/>
        </p:nvSpPr>
        <p:spPr>
          <a:xfrm>
            <a:off x="457200" y="1664208"/>
            <a:ext cx="73152" cy="73152"/>
          </a:xfrm>
          <a:prstGeom prst="rect">
            <a:avLst/>
          </a:prstGeom>
          <a:solidFill>
            <a:srgbClr val="1E2761"/>
          </a:solidFill>
          <a:ln w="12700">
            <a:solidFill>
              <a:srgbClr val="1E2761"/>
            </a:solidFill>
            <a:prstDash val="solid"/>
          </a:ln>
        </p:spPr>
        <p:txBody>
          <a:bodyPr/>
          <a:lstStyle/>
          <a:p>
            <a:endParaRPr lang="en-US"/>
          </a:p>
        </p:txBody>
      </p:sp>
      <p:sp>
        <p:nvSpPr>
          <p:cNvPr id="8" name="Text 6"/>
          <p:cNvSpPr/>
          <p:nvPr/>
        </p:nvSpPr>
        <p:spPr>
          <a:xfrm>
            <a:off x="612648" y="1627632"/>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Account length</a:t>
            </a:r>
            <a:endParaRPr lang="en-US" sz="1000" dirty="0"/>
          </a:p>
        </p:txBody>
      </p:sp>
      <p:sp>
        <p:nvSpPr>
          <p:cNvPr id="9" name="Shape 7"/>
          <p:cNvSpPr/>
          <p:nvPr/>
        </p:nvSpPr>
        <p:spPr>
          <a:xfrm>
            <a:off x="457200" y="2139696"/>
            <a:ext cx="73152" cy="73152"/>
          </a:xfrm>
          <a:prstGeom prst="rect">
            <a:avLst/>
          </a:prstGeom>
          <a:solidFill>
            <a:srgbClr val="1E2761"/>
          </a:solidFill>
          <a:ln w="12700">
            <a:solidFill>
              <a:srgbClr val="1E2761"/>
            </a:solidFill>
            <a:prstDash val="solid"/>
          </a:ln>
        </p:spPr>
        <p:txBody>
          <a:bodyPr/>
          <a:lstStyle/>
          <a:p>
            <a:endParaRPr lang="en-US"/>
          </a:p>
        </p:txBody>
      </p:sp>
      <p:sp>
        <p:nvSpPr>
          <p:cNvPr id="10" name="Text 8"/>
          <p:cNvSpPr/>
          <p:nvPr/>
        </p:nvSpPr>
        <p:spPr>
          <a:xfrm>
            <a:off x="612648" y="2103120"/>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Number vmail messages</a:t>
            </a:r>
            <a:endParaRPr lang="en-US" sz="1000" dirty="0"/>
          </a:p>
        </p:txBody>
      </p:sp>
      <p:sp>
        <p:nvSpPr>
          <p:cNvPr id="11" name="Shape 9"/>
          <p:cNvSpPr/>
          <p:nvPr/>
        </p:nvSpPr>
        <p:spPr>
          <a:xfrm>
            <a:off x="457200" y="2615184"/>
            <a:ext cx="73152" cy="73152"/>
          </a:xfrm>
          <a:prstGeom prst="rect">
            <a:avLst/>
          </a:prstGeom>
          <a:solidFill>
            <a:srgbClr val="1E2761"/>
          </a:solidFill>
          <a:ln w="12700">
            <a:solidFill>
              <a:srgbClr val="1E2761"/>
            </a:solidFill>
            <a:prstDash val="solid"/>
          </a:ln>
        </p:spPr>
        <p:txBody>
          <a:bodyPr/>
          <a:lstStyle/>
          <a:p>
            <a:endParaRPr lang="en-US"/>
          </a:p>
        </p:txBody>
      </p:sp>
      <p:sp>
        <p:nvSpPr>
          <p:cNvPr id="12" name="Text 10"/>
          <p:cNvSpPr/>
          <p:nvPr/>
        </p:nvSpPr>
        <p:spPr>
          <a:xfrm>
            <a:off x="612648" y="2578608"/>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Total day minutes / charge</a:t>
            </a:r>
            <a:endParaRPr lang="en-US" sz="1000" dirty="0"/>
          </a:p>
        </p:txBody>
      </p:sp>
      <p:sp>
        <p:nvSpPr>
          <p:cNvPr id="13" name="Shape 11"/>
          <p:cNvSpPr/>
          <p:nvPr/>
        </p:nvSpPr>
        <p:spPr>
          <a:xfrm>
            <a:off x="457200" y="3090672"/>
            <a:ext cx="73152" cy="73152"/>
          </a:xfrm>
          <a:prstGeom prst="rect">
            <a:avLst/>
          </a:prstGeom>
          <a:solidFill>
            <a:srgbClr val="1E2761"/>
          </a:solidFill>
          <a:ln w="12700">
            <a:solidFill>
              <a:srgbClr val="1E2761"/>
            </a:solidFill>
            <a:prstDash val="solid"/>
          </a:ln>
        </p:spPr>
        <p:txBody>
          <a:bodyPr/>
          <a:lstStyle/>
          <a:p>
            <a:endParaRPr lang="en-US"/>
          </a:p>
        </p:txBody>
      </p:sp>
      <p:sp>
        <p:nvSpPr>
          <p:cNvPr id="14" name="Text 12"/>
          <p:cNvSpPr/>
          <p:nvPr/>
        </p:nvSpPr>
        <p:spPr>
          <a:xfrm>
            <a:off x="612648" y="3054096"/>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Total eve minutes / charge</a:t>
            </a:r>
            <a:endParaRPr lang="en-US" sz="1000" dirty="0"/>
          </a:p>
        </p:txBody>
      </p:sp>
      <p:sp>
        <p:nvSpPr>
          <p:cNvPr id="15" name="Shape 13"/>
          <p:cNvSpPr/>
          <p:nvPr/>
        </p:nvSpPr>
        <p:spPr>
          <a:xfrm>
            <a:off x="457200" y="3566160"/>
            <a:ext cx="73152" cy="73152"/>
          </a:xfrm>
          <a:prstGeom prst="rect">
            <a:avLst/>
          </a:prstGeom>
          <a:solidFill>
            <a:srgbClr val="1E2761"/>
          </a:solidFill>
          <a:ln w="12700">
            <a:solidFill>
              <a:srgbClr val="1E2761"/>
            </a:solidFill>
            <a:prstDash val="solid"/>
          </a:ln>
        </p:spPr>
        <p:txBody>
          <a:bodyPr/>
          <a:lstStyle/>
          <a:p>
            <a:endParaRPr lang="en-US"/>
          </a:p>
        </p:txBody>
      </p:sp>
      <p:sp>
        <p:nvSpPr>
          <p:cNvPr id="16" name="Text 14"/>
          <p:cNvSpPr/>
          <p:nvPr/>
        </p:nvSpPr>
        <p:spPr>
          <a:xfrm>
            <a:off x="612648" y="3529584"/>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Total night minutes / charge</a:t>
            </a:r>
            <a:endParaRPr lang="en-US" sz="1000" dirty="0"/>
          </a:p>
        </p:txBody>
      </p:sp>
      <p:sp>
        <p:nvSpPr>
          <p:cNvPr id="17" name="Shape 15"/>
          <p:cNvSpPr/>
          <p:nvPr/>
        </p:nvSpPr>
        <p:spPr>
          <a:xfrm>
            <a:off x="457200" y="4041648"/>
            <a:ext cx="73152" cy="73152"/>
          </a:xfrm>
          <a:prstGeom prst="rect">
            <a:avLst/>
          </a:prstGeom>
          <a:solidFill>
            <a:srgbClr val="1E2761"/>
          </a:solidFill>
          <a:ln w="12700">
            <a:solidFill>
              <a:srgbClr val="1E2761"/>
            </a:solidFill>
            <a:prstDash val="solid"/>
          </a:ln>
        </p:spPr>
        <p:txBody>
          <a:bodyPr/>
          <a:lstStyle/>
          <a:p>
            <a:endParaRPr lang="en-US"/>
          </a:p>
        </p:txBody>
      </p:sp>
      <p:sp>
        <p:nvSpPr>
          <p:cNvPr id="18" name="Text 16"/>
          <p:cNvSpPr/>
          <p:nvPr/>
        </p:nvSpPr>
        <p:spPr>
          <a:xfrm>
            <a:off x="612648" y="4005072"/>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Total intl minutes / charge</a:t>
            </a:r>
            <a:endParaRPr lang="en-US" sz="1000" dirty="0"/>
          </a:p>
        </p:txBody>
      </p:sp>
      <p:sp>
        <p:nvSpPr>
          <p:cNvPr id="19" name="Shape 17"/>
          <p:cNvSpPr/>
          <p:nvPr/>
        </p:nvSpPr>
        <p:spPr>
          <a:xfrm>
            <a:off x="457200" y="4517136"/>
            <a:ext cx="73152" cy="73152"/>
          </a:xfrm>
          <a:prstGeom prst="rect">
            <a:avLst/>
          </a:prstGeom>
          <a:solidFill>
            <a:srgbClr val="1E2761"/>
          </a:solidFill>
          <a:ln w="12700">
            <a:solidFill>
              <a:srgbClr val="1E2761"/>
            </a:solidFill>
            <a:prstDash val="solid"/>
          </a:ln>
        </p:spPr>
        <p:txBody>
          <a:bodyPr/>
          <a:lstStyle/>
          <a:p>
            <a:endParaRPr lang="en-US"/>
          </a:p>
        </p:txBody>
      </p:sp>
      <p:sp>
        <p:nvSpPr>
          <p:cNvPr id="20" name="Text 18"/>
          <p:cNvSpPr/>
          <p:nvPr/>
        </p:nvSpPr>
        <p:spPr>
          <a:xfrm>
            <a:off x="612648" y="4480560"/>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Customer service calls</a:t>
            </a:r>
            <a:endParaRPr lang="en-US" sz="1000" dirty="0"/>
          </a:p>
        </p:txBody>
      </p:sp>
      <p:sp>
        <p:nvSpPr>
          <p:cNvPr id="21" name="Shape 19"/>
          <p:cNvSpPr/>
          <p:nvPr/>
        </p:nvSpPr>
        <p:spPr>
          <a:xfrm>
            <a:off x="3200400" y="1005840"/>
            <a:ext cx="2697480" cy="38404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3200400" y="1005840"/>
            <a:ext cx="2697480" cy="502920"/>
          </a:xfrm>
          <a:prstGeom prst="rect">
            <a:avLst/>
          </a:prstGeom>
          <a:solidFill>
            <a:srgbClr val="0891B2"/>
          </a:solidFill>
          <a:ln w="12700">
            <a:solidFill>
              <a:srgbClr val="0891B2"/>
            </a:solidFill>
            <a:prstDash val="solid"/>
          </a:ln>
        </p:spPr>
        <p:txBody>
          <a:bodyPr/>
          <a:lstStyle/>
          <a:p>
            <a:endParaRPr lang="en-US"/>
          </a:p>
        </p:txBody>
      </p:sp>
      <p:sp>
        <p:nvSpPr>
          <p:cNvPr id="23" name="Text 21"/>
          <p:cNvSpPr/>
          <p:nvPr/>
        </p:nvSpPr>
        <p:spPr>
          <a:xfrm>
            <a:off x="3291840" y="1005840"/>
            <a:ext cx="2514600" cy="502920"/>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Categorical Features</a:t>
            </a:r>
            <a:endParaRPr lang="en-US" sz="1200" dirty="0"/>
          </a:p>
        </p:txBody>
      </p:sp>
      <p:sp>
        <p:nvSpPr>
          <p:cNvPr id="24" name="Shape 22"/>
          <p:cNvSpPr/>
          <p:nvPr/>
        </p:nvSpPr>
        <p:spPr>
          <a:xfrm>
            <a:off x="3337560" y="1664208"/>
            <a:ext cx="73152" cy="73152"/>
          </a:xfrm>
          <a:prstGeom prst="rect">
            <a:avLst/>
          </a:prstGeom>
          <a:solidFill>
            <a:srgbClr val="0891B2"/>
          </a:solidFill>
          <a:ln w="12700">
            <a:solidFill>
              <a:srgbClr val="0891B2"/>
            </a:solidFill>
            <a:prstDash val="solid"/>
          </a:ln>
        </p:spPr>
        <p:txBody>
          <a:bodyPr/>
          <a:lstStyle/>
          <a:p>
            <a:endParaRPr lang="en-US"/>
          </a:p>
        </p:txBody>
      </p:sp>
      <p:sp>
        <p:nvSpPr>
          <p:cNvPr id="25" name="Text 23"/>
          <p:cNvSpPr/>
          <p:nvPr/>
        </p:nvSpPr>
        <p:spPr>
          <a:xfrm>
            <a:off x="3493008" y="1627632"/>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State (50 US states)</a:t>
            </a:r>
            <a:endParaRPr lang="en-US" sz="1000" dirty="0"/>
          </a:p>
        </p:txBody>
      </p:sp>
      <p:sp>
        <p:nvSpPr>
          <p:cNvPr id="26" name="Shape 24"/>
          <p:cNvSpPr/>
          <p:nvPr/>
        </p:nvSpPr>
        <p:spPr>
          <a:xfrm>
            <a:off x="3337560" y="2139696"/>
            <a:ext cx="73152" cy="73152"/>
          </a:xfrm>
          <a:prstGeom prst="rect">
            <a:avLst/>
          </a:prstGeom>
          <a:solidFill>
            <a:srgbClr val="0891B2"/>
          </a:solidFill>
          <a:ln w="12700">
            <a:solidFill>
              <a:srgbClr val="0891B2"/>
            </a:solidFill>
            <a:prstDash val="solid"/>
          </a:ln>
        </p:spPr>
        <p:txBody>
          <a:bodyPr/>
          <a:lstStyle/>
          <a:p>
            <a:endParaRPr lang="en-US"/>
          </a:p>
        </p:txBody>
      </p:sp>
      <p:sp>
        <p:nvSpPr>
          <p:cNvPr id="27" name="Text 25"/>
          <p:cNvSpPr/>
          <p:nvPr/>
        </p:nvSpPr>
        <p:spPr>
          <a:xfrm>
            <a:off x="3493008" y="2103120"/>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Area code (3 unique values)</a:t>
            </a:r>
            <a:endParaRPr lang="en-US" sz="1000" dirty="0"/>
          </a:p>
        </p:txBody>
      </p:sp>
      <p:sp>
        <p:nvSpPr>
          <p:cNvPr id="28" name="Shape 26"/>
          <p:cNvSpPr/>
          <p:nvPr/>
        </p:nvSpPr>
        <p:spPr>
          <a:xfrm>
            <a:off x="3337560" y="2615184"/>
            <a:ext cx="73152" cy="73152"/>
          </a:xfrm>
          <a:prstGeom prst="rect">
            <a:avLst/>
          </a:prstGeom>
          <a:solidFill>
            <a:srgbClr val="0891B2"/>
          </a:solidFill>
          <a:ln w="12700">
            <a:solidFill>
              <a:srgbClr val="0891B2"/>
            </a:solidFill>
            <a:prstDash val="solid"/>
          </a:ln>
        </p:spPr>
        <p:txBody>
          <a:bodyPr/>
          <a:lstStyle/>
          <a:p>
            <a:endParaRPr lang="en-US"/>
          </a:p>
        </p:txBody>
      </p:sp>
      <p:sp>
        <p:nvSpPr>
          <p:cNvPr id="29" name="Text 27"/>
          <p:cNvSpPr/>
          <p:nvPr/>
        </p:nvSpPr>
        <p:spPr>
          <a:xfrm>
            <a:off x="3493008" y="2578608"/>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International plan (Yes/No)</a:t>
            </a:r>
            <a:endParaRPr lang="en-US" sz="1000" dirty="0"/>
          </a:p>
        </p:txBody>
      </p:sp>
      <p:sp>
        <p:nvSpPr>
          <p:cNvPr id="30" name="Shape 28"/>
          <p:cNvSpPr/>
          <p:nvPr/>
        </p:nvSpPr>
        <p:spPr>
          <a:xfrm>
            <a:off x="3337560" y="3090672"/>
            <a:ext cx="73152" cy="73152"/>
          </a:xfrm>
          <a:prstGeom prst="rect">
            <a:avLst/>
          </a:prstGeom>
          <a:solidFill>
            <a:srgbClr val="0891B2"/>
          </a:solidFill>
          <a:ln w="12700">
            <a:solidFill>
              <a:srgbClr val="0891B2"/>
            </a:solidFill>
            <a:prstDash val="solid"/>
          </a:ln>
        </p:spPr>
        <p:txBody>
          <a:bodyPr/>
          <a:lstStyle/>
          <a:p>
            <a:endParaRPr lang="en-US"/>
          </a:p>
        </p:txBody>
      </p:sp>
      <p:sp>
        <p:nvSpPr>
          <p:cNvPr id="31" name="Text 29"/>
          <p:cNvSpPr/>
          <p:nvPr/>
        </p:nvSpPr>
        <p:spPr>
          <a:xfrm>
            <a:off x="3493008" y="3054096"/>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Voice mail plan (Yes/No)</a:t>
            </a:r>
            <a:endParaRPr lang="en-US" sz="1000" dirty="0"/>
          </a:p>
        </p:txBody>
      </p:sp>
      <p:sp>
        <p:nvSpPr>
          <p:cNvPr id="32" name="Shape 30"/>
          <p:cNvSpPr/>
          <p:nvPr/>
        </p:nvSpPr>
        <p:spPr>
          <a:xfrm>
            <a:off x="6080760" y="1005840"/>
            <a:ext cx="2697480" cy="38404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3" name="Shape 31"/>
          <p:cNvSpPr/>
          <p:nvPr/>
        </p:nvSpPr>
        <p:spPr>
          <a:xfrm>
            <a:off x="6080760" y="1005840"/>
            <a:ext cx="2697480" cy="502920"/>
          </a:xfrm>
          <a:prstGeom prst="rect">
            <a:avLst/>
          </a:prstGeom>
          <a:solidFill>
            <a:srgbClr val="1E2761"/>
          </a:solidFill>
          <a:ln w="12700">
            <a:solidFill>
              <a:srgbClr val="1E2761"/>
            </a:solidFill>
            <a:prstDash val="solid"/>
          </a:ln>
        </p:spPr>
        <p:txBody>
          <a:bodyPr/>
          <a:lstStyle/>
          <a:p>
            <a:endParaRPr lang="en-US"/>
          </a:p>
        </p:txBody>
      </p:sp>
      <p:sp>
        <p:nvSpPr>
          <p:cNvPr id="34" name="Text 32"/>
          <p:cNvSpPr/>
          <p:nvPr/>
        </p:nvSpPr>
        <p:spPr>
          <a:xfrm>
            <a:off x="6172200" y="1005840"/>
            <a:ext cx="2514600" cy="502920"/>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Engineered Features</a:t>
            </a:r>
            <a:endParaRPr lang="en-US" sz="1200" dirty="0"/>
          </a:p>
        </p:txBody>
      </p:sp>
      <p:sp>
        <p:nvSpPr>
          <p:cNvPr id="35" name="Shape 33"/>
          <p:cNvSpPr/>
          <p:nvPr/>
        </p:nvSpPr>
        <p:spPr>
          <a:xfrm>
            <a:off x="6217920" y="1664208"/>
            <a:ext cx="73152" cy="73152"/>
          </a:xfrm>
          <a:prstGeom prst="rect">
            <a:avLst/>
          </a:prstGeom>
          <a:solidFill>
            <a:srgbClr val="1E2761"/>
          </a:solidFill>
          <a:ln w="12700">
            <a:solidFill>
              <a:srgbClr val="1E2761"/>
            </a:solidFill>
            <a:prstDash val="solid"/>
          </a:ln>
        </p:spPr>
        <p:txBody>
          <a:bodyPr/>
          <a:lstStyle/>
          <a:p>
            <a:endParaRPr lang="en-US"/>
          </a:p>
        </p:txBody>
      </p:sp>
      <p:sp>
        <p:nvSpPr>
          <p:cNvPr id="36" name="Text 34"/>
          <p:cNvSpPr/>
          <p:nvPr/>
        </p:nvSpPr>
        <p:spPr>
          <a:xfrm>
            <a:off x="6373368" y="1627632"/>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total_minutes (sum all periods)</a:t>
            </a:r>
            <a:endParaRPr lang="en-US" sz="1000" dirty="0"/>
          </a:p>
        </p:txBody>
      </p:sp>
      <p:sp>
        <p:nvSpPr>
          <p:cNvPr id="37" name="Shape 35"/>
          <p:cNvSpPr/>
          <p:nvPr/>
        </p:nvSpPr>
        <p:spPr>
          <a:xfrm>
            <a:off x="6217920" y="2139696"/>
            <a:ext cx="73152" cy="73152"/>
          </a:xfrm>
          <a:prstGeom prst="rect">
            <a:avLst/>
          </a:prstGeom>
          <a:solidFill>
            <a:srgbClr val="1E2761"/>
          </a:solidFill>
          <a:ln w="12700">
            <a:solidFill>
              <a:srgbClr val="1E2761"/>
            </a:solidFill>
            <a:prstDash val="solid"/>
          </a:ln>
        </p:spPr>
        <p:txBody>
          <a:bodyPr/>
          <a:lstStyle/>
          <a:p>
            <a:endParaRPr lang="en-US"/>
          </a:p>
        </p:txBody>
      </p:sp>
      <p:sp>
        <p:nvSpPr>
          <p:cNvPr id="38" name="Text 36"/>
          <p:cNvSpPr/>
          <p:nvPr/>
        </p:nvSpPr>
        <p:spPr>
          <a:xfrm>
            <a:off x="6373368" y="2103120"/>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total_charges (sum all periods)</a:t>
            </a:r>
            <a:endParaRPr lang="en-US" sz="1000" dirty="0"/>
          </a:p>
        </p:txBody>
      </p:sp>
      <p:sp>
        <p:nvSpPr>
          <p:cNvPr id="39" name="Shape 37"/>
          <p:cNvSpPr/>
          <p:nvPr/>
        </p:nvSpPr>
        <p:spPr>
          <a:xfrm>
            <a:off x="6217920" y="2615184"/>
            <a:ext cx="73152" cy="73152"/>
          </a:xfrm>
          <a:prstGeom prst="rect">
            <a:avLst/>
          </a:prstGeom>
          <a:solidFill>
            <a:srgbClr val="1E2761"/>
          </a:solidFill>
          <a:ln w="12700">
            <a:solidFill>
              <a:srgbClr val="1E2761"/>
            </a:solidFill>
            <a:prstDash val="solid"/>
          </a:ln>
        </p:spPr>
        <p:txBody>
          <a:bodyPr/>
          <a:lstStyle/>
          <a:p>
            <a:endParaRPr lang="en-US"/>
          </a:p>
        </p:txBody>
      </p:sp>
      <p:sp>
        <p:nvSpPr>
          <p:cNvPr id="40" name="Text 38"/>
          <p:cNvSpPr/>
          <p:nvPr/>
        </p:nvSpPr>
        <p:spPr>
          <a:xfrm>
            <a:off x="6373368" y="2578608"/>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intl_usage_ratio</a:t>
            </a:r>
            <a:endParaRPr lang="en-US" sz="1000" dirty="0"/>
          </a:p>
        </p:txBody>
      </p:sp>
      <p:sp>
        <p:nvSpPr>
          <p:cNvPr id="41" name="Shape 39"/>
          <p:cNvSpPr/>
          <p:nvPr/>
        </p:nvSpPr>
        <p:spPr>
          <a:xfrm>
            <a:off x="6217920" y="3090672"/>
            <a:ext cx="73152" cy="73152"/>
          </a:xfrm>
          <a:prstGeom prst="rect">
            <a:avLst/>
          </a:prstGeom>
          <a:solidFill>
            <a:srgbClr val="1E2761"/>
          </a:solidFill>
          <a:ln w="12700">
            <a:solidFill>
              <a:srgbClr val="1E2761"/>
            </a:solidFill>
            <a:prstDash val="solid"/>
          </a:ln>
        </p:spPr>
        <p:txBody>
          <a:bodyPr/>
          <a:lstStyle/>
          <a:p>
            <a:endParaRPr lang="en-US"/>
          </a:p>
        </p:txBody>
      </p:sp>
      <p:sp>
        <p:nvSpPr>
          <p:cNvPr id="42" name="Text 40"/>
          <p:cNvSpPr/>
          <p:nvPr/>
        </p:nvSpPr>
        <p:spPr>
          <a:xfrm>
            <a:off x="6373368" y="3054096"/>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high_service_calls (≥3 calls)</a:t>
            </a:r>
            <a:endParaRPr lang="en-US" sz="1000" dirty="0"/>
          </a:p>
        </p:txBody>
      </p:sp>
      <p:sp>
        <p:nvSpPr>
          <p:cNvPr id="43" name="Shape 41"/>
          <p:cNvSpPr/>
          <p:nvPr/>
        </p:nvSpPr>
        <p:spPr>
          <a:xfrm>
            <a:off x="6217920" y="3566160"/>
            <a:ext cx="73152" cy="73152"/>
          </a:xfrm>
          <a:prstGeom prst="rect">
            <a:avLst/>
          </a:prstGeom>
          <a:solidFill>
            <a:srgbClr val="1E2761"/>
          </a:solidFill>
          <a:ln w="12700">
            <a:solidFill>
              <a:srgbClr val="1E2761"/>
            </a:solidFill>
            <a:prstDash val="solid"/>
          </a:ln>
        </p:spPr>
        <p:txBody>
          <a:bodyPr/>
          <a:lstStyle/>
          <a:p>
            <a:endParaRPr lang="en-US"/>
          </a:p>
        </p:txBody>
      </p:sp>
      <p:sp>
        <p:nvSpPr>
          <p:cNvPr id="44" name="Text 42"/>
          <p:cNvSpPr/>
          <p:nvPr/>
        </p:nvSpPr>
        <p:spPr>
          <a:xfrm>
            <a:off x="6373368" y="3529584"/>
            <a:ext cx="228600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account_length_group (new/mid/long)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a:noFill/>
          </a:ln>
        </p:spPr>
        <p:txBody>
          <a:bodyPr/>
          <a:lstStyle/>
          <a:p>
            <a:endParaRPr lang="en-US"/>
          </a:p>
        </p:txBody>
      </p:sp>
      <p:sp>
        <p:nvSpPr>
          <p:cNvPr id="3" name="Text 1"/>
          <p:cNvSpPr/>
          <p:nvPr/>
        </p:nvSpPr>
        <p:spPr>
          <a:xfrm>
            <a:off x="365760" y="164592"/>
            <a:ext cx="8229600" cy="59436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Preprocessing Steps</a:t>
            </a:r>
            <a:endParaRPr lang="en-US" sz="2800" dirty="0"/>
          </a:p>
        </p:txBody>
      </p:sp>
      <p:sp>
        <p:nvSpPr>
          <p:cNvPr id="4" name="Shape 2"/>
          <p:cNvSpPr/>
          <p:nvPr/>
        </p:nvSpPr>
        <p:spPr>
          <a:xfrm>
            <a:off x="320040" y="1051560"/>
            <a:ext cx="4114800" cy="11430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0040" y="1051560"/>
            <a:ext cx="502920" cy="1143000"/>
          </a:xfrm>
          <a:prstGeom prst="rect">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320040" y="1325880"/>
            <a:ext cx="502920" cy="548640"/>
          </a:xfrm>
          <a:prstGeom prst="rect">
            <a:avLst/>
          </a:prstGeom>
          <a:noFill/>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914400" y="1143000"/>
            <a:ext cx="3383280" cy="347472"/>
          </a:xfrm>
          <a:prstGeom prst="rect">
            <a:avLst/>
          </a:prstGeom>
          <a:noFill/>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Missing Value Check</a:t>
            </a:r>
            <a:endParaRPr lang="en-US" sz="1200" dirty="0"/>
          </a:p>
        </p:txBody>
      </p:sp>
      <p:sp>
        <p:nvSpPr>
          <p:cNvPr id="8" name="Text 6"/>
          <p:cNvSpPr/>
          <p:nvPr/>
        </p:nvSpPr>
        <p:spPr>
          <a:xfrm>
            <a:off x="914400" y="1508760"/>
            <a:ext cx="3383280" cy="59436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Confirmed zero missing values across all 21 columns. No imputation required.</a:t>
            </a:r>
            <a:endParaRPr lang="en-US" sz="1000" dirty="0"/>
          </a:p>
        </p:txBody>
      </p:sp>
      <p:sp>
        <p:nvSpPr>
          <p:cNvPr id="9" name="Shape 7"/>
          <p:cNvSpPr/>
          <p:nvPr/>
        </p:nvSpPr>
        <p:spPr>
          <a:xfrm>
            <a:off x="320040" y="2377440"/>
            <a:ext cx="4114800" cy="11430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320040" y="2377440"/>
            <a:ext cx="502920" cy="1143000"/>
          </a:xfrm>
          <a:prstGeom prst="rect">
            <a:avLst/>
          </a:prstGeom>
          <a:solidFill>
            <a:srgbClr val="0891B2"/>
          </a:solidFill>
          <a:ln w="12700">
            <a:solidFill>
              <a:srgbClr val="0891B2"/>
            </a:solidFill>
            <a:prstDash val="solid"/>
          </a:ln>
        </p:spPr>
        <p:txBody>
          <a:bodyPr/>
          <a:lstStyle/>
          <a:p>
            <a:endParaRPr lang="en-US"/>
          </a:p>
        </p:txBody>
      </p:sp>
      <p:sp>
        <p:nvSpPr>
          <p:cNvPr id="11" name="Text 9"/>
          <p:cNvSpPr/>
          <p:nvPr/>
        </p:nvSpPr>
        <p:spPr>
          <a:xfrm>
            <a:off x="320040" y="2651760"/>
            <a:ext cx="502920" cy="548640"/>
          </a:xfrm>
          <a:prstGeom prst="rect">
            <a:avLst/>
          </a:prstGeom>
          <a:noFill/>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914400" y="2468880"/>
            <a:ext cx="3383280" cy="347472"/>
          </a:xfrm>
          <a:prstGeom prst="rect">
            <a:avLst/>
          </a:prstGeom>
          <a:noFill/>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Data Type Fixing</a:t>
            </a:r>
            <a:endParaRPr lang="en-US" sz="1200" dirty="0"/>
          </a:p>
        </p:txBody>
      </p:sp>
      <p:sp>
        <p:nvSpPr>
          <p:cNvPr id="13" name="Text 11"/>
          <p:cNvSpPr/>
          <p:nvPr/>
        </p:nvSpPr>
        <p:spPr>
          <a:xfrm>
            <a:off x="914400" y="2834640"/>
            <a:ext cx="3383280" cy="59436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State &amp; Area code → category type. International plan &amp; Voice mail plan mapped Yes→1, No→0.</a:t>
            </a:r>
            <a:endParaRPr lang="en-US" sz="1000" dirty="0"/>
          </a:p>
        </p:txBody>
      </p:sp>
      <p:sp>
        <p:nvSpPr>
          <p:cNvPr id="14" name="Shape 12"/>
          <p:cNvSpPr/>
          <p:nvPr/>
        </p:nvSpPr>
        <p:spPr>
          <a:xfrm>
            <a:off x="320040" y="3703320"/>
            <a:ext cx="4114800" cy="11430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320040" y="3703320"/>
            <a:ext cx="502920" cy="1143000"/>
          </a:xfrm>
          <a:prstGeom prst="rect">
            <a:avLst/>
          </a:prstGeom>
          <a:solidFill>
            <a:srgbClr val="1E2761"/>
          </a:solidFill>
          <a:ln w="12700">
            <a:solidFill>
              <a:srgbClr val="1E2761"/>
            </a:solidFill>
            <a:prstDash val="solid"/>
          </a:ln>
        </p:spPr>
        <p:txBody>
          <a:bodyPr/>
          <a:lstStyle/>
          <a:p>
            <a:endParaRPr lang="en-US"/>
          </a:p>
        </p:txBody>
      </p:sp>
      <p:sp>
        <p:nvSpPr>
          <p:cNvPr id="16" name="Text 14"/>
          <p:cNvSpPr/>
          <p:nvPr/>
        </p:nvSpPr>
        <p:spPr>
          <a:xfrm>
            <a:off x="320040" y="3977640"/>
            <a:ext cx="502920" cy="548640"/>
          </a:xfrm>
          <a:prstGeom prst="rect">
            <a:avLst/>
          </a:prstGeom>
          <a:noFill/>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914400" y="3794760"/>
            <a:ext cx="3383280" cy="347472"/>
          </a:xfrm>
          <a:prstGeom prst="rect">
            <a:avLst/>
          </a:prstGeom>
          <a:noFill/>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Dropping Identifiers</a:t>
            </a:r>
            <a:endParaRPr lang="en-US" sz="1200" dirty="0"/>
          </a:p>
        </p:txBody>
      </p:sp>
      <p:sp>
        <p:nvSpPr>
          <p:cNvPr id="18" name="Text 16"/>
          <p:cNvSpPr/>
          <p:nvPr/>
        </p:nvSpPr>
        <p:spPr>
          <a:xfrm>
            <a:off x="914400" y="4160520"/>
            <a:ext cx="3383280" cy="59436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Dropped State and Area code — high-cardinality identifiers not useful for modeling.</a:t>
            </a:r>
            <a:endParaRPr lang="en-US" sz="1000" dirty="0"/>
          </a:p>
        </p:txBody>
      </p:sp>
      <p:sp>
        <p:nvSpPr>
          <p:cNvPr id="19" name="Shape 17"/>
          <p:cNvSpPr/>
          <p:nvPr/>
        </p:nvSpPr>
        <p:spPr>
          <a:xfrm>
            <a:off x="4754880" y="1051560"/>
            <a:ext cx="4114800" cy="11430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4754880" y="1051560"/>
            <a:ext cx="502920" cy="1143000"/>
          </a:xfrm>
          <a:prstGeom prst="rect">
            <a:avLst/>
          </a:prstGeom>
          <a:solidFill>
            <a:srgbClr val="EF4444"/>
          </a:solidFill>
          <a:ln w="12700">
            <a:solidFill>
              <a:srgbClr val="EF4444"/>
            </a:solidFill>
            <a:prstDash val="solid"/>
          </a:ln>
        </p:spPr>
        <p:txBody>
          <a:bodyPr/>
          <a:lstStyle/>
          <a:p>
            <a:endParaRPr lang="en-US"/>
          </a:p>
        </p:txBody>
      </p:sp>
      <p:sp>
        <p:nvSpPr>
          <p:cNvPr id="21" name="Text 19"/>
          <p:cNvSpPr/>
          <p:nvPr/>
        </p:nvSpPr>
        <p:spPr>
          <a:xfrm>
            <a:off x="4754880" y="1325880"/>
            <a:ext cx="502920" cy="548640"/>
          </a:xfrm>
          <a:prstGeom prst="rect">
            <a:avLst/>
          </a:prstGeom>
          <a:noFill/>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5349240" y="1143000"/>
            <a:ext cx="3383280" cy="347472"/>
          </a:xfrm>
          <a:prstGeom prst="rect">
            <a:avLst/>
          </a:prstGeom>
          <a:noFill/>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Feature Engineering</a:t>
            </a:r>
            <a:endParaRPr lang="en-US" sz="1200" dirty="0"/>
          </a:p>
        </p:txBody>
      </p:sp>
      <p:sp>
        <p:nvSpPr>
          <p:cNvPr id="23" name="Text 21"/>
          <p:cNvSpPr/>
          <p:nvPr/>
        </p:nvSpPr>
        <p:spPr>
          <a:xfrm>
            <a:off x="5349240" y="1508760"/>
            <a:ext cx="3383280" cy="59436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Created: total_minutes, total_charges, intl_usage_ratio, high_service_calls (≥3), account_length_group.</a:t>
            </a:r>
            <a:endParaRPr lang="en-US" sz="1000" dirty="0"/>
          </a:p>
        </p:txBody>
      </p:sp>
      <p:sp>
        <p:nvSpPr>
          <p:cNvPr id="24" name="Shape 22"/>
          <p:cNvSpPr/>
          <p:nvPr/>
        </p:nvSpPr>
        <p:spPr>
          <a:xfrm>
            <a:off x="4754880" y="2377440"/>
            <a:ext cx="4114800" cy="11430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4754880" y="2377440"/>
            <a:ext cx="502920" cy="1143000"/>
          </a:xfrm>
          <a:prstGeom prst="rect">
            <a:avLst/>
          </a:prstGeom>
          <a:solidFill>
            <a:srgbClr val="1E2761"/>
          </a:solidFill>
          <a:ln w="12700">
            <a:solidFill>
              <a:srgbClr val="1E2761"/>
            </a:solidFill>
            <a:prstDash val="solid"/>
          </a:ln>
        </p:spPr>
        <p:txBody>
          <a:bodyPr/>
          <a:lstStyle/>
          <a:p>
            <a:endParaRPr lang="en-US"/>
          </a:p>
        </p:txBody>
      </p:sp>
      <p:sp>
        <p:nvSpPr>
          <p:cNvPr id="26" name="Text 24"/>
          <p:cNvSpPr/>
          <p:nvPr/>
        </p:nvSpPr>
        <p:spPr>
          <a:xfrm>
            <a:off x="4754880" y="2651760"/>
            <a:ext cx="502920" cy="548640"/>
          </a:xfrm>
          <a:prstGeom prst="rect">
            <a:avLst/>
          </a:prstGeom>
          <a:noFill/>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7" name="Text 25"/>
          <p:cNvSpPr/>
          <p:nvPr/>
        </p:nvSpPr>
        <p:spPr>
          <a:xfrm>
            <a:off x="5349240" y="2468880"/>
            <a:ext cx="3383280" cy="347472"/>
          </a:xfrm>
          <a:prstGeom prst="rect">
            <a:avLst/>
          </a:prstGeom>
          <a:noFill/>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Encoding Categoricals</a:t>
            </a:r>
            <a:endParaRPr lang="en-US" sz="1200" dirty="0"/>
          </a:p>
        </p:txBody>
      </p:sp>
      <p:sp>
        <p:nvSpPr>
          <p:cNvPr id="28" name="Text 26"/>
          <p:cNvSpPr/>
          <p:nvPr/>
        </p:nvSpPr>
        <p:spPr>
          <a:xfrm>
            <a:off x="5349240" y="2834640"/>
            <a:ext cx="3383280" cy="59436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get_dummies() applied to International plan, Voice mail plan, and account_length_group. drop_first=True to avoid multicollinearity.</a:t>
            </a:r>
            <a:endParaRPr lang="en-US" sz="1000" dirty="0"/>
          </a:p>
        </p:txBody>
      </p:sp>
      <p:sp>
        <p:nvSpPr>
          <p:cNvPr id="29" name="Shape 27"/>
          <p:cNvSpPr/>
          <p:nvPr/>
        </p:nvSpPr>
        <p:spPr>
          <a:xfrm>
            <a:off x="4754880" y="3703320"/>
            <a:ext cx="4114800" cy="11430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0" name="Shape 28"/>
          <p:cNvSpPr/>
          <p:nvPr/>
        </p:nvSpPr>
        <p:spPr>
          <a:xfrm>
            <a:off x="4754880" y="3703320"/>
            <a:ext cx="502920" cy="1143000"/>
          </a:xfrm>
          <a:prstGeom prst="rect">
            <a:avLst/>
          </a:prstGeom>
          <a:solidFill>
            <a:srgbClr val="0891B2"/>
          </a:solidFill>
          <a:ln w="12700">
            <a:solidFill>
              <a:srgbClr val="0891B2"/>
            </a:solidFill>
            <a:prstDash val="solid"/>
          </a:ln>
        </p:spPr>
        <p:txBody>
          <a:bodyPr/>
          <a:lstStyle/>
          <a:p>
            <a:endParaRPr lang="en-US"/>
          </a:p>
        </p:txBody>
      </p:sp>
      <p:sp>
        <p:nvSpPr>
          <p:cNvPr id="31" name="Text 29"/>
          <p:cNvSpPr/>
          <p:nvPr/>
        </p:nvSpPr>
        <p:spPr>
          <a:xfrm>
            <a:off x="4754880" y="3977640"/>
            <a:ext cx="502920" cy="548640"/>
          </a:xfrm>
          <a:prstGeom prst="rect">
            <a:avLst/>
          </a:prstGeom>
          <a:noFill/>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2" name="Text 30"/>
          <p:cNvSpPr/>
          <p:nvPr/>
        </p:nvSpPr>
        <p:spPr>
          <a:xfrm>
            <a:off x="5349240" y="3794760"/>
            <a:ext cx="3383280" cy="347472"/>
          </a:xfrm>
          <a:prstGeom prst="rect">
            <a:avLst/>
          </a:prstGeom>
          <a:noFill/>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StandardScaler Normalization</a:t>
            </a:r>
            <a:endParaRPr lang="en-US" sz="1200" dirty="0"/>
          </a:p>
        </p:txBody>
      </p:sp>
      <p:sp>
        <p:nvSpPr>
          <p:cNvPr id="33" name="Text 31"/>
          <p:cNvSpPr/>
          <p:nvPr/>
        </p:nvSpPr>
        <p:spPr>
          <a:xfrm>
            <a:off x="5349240" y="4160520"/>
            <a:ext cx="3383280" cy="59436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All numeric features scaled to zero mean, unit variance. Applied AFTER train/test split to prevent data leakage.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a:noFill/>
          </a:ln>
        </p:spPr>
        <p:txBody>
          <a:bodyPr/>
          <a:lstStyle/>
          <a:p>
            <a:endParaRPr lang="en-US"/>
          </a:p>
        </p:txBody>
      </p:sp>
      <p:sp>
        <p:nvSpPr>
          <p:cNvPr id="3" name="Text 1"/>
          <p:cNvSpPr/>
          <p:nvPr/>
        </p:nvSpPr>
        <p:spPr>
          <a:xfrm>
            <a:off x="365760" y="164592"/>
            <a:ext cx="8229600" cy="59436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Class Imbalance</a:t>
            </a:r>
            <a:endParaRPr lang="en-US" sz="2800" dirty="0"/>
          </a:p>
        </p:txBody>
      </p:sp>
      <p:sp>
        <p:nvSpPr>
          <p:cNvPr id="4" name="Text 2"/>
          <p:cNvSpPr/>
          <p:nvPr/>
        </p:nvSpPr>
        <p:spPr>
          <a:xfrm>
            <a:off x="365760" y="1005840"/>
            <a:ext cx="4114800" cy="36576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Churn Distribution</a:t>
            </a:r>
            <a:endParaRPr lang="en-US" sz="1400" dirty="0"/>
          </a:p>
        </p:txBody>
      </p:sp>
      <p:sp>
        <p:nvSpPr>
          <p:cNvPr id="5" name="Shape 3"/>
          <p:cNvSpPr/>
          <p:nvPr/>
        </p:nvSpPr>
        <p:spPr>
          <a:xfrm>
            <a:off x="365760" y="1508760"/>
            <a:ext cx="731520" cy="2377440"/>
          </a:xfrm>
          <a:prstGeom prst="rect">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137160" y="3931920"/>
            <a:ext cx="1188720" cy="320040"/>
          </a:xfrm>
          <a:prstGeom prst="rect">
            <a:avLst/>
          </a:prstGeom>
          <a:noFill/>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No Churn</a:t>
            </a:r>
            <a:endParaRPr lang="en-US" sz="1000" dirty="0"/>
          </a:p>
        </p:txBody>
      </p:sp>
      <p:sp>
        <p:nvSpPr>
          <p:cNvPr id="7" name="Text 5"/>
          <p:cNvSpPr/>
          <p:nvPr/>
        </p:nvSpPr>
        <p:spPr>
          <a:xfrm>
            <a:off x="137160" y="1234440"/>
            <a:ext cx="1188720" cy="320040"/>
          </a:xfrm>
          <a:prstGeom prst="rect">
            <a:avLst/>
          </a:prstGeom>
          <a:noFill/>
        </p:spPr>
        <p:txBody>
          <a:bodyPr wrap="square" lIns="0" tIns="0" rIns="0" bIns="0" rtlCol="0" anchor="ctr"/>
          <a:lstStyle/>
          <a:p>
            <a:pPr marL="0" indent="0" algn="ctr">
              <a:buNone/>
            </a:pPr>
            <a:r>
              <a:rPr lang="en-US" sz="1200" b="1" dirty="0">
                <a:solidFill>
                  <a:srgbClr val="0891B2"/>
                </a:solidFill>
                <a:latin typeface="Calibri" pitchFamily="34" charset="0"/>
                <a:ea typeface="Calibri" pitchFamily="34" charset="-122"/>
                <a:cs typeface="Calibri" pitchFamily="34" charset="-120"/>
              </a:rPr>
              <a:t>85.5%</a:t>
            </a:r>
            <a:endParaRPr lang="en-US" sz="1200" dirty="0"/>
          </a:p>
        </p:txBody>
      </p:sp>
      <p:sp>
        <p:nvSpPr>
          <p:cNvPr id="8" name="Text 6"/>
          <p:cNvSpPr/>
          <p:nvPr/>
        </p:nvSpPr>
        <p:spPr>
          <a:xfrm>
            <a:off x="137160" y="2331720"/>
            <a:ext cx="1188720" cy="320040"/>
          </a:xfrm>
          <a:prstGeom prst="rect">
            <a:avLst/>
          </a:prstGeom>
          <a:noFill/>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2,278</a:t>
            </a:r>
            <a:endParaRPr lang="en-US" sz="1100" dirty="0"/>
          </a:p>
        </p:txBody>
      </p:sp>
      <p:sp>
        <p:nvSpPr>
          <p:cNvPr id="9" name="Shape 7"/>
          <p:cNvSpPr/>
          <p:nvPr/>
        </p:nvSpPr>
        <p:spPr>
          <a:xfrm>
            <a:off x="1828800" y="2962656"/>
            <a:ext cx="731520" cy="923544"/>
          </a:xfrm>
          <a:prstGeom prst="rect">
            <a:avLst/>
          </a:prstGeom>
          <a:solidFill>
            <a:srgbClr val="EF4444"/>
          </a:solidFill>
          <a:ln w="12700">
            <a:solidFill>
              <a:srgbClr val="EF4444"/>
            </a:solidFill>
            <a:prstDash val="solid"/>
          </a:ln>
        </p:spPr>
        <p:txBody>
          <a:bodyPr/>
          <a:lstStyle/>
          <a:p>
            <a:endParaRPr lang="en-US"/>
          </a:p>
        </p:txBody>
      </p:sp>
      <p:sp>
        <p:nvSpPr>
          <p:cNvPr id="10" name="Text 8"/>
          <p:cNvSpPr/>
          <p:nvPr/>
        </p:nvSpPr>
        <p:spPr>
          <a:xfrm>
            <a:off x="1600200" y="3931920"/>
            <a:ext cx="1188720" cy="320040"/>
          </a:xfrm>
          <a:prstGeom prst="rect">
            <a:avLst/>
          </a:prstGeom>
          <a:noFill/>
        </p:spPr>
        <p:txBody>
          <a:bodyPr wrap="square" lIns="0" tIns="0" rIns="0" bIns="0" rtlCol="0" anchor="ctr"/>
          <a:lstStyle/>
          <a:p>
            <a:pPr marL="0" indent="0" algn="ctr">
              <a:buNone/>
            </a:pPr>
            <a:r>
              <a:rPr lang="en-US" sz="1000" dirty="0">
                <a:solidFill>
                  <a:srgbClr val="1E2761"/>
                </a:solidFill>
                <a:latin typeface="Calibri" pitchFamily="34" charset="0"/>
                <a:ea typeface="Calibri" pitchFamily="34" charset="-122"/>
                <a:cs typeface="Calibri" pitchFamily="34" charset="-120"/>
              </a:rPr>
              <a:t>Churn</a:t>
            </a:r>
            <a:endParaRPr lang="en-US" sz="1000" dirty="0"/>
          </a:p>
        </p:txBody>
      </p:sp>
      <p:sp>
        <p:nvSpPr>
          <p:cNvPr id="11" name="Text 9"/>
          <p:cNvSpPr/>
          <p:nvPr/>
        </p:nvSpPr>
        <p:spPr>
          <a:xfrm>
            <a:off x="1600200" y="2651760"/>
            <a:ext cx="1188720" cy="320040"/>
          </a:xfrm>
          <a:prstGeom prst="rect">
            <a:avLst/>
          </a:prstGeom>
          <a:noFill/>
        </p:spPr>
        <p:txBody>
          <a:bodyPr wrap="square" lIns="0" tIns="0" rIns="0" bIns="0" rtlCol="0" anchor="ctr"/>
          <a:lstStyle/>
          <a:p>
            <a:pPr marL="0" indent="0" algn="ctr">
              <a:buNone/>
            </a:pPr>
            <a:r>
              <a:rPr lang="en-US" sz="1200" b="1" dirty="0">
                <a:solidFill>
                  <a:srgbClr val="EF4444"/>
                </a:solidFill>
                <a:latin typeface="Calibri" pitchFamily="34" charset="0"/>
                <a:ea typeface="Calibri" pitchFamily="34" charset="-122"/>
                <a:cs typeface="Calibri" pitchFamily="34" charset="-120"/>
              </a:rPr>
              <a:t>14.5%</a:t>
            </a:r>
            <a:endParaRPr lang="en-US" sz="1200" dirty="0"/>
          </a:p>
        </p:txBody>
      </p:sp>
      <p:sp>
        <p:nvSpPr>
          <p:cNvPr id="12" name="Text 10"/>
          <p:cNvSpPr/>
          <p:nvPr/>
        </p:nvSpPr>
        <p:spPr>
          <a:xfrm>
            <a:off x="1600200" y="3154680"/>
            <a:ext cx="1188720" cy="320040"/>
          </a:xfrm>
          <a:prstGeom prst="rect">
            <a:avLst/>
          </a:prstGeom>
          <a:noFill/>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388</a:t>
            </a:r>
            <a:endParaRPr lang="en-US" sz="1100" dirty="0"/>
          </a:p>
        </p:txBody>
      </p:sp>
      <p:sp>
        <p:nvSpPr>
          <p:cNvPr id="13" name="Shape 11"/>
          <p:cNvSpPr/>
          <p:nvPr/>
        </p:nvSpPr>
        <p:spPr>
          <a:xfrm>
            <a:off x="365760" y="4343400"/>
            <a:ext cx="2651760" cy="457200"/>
          </a:xfrm>
          <a:prstGeom prst="rect">
            <a:avLst/>
          </a:prstGeom>
          <a:solidFill>
            <a:srgbClr val="1E2761"/>
          </a:solidFill>
          <a:ln w="12700">
            <a:solidFill>
              <a:srgbClr val="1E2761"/>
            </a:solidFill>
            <a:prstDash val="solid"/>
          </a:ln>
        </p:spPr>
        <p:txBody>
          <a:bodyPr/>
          <a:lstStyle/>
          <a:p>
            <a:endParaRPr lang="en-US"/>
          </a:p>
        </p:txBody>
      </p:sp>
      <p:sp>
        <p:nvSpPr>
          <p:cNvPr id="14" name="Text 12"/>
          <p:cNvSpPr/>
          <p:nvPr/>
        </p:nvSpPr>
        <p:spPr>
          <a:xfrm>
            <a:off x="365760" y="4343400"/>
            <a:ext cx="2651760" cy="457200"/>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~6:1 imbalance ratio</a:t>
            </a:r>
            <a:endParaRPr lang="en-US" sz="1200" dirty="0"/>
          </a:p>
        </p:txBody>
      </p:sp>
      <p:sp>
        <p:nvSpPr>
          <p:cNvPr id="15" name="Shape 13"/>
          <p:cNvSpPr/>
          <p:nvPr/>
        </p:nvSpPr>
        <p:spPr>
          <a:xfrm>
            <a:off x="3657600" y="1005840"/>
            <a:ext cx="512064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3657600" y="1005840"/>
            <a:ext cx="91440" cy="1234440"/>
          </a:xfrm>
          <a:prstGeom prst="rect">
            <a:avLst/>
          </a:prstGeom>
          <a:solidFill>
            <a:srgbClr val="EF4444"/>
          </a:solidFill>
          <a:ln w="12700">
            <a:solidFill>
              <a:srgbClr val="EF4444"/>
            </a:solidFill>
            <a:prstDash val="solid"/>
          </a:ln>
        </p:spPr>
        <p:txBody>
          <a:bodyPr/>
          <a:lstStyle/>
          <a:p>
            <a:endParaRPr lang="en-US"/>
          </a:p>
        </p:txBody>
      </p:sp>
      <p:sp>
        <p:nvSpPr>
          <p:cNvPr id="17" name="Text 15"/>
          <p:cNvSpPr/>
          <p:nvPr/>
        </p:nvSpPr>
        <p:spPr>
          <a:xfrm>
            <a:off x="3840480" y="1097280"/>
            <a:ext cx="4754880" cy="347472"/>
          </a:xfrm>
          <a:prstGeom prst="rect">
            <a:avLst/>
          </a:prstGeom>
          <a:noFill/>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Why It Matters</a:t>
            </a:r>
            <a:endParaRPr lang="en-US" sz="1200" dirty="0"/>
          </a:p>
        </p:txBody>
      </p:sp>
      <p:sp>
        <p:nvSpPr>
          <p:cNvPr id="18" name="Text 16"/>
          <p:cNvSpPr/>
          <p:nvPr/>
        </p:nvSpPr>
        <p:spPr>
          <a:xfrm>
            <a:off x="3840480" y="1481328"/>
            <a:ext cx="4754880" cy="64008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A naive model predicting 'No Churn' for everyone achieves 85.5% accuracy — but catches zero churners. Accuracy is a misleading metric here.</a:t>
            </a:r>
            <a:endParaRPr lang="en-US" sz="1000" dirty="0"/>
          </a:p>
        </p:txBody>
      </p:sp>
      <p:sp>
        <p:nvSpPr>
          <p:cNvPr id="19" name="Shape 17"/>
          <p:cNvSpPr/>
          <p:nvPr/>
        </p:nvSpPr>
        <p:spPr>
          <a:xfrm>
            <a:off x="3657600" y="2395728"/>
            <a:ext cx="512064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3657600" y="2395728"/>
            <a:ext cx="91440" cy="1234440"/>
          </a:xfrm>
          <a:prstGeom prst="rect">
            <a:avLst/>
          </a:prstGeom>
          <a:solidFill>
            <a:srgbClr val="0891B2"/>
          </a:solidFill>
          <a:ln w="12700">
            <a:solidFill>
              <a:srgbClr val="0891B2"/>
            </a:solidFill>
            <a:prstDash val="solid"/>
          </a:ln>
        </p:spPr>
        <p:txBody>
          <a:bodyPr/>
          <a:lstStyle/>
          <a:p>
            <a:endParaRPr lang="en-US"/>
          </a:p>
        </p:txBody>
      </p:sp>
      <p:sp>
        <p:nvSpPr>
          <p:cNvPr id="21" name="Text 19"/>
          <p:cNvSpPr/>
          <p:nvPr/>
        </p:nvSpPr>
        <p:spPr>
          <a:xfrm>
            <a:off x="3840480" y="2487168"/>
            <a:ext cx="4754880" cy="347472"/>
          </a:xfrm>
          <a:prstGeom prst="rect">
            <a:avLst/>
          </a:prstGeom>
          <a:noFill/>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What We Used: Class Weights</a:t>
            </a:r>
            <a:endParaRPr lang="en-US" sz="1200" dirty="0"/>
          </a:p>
        </p:txBody>
      </p:sp>
      <p:sp>
        <p:nvSpPr>
          <p:cNvPr id="22" name="Text 20"/>
          <p:cNvSpPr/>
          <p:nvPr/>
        </p:nvSpPr>
        <p:spPr>
          <a:xfrm>
            <a:off x="3840480" y="2871216"/>
            <a:ext cx="4754880" cy="64008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compute_class_weight('balanced') penalizes the model more for missing churn cases. No data is lost; the optimizer simply focuses on the minority class.</a:t>
            </a:r>
            <a:endParaRPr lang="en-US" sz="1000" dirty="0"/>
          </a:p>
        </p:txBody>
      </p:sp>
      <p:sp>
        <p:nvSpPr>
          <p:cNvPr id="23" name="Shape 21"/>
          <p:cNvSpPr/>
          <p:nvPr/>
        </p:nvSpPr>
        <p:spPr>
          <a:xfrm>
            <a:off x="3657600" y="3785616"/>
            <a:ext cx="512064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2"/>
          <p:cNvSpPr/>
          <p:nvPr/>
        </p:nvSpPr>
        <p:spPr>
          <a:xfrm>
            <a:off x="3657600" y="3785616"/>
            <a:ext cx="91440" cy="1234440"/>
          </a:xfrm>
          <a:prstGeom prst="rect">
            <a:avLst/>
          </a:prstGeom>
          <a:solidFill>
            <a:srgbClr val="1E2761"/>
          </a:solidFill>
          <a:ln w="12700">
            <a:solidFill>
              <a:srgbClr val="1E2761"/>
            </a:solidFill>
            <a:prstDash val="solid"/>
          </a:ln>
        </p:spPr>
        <p:txBody>
          <a:bodyPr/>
          <a:lstStyle/>
          <a:p>
            <a:endParaRPr lang="en-US"/>
          </a:p>
        </p:txBody>
      </p:sp>
      <p:sp>
        <p:nvSpPr>
          <p:cNvPr id="25" name="Text 23"/>
          <p:cNvSpPr/>
          <p:nvPr/>
        </p:nvSpPr>
        <p:spPr>
          <a:xfrm>
            <a:off x="3840480" y="3877056"/>
            <a:ext cx="4754880" cy="347472"/>
          </a:xfrm>
          <a:prstGeom prst="rect">
            <a:avLst/>
          </a:prstGeom>
          <a:noFill/>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Better Metrics to Use</a:t>
            </a:r>
            <a:endParaRPr lang="en-US" sz="1200" dirty="0"/>
          </a:p>
        </p:txBody>
      </p:sp>
      <p:sp>
        <p:nvSpPr>
          <p:cNvPr id="26" name="Text 24"/>
          <p:cNvSpPr/>
          <p:nvPr/>
        </p:nvSpPr>
        <p:spPr>
          <a:xfrm>
            <a:off x="3840480" y="4261104"/>
            <a:ext cx="4754880" cy="64008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Focus on Recall (catching real churners), Precision, F1-Score for Churn class, and AUC-ROC rather than overall accuracy.</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a:noFill/>
          </a:ln>
        </p:spPr>
        <p:txBody>
          <a:bodyPr/>
          <a:lstStyle/>
          <a:p>
            <a:endParaRPr lang="en-US"/>
          </a:p>
        </p:txBody>
      </p:sp>
      <p:sp>
        <p:nvSpPr>
          <p:cNvPr id="3" name="Text 1"/>
          <p:cNvSpPr/>
          <p:nvPr/>
        </p:nvSpPr>
        <p:spPr>
          <a:xfrm>
            <a:off x="365760" y="164592"/>
            <a:ext cx="8229600" cy="59436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Univariate Analysis — Key Findings</a:t>
            </a:r>
            <a:endParaRPr lang="en-US" sz="2800" dirty="0"/>
          </a:p>
        </p:txBody>
      </p:sp>
      <p:sp>
        <p:nvSpPr>
          <p:cNvPr id="5" name="Text 2"/>
          <p:cNvSpPr/>
          <p:nvPr/>
        </p:nvSpPr>
        <p:spPr>
          <a:xfrm>
            <a:off x="4754880" y="1005840"/>
            <a:ext cx="4023360" cy="347472"/>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Key Distribution Insights</a:t>
            </a:r>
            <a:endParaRPr lang="en-US" sz="1400" dirty="0"/>
          </a:p>
        </p:txBody>
      </p:sp>
      <p:sp>
        <p:nvSpPr>
          <p:cNvPr id="6" name="Shape 3"/>
          <p:cNvSpPr/>
          <p:nvPr/>
        </p:nvSpPr>
        <p:spPr>
          <a:xfrm>
            <a:off x="4754880" y="1417320"/>
            <a:ext cx="4023360" cy="6583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4"/>
          <p:cNvSpPr/>
          <p:nvPr/>
        </p:nvSpPr>
        <p:spPr>
          <a:xfrm>
            <a:off x="4892040" y="1472184"/>
            <a:ext cx="3749040" cy="256032"/>
          </a:xfrm>
          <a:prstGeom prst="rect">
            <a:avLst/>
          </a:prstGeom>
          <a:noFill/>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Total Day Minutes</a:t>
            </a:r>
            <a:endParaRPr lang="en-US" sz="1100" dirty="0"/>
          </a:p>
        </p:txBody>
      </p:sp>
      <p:sp>
        <p:nvSpPr>
          <p:cNvPr id="8" name="Text 5"/>
          <p:cNvSpPr/>
          <p:nvPr/>
        </p:nvSpPr>
        <p:spPr>
          <a:xfrm>
            <a:off x="4892040" y="1728216"/>
            <a:ext cx="3749040" cy="292608"/>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Approximately normal, mean ~180 min. Skews slightly right — heavy users visible above 300 min.</a:t>
            </a:r>
            <a:endParaRPr lang="en-US" sz="900" dirty="0"/>
          </a:p>
        </p:txBody>
      </p:sp>
      <p:sp>
        <p:nvSpPr>
          <p:cNvPr id="9" name="Shape 6"/>
          <p:cNvSpPr/>
          <p:nvPr/>
        </p:nvSpPr>
        <p:spPr>
          <a:xfrm>
            <a:off x="4754880" y="2167128"/>
            <a:ext cx="4023360" cy="6583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7"/>
          <p:cNvSpPr/>
          <p:nvPr/>
        </p:nvSpPr>
        <p:spPr>
          <a:xfrm>
            <a:off x="4892040" y="2221992"/>
            <a:ext cx="3749040" cy="256032"/>
          </a:xfrm>
          <a:prstGeom prst="rect">
            <a:avLst/>
          </a:prstGeom>
          <a:noFill/>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Customer Service Calls</a:t>
            </a:r>
            <a:endParaRPr lang="en-US" sz="1100" dirty="0"/>
          </a:p>
        </p:txBody>
      </p:sp>
      <p:sp>
        <p:nvSpPr>
          <p:cNvPr id="11" name="Text 8"/>
          <p:cNvSpPr/>
          <p:nvPr/>
        </p:nvSpPr>
        <p:spPr>
          <a:xfrm>
            <a:off x="4892040" y="2478024"/>
            <a:ext cx="3749040" cy="292608"/>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Right-skewed. Most customers call 1–3 times. Customers with 4+ calls show significantly higher churn.</a:t>
            </a:r>
            <a:endParaRPr lang="en-US" sz="900" dirty="0"/>
          </a:p>
        </p:txBody>
      </p:sp>
      <p:sp>
        <p:nvSpPr>
          <p:cNvPr id="12" name="Shape 9"/>
          <p:cNvSpPr/>
          <p:nvPr/>
        </p:nvSpPr>
        <p:spPr>
          <a:xfrm>
            <a:off x="4754880" y="2916936"/>
            <a:ext cx="4023360" cy="6583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Text 10"/>
          <p:cNvSpPr/>
          <p:nvPr/>
        </p:nvSpPr>
        <p:spPr>
          <a:xfrm>
            <a:off x="4892040" y="2971800"/>
            <a:ext cx="3749040" cy="256032"/>
          </a:xfrm>
          <a:prstGeom prst="rect">
            <a:avLst/>
          </a:prstGeom>
          <a:noFill/>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Account Length</a:t>
            </a:r>
            <a:endParaRPr lang="en-US" sz="1100" dirty="0"/>
          </a:p>
        </p:txBody>
      </p:sp>
      <p:sp>
        <p:nvSpPr>
          <p:cNvPr id="14" name="Text 11"/>
          <p:cNvSpPr/>
          <p:nvPr/>
        </p:nvSpPr>
        <p:spPr>
          <a:xfrm>
            <a:off x="4892040" y="3227832"/>
            <a:ext cx="3749040" cy="292608"/>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Roughly uniform (0–240 months). No strong relationship with churn alone.</a:t>
            </a:r>
            <a:endParaRPr lang="en-US" sz="900" dirty="0"/>
          </a:p>
        </p:txBody>
      </p:sp>
      <p:sp>
        <p:nvSpPr>
          <p:cNvPr id="15" name="Shape 12"/>
          <p:cNvSpPr/>
          <p:nvPr/>
        </p:nvSpPr>
        <p:spPr>
          <a:xfrm>
            <a:off x="4754880" y="3666744"/>
            <a:ext cx="4023360" cy="6583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Text 13"/>
          <p:cNvSpPr/>
          <p:nvPr/>
        </p:nvSpPr>
        <p:spPr>
          <a:xfrm>
            <a:off x="4892040" y="3721608"/>
            <a:ext cx="3749040" cy="256032"/>
          </a:xfrm>
          <a:prstGeom prst="rect">
            <a:avLst/>
          </a:prstGeom>
          <a:noFill/>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International Minutes</a:t>
            </a:r>
            <a:endParaRPr lang="en-US" sz="1100" dirty="0"/>
          </a:p>
        </p:txBody>
      </p:sp>
      <p:sp>
        <p:nvSpPr>
          <p:cNvPr id="17" name="Text 14"/>
          <p:cNvSpPr/>
          <p:nvPr/>
        </p:nvSpPr>
        <p:spPr>
          <a:xfrm>
            <a:off x="4892040" y="3977640"/>
            <a:ext cx="3749040" cy="292608"/>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Low volume overall (~10 min avg). Customers with int'l plan use far more minutes.</a:t>
            </a:r>
            <a:endParaRPr lang="en-US" sz="900" dirty="0"/>
          </a:p>
        </p:txBody>
      </p:sp>
      <p:sp>
        <p:nvSpPr>
          <p:cNvPr id="18" name="Shape 15"/>
          <p:cNvSpPr/>
          <p:nvPr/>
        </p:nvSpPr>
        <p:spPr>
          <a:xfrm>
            <a:off x="4754880" y="4416552"/>
            <a:ext cx="4023360" cy="6583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9" name="Text 16"/>
          <p:cNvSpPr/>
          <p:nvPr/>
        </p:nvSpPr>
        <p:spPr>
          <a:xfrm>
            <a:off x="4892040" y="4471416"/>
            <a:ext cx="3749040" cy="256032"/>
          </a:xfrm>
          <a:prstGeom prst="rect">
            <a:avLst/>
          </a:prstGeom>
          <a:noFill/>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Number of Voicemail Msgs</a:t>
            </a:r>
            <a:endParaRPr lang="en-US" sz="1100" dirty="0"/>
          </a:p>
        </p:txBody>
      </p:sp>
      <p:sp>
        <p:nvSpPr>
          <p:cNvPr id="20" name="Text 17"/>
          <p:cNvSpPr/>
          <p:nvPr/>
        </p:nvSpPr>
        <p:spPr>
          <a:xfrm>
            <a:off x="4892040" y="4727448"/>
            <a:ext cx="3749040" cy="292608"/>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Bimodal — large spike at 0 (no voicemail plan) and a smaller cluster at 20–45 msgs.</a:t>
            </a:r>
            <a:endParaRPr lang="en-US" sz="900" dirty="0"/>
          </a:p>
        </p:txBody>
      </p:sp>
      <p:sp>
        <p:nvSpPr>
          <p:cNvPr id="21" name="Text 18"/>
          <p:cNvSpPr/>
          <p:nvPr/>
        </p:nvSpPr>
        <p:spPr>
          <a:xfrm>
            <a:off x="365760" y="4023360"/>
            <a:ext cx="8229600" cy="274320"/>
          </a:xfrm>
          <a:prstGeom prst="rect">
            <a:avLst/>
          </a:prstGeom>
          <a:solidFill>
            <a:srgbClr val="1E2761"/>
          </a:solidFill>
          <a:ln>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 QQ plots confirmed near-normality for most usage features</a:t>
            </a:r>
            <a:endParaRPr lang="en-US" sz="900" dirty="0"/>
          </a:p>
        </p:txBody>
      </p:sp>
      <p:graphicFrame>
        <p:nvGraphicFramePr>
          <p:cNvPr id="23" name="Chart 0"/>
          <p:cNvGraphicFramePr/>
          <p:nvPr>
            <p:custDataLst>
              <p:tags r:id="rId2"/>
            </p:custDataLst>
          </p:nvPr>
        </p:nvGraphicFramePr>
        <p:xfrm>
          <a:off x="365760" y="1097280"/>
          <a:ext cx="4114800" cy="292608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a:noFill/>
          </a:ln>
        </p:spPr>
        <p:txBody>
          <a:bodyPr/>
          <a:lstStyle/>
          <a:p>
            <a:endParaRPr lang="en-US"/>
          </a:p>
        </p:txBody>
      </p:sp>
      <p:sp>
        <p:nvSpPr>
          <p:cNvPr id="3" name="Text 1"/>
          <p:cNvSpPr/>
          <p:nvPr/>
        </p:nvSpPr>
        <p:spPr>
          <a:xfrm>
            <a:off x="365760" y="164592"/>
            <a:ext cx="8229600" cy="59436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Correlations &amp; Churn Predictors</a:t>
            </a:r>
            <a:endParaRPr lang="en-US" sz="2800" dirty="0"/>
          </a:p>
        </p:txBody>
      </p:sp>
      <p:sp>
        <p:nvSpPr>
          <p:cNvPr id="4" name="Shape 2"/>
          <p:cNvSpPr/>
          <p:nvPr/>
        </p:nvSpPr>
        <p:spPr>
          <a:xfrm>
            <a:off x="365760" y="1005840"/>
            <a:ext cx="5029200" cy="35661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502920" y="1051560"/>
            <a:ext cx="4754880" cy="347472"/>
          </a:xfrm>
          <a:prstGeom prst="rect">
            <a:avLst/>
          </a:prstGeom>
          <a:noFill/>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Top Feature Correlations with Churn</a:t>
            </a:r>
            <a:endParaRPr lang="en-US" sz="1300" dirty="0"/>
          </a:p>
        </p:txBody>
      </p:sp>
      <p:sp>
        <p:nvSpPr>
          <p:cNvPr id="6" name="Text 4"/>
          <p:cNvSpPr/>
          <p:nvPr/>
        </p:nvSpPr>
        <p:spPr>
          <a:xfrm>
            <a:off x="502920" y="1490472"/>
            <a:ext cx="2011680" cy="292608"/>
          </a:xfrm>
          <a:prstGeom prst="rect">
            <a:avLst/>
          </a:prstGeom>
          <a:noFill/>
        </p:spPr>
        <p:txBody>
          <a:bodyPr wrap="square" lIns="0" tIns="0" rIns="0" bIns="0" rtlCol="0" anchor="ctr"/>
          <a:lstStyle/>
          <a:p>
            <a:pPr marL="0" indent="0" algn="r">
              <a:buNone/>
            </a:pPr>
            <a:r>
              <a:rPr lang="en-US" sz="950" dirty="0">
                <a:solidFill>
                  <a:srgbClr val="1E2761"/>
                </a:solidFill>
                <a:latin typeface="Calibri" pitchFamily="34" charset="0"/>
                <a:ea typeface="Calibri" pitchFamily="34" charset="-122"/>
                <a:cs typeface="Calibri" pitchFamily="34" charset="-120"/>
              </a:rPr>
              <a:t>International plan</a:t>
            </a:r>
            <a:endParaRPr lang="en-US" sz="950" dirty="0"/>
          </a:p>
        </p:txBody>
      </p:sp>
      <p:sp>
        <p:nvSpPr>
          <p:cNvPr id="7" name="Shape 5"/>
          <p:cNvSpPr/>
          <p:nvPr/>
        </p:nvSpPr>
        <p:spPr>
          <a:xfrm>
            <a:off x="2606040" y="1545336"/>
            <a:ext cx="2560320" cy="182880"/>
          </a:xfrm>
          <a:prstGeom prst="rect">
            <a:avLst/>
          </a:prstGeom>
          <a:solidFill>
            <a:srgbClr val="1E2761"/>
          </a:solidFill>
          <a:ln w="12700">
            <a:solidFill>
              <a:srgbClr val="1E2761"/>
            </a:solidFill>
            <a:prstDash val="solid"/>
          </a:ln>
        </p:spPr>
        <p:txBody>
          <a:bodyPr/>
          <a:lstStyle/>
          <a:p>
            <a:endParaRPr lang="en-US"/>
          </a:p>
        </p:txBody>
      </p:sp>
      <p:sp>
        <p:nvSpPr>
          <p:cNvPr id="8" name="Text 6"/>
          <p:cNvSpPr/>
          <p:nvPr/>
        </p:nvSpPr>
        <p:spPr>
          <a:xfrm>
            <a:off x="5212080" y="1490472"/>
            <a:ext cx="548640" cy="292608"/>
          </a:xfrm>
          <a:prstGeom prst="rect">
            <a:avLst/>
          </a:prstGeom>
          <a:noFill/>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+0.285</a:t>
            </a:r>
            <a:endParaRPr lang="en-US" sz="900" dirty="0"/>
          </a:p>
        </p:txBody>
      </p:sp>
      <p:sp>
        <p:nvSpPr>
          <p:cNvPr id="9" name="Text 7"/>
          <p:cNvSpPr/>
          <p:nvPr/>
        </p:nvSpPr>
        <p:spPr>
          <a:xfrm>
            <a:off x="502920" y="1874520"/>
            <a:ext cx="2011680" cy="292608"/>
          </a:xfrm>
          <a:prstGeom prst="rect">
            <a:avLst/>
          </a:prstGeom>
          <a:noFill/>
        </p:spPr>
        <p:txBody>
          <a:bodyPr wrap="square" lIns="0" tIns="0" rIns="0" bIns="0" rtlCol="0" anchor="ctr"/>
          <a:lstStyle/>
          <a:p>
            <a:pPr marL="0" indent="0" algn="r">
              <a:buNone/>
            </a:pPr>
            <a:r>
              <a:rPr lang="en-US" sz="950" dirty="0">
                <a:solidFill>
                  <a:srgbClr val="1E2761"/>
                </a:solidFill>
                <a:latin typeface="Calibri" pitchFamily="34" charset="0"/>
                <a:ea typeface="Calibri" pitchFamily="34" charset="-122"/>
                <a:cs typeface="Calibri" pitchFamily="34" charset="-120"/>
              </a:rPr>
              <a:t>high_service_calls</a:t>
            </a:r>
            <a:endParaRPr lang="en-US" sz="950" dirty="0"/>
          </a:p>
        </p:txBody>
      </p:sp>
      <p:sp>
        <p:nvSpPr>
          <p:cNvPr id="10" name="Shape 8"/>
          <p:cNvSpPr/>
          <p:nvPr/>
        </p:nvSpPr>
        <p:spPr>
          <a:xfrm>
            <a:off x="2606040" y="1929384"/>
            <a:ext cx="2263862" cy="182880"/>
          </a:xfrm>
          <a:prstGeom prst="rect">
            <a:avLst/>
          </a:prstGeom>
          <a:solidFill>
            <a:srgbClr val="1E2761"/>
          </a:solidFill>
          <a:ln w="12700">
            <a:solidFill>
              <a:srgbClr val="1E2761"/>
            </a:solidFill>
            <a:prstDash val="solid"/>
          </a:ln>
        </p:spPr>
        <p:txBody>
          <a:bodyPr/>
          <a:lstStyle/>
          <a:p>
            <a:endParaRPr lang="en-US"/>
          </a:p>
        </p:txBody>
      </p:sp>
      <p:sp>
        <p:nvSpPr>
          <p:cNvPr id="11" name="Text 9"/>
          <p:cNvSpPr/>
          <p:nvPr/>
        </p:nvSpPr>
        <p:spPr>
          <a:xfrm>
            <a:off x="4915622" y="1874520"/>
            <a:ext cx="548640" cy="292608"/>
          </a:xfrm>
          <a:prstGeom prst="rect">
            <a:avLst/>
          </a:prstGeom>
          <a:noFill/>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+0.252</a:t>
            </a:r>
            <a:endParaRPr lang="en-US" sz="900" dirty="0"/>
          </a:p>
        </p:txBody>
      </p:sp>
      <p:sp>
        <p:nvSpPr>
          <p:cNvPr id="12" name="Text 10"/>
          <p:cNvSpPr/>
          <p:nvPr/>
        </p:nvSpPr>
        <p:spPr>
          <a:xfrm>
            <a:off x="502920" y="2258568"/>
            <a:ext cx="2011680" cy="292608"/>
          </a:xfrm>
          <a:prstGeom prst="rect">
            <a:avLst/>
          </a:prstGeom>
          <a:noFill/>
        </p:spPr>
        <p:txBody>
          <a:bodyPr wrap="square" lIns="0" tIns="0" rIns="0" bIns="0" rtlCol="0" anchor="ctr"/>
          <a:lstStyle/>
          <a:p>
            <a:pPr marL="0" indent="0" algn="r">
              <a:buNone/>
            </a:pPr>
            <a:r>
              <a:rPr lang="en-US" sz="950" dirty="0">
                <a:solidFill>
                  <a:srgbClr val="1E2761"/>
                </a:solidFill>
                <a:latin typeface="Calibri" pitchFamily="34" charset="0"/>
                <a:ea typeface="Calibri" pitchFamily="34" charset="-122"/>
                <a:cs typeface="Calibri" pitchFamily="34" charset="-120"/>
              </a:rPr>
              <a:t>Customer svc calls</a:t>
            </a:r>
            <a:endParaRPr lang="en-US" sz="950" dirty="0"/>
          </a:p>
        </p:txBody>
      </p:sp>
      <p:sp>
        <p:nvSpPr>
          <p:cNvPr id="13" name="Shape 11"/>
          <p:cNvSpPr/>
          <p:nvPr/>
        </p:nvSpPr>
        <p:spPr>
          <a:xfrm>
            <a:off x="2606040" y="2313432"/>
            <a:ext cx="2200977" cy="182880"/>
          </a:xfrm>
          <a:prstGeom prst="rect">
            <a:avLst/>
          </a:prstGeom>
          <a:solidFill>
            <a:srgbClr val="1E2761"/>
          </a:solidFill>
          <a:ln w="12700">
            <a:solidFill>
              <a:srgbClr val="1E2761"/>
            </a:solidFill>
            <a:prstDash val="solid"/>
          </a:ln>
        </p:spPr>
        <p:txBody>
          <a:bodyPr/>
          <a:lstStyle/>
          <a:p>
            <a:endParaRPr lang="en-US"/>
          </a:p>
        </p:txBody>
      </p:sp>
      <p:sp>
        <p:nvSpPr>
          <p:cNvPr id="14" name="Text 12"/>
          <p:cNvSpPr/>
          <p:nvPr/>
        </p:nvSpPr>
        <p:spPr>
          <a:xfrm>
            <a:off x="4852737" y="2258568"/>
            <a:ext cx="548640" cy="292608"/>
          </a:xfrm>
          <a:prstGeom prst="rect">
            <a:avLst/>
          </a:prstGeom>
          <a:noFill/>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+0.245</a:t>
            </a:r>
            <a:endParaRPr lang="en-US" sz="900" dirty="0"/>
          </a:p>
        </p:txBody>
      </p:sp>
      <p:sp>
        <p:nvSpPr>
          <p:cNvPr id="15" name="Text 13"/>
          <p:cNvSpPr/>
          <p:nvPr/>
        </p:nvSpPr>
        <p:spPr>
          <a:xfrm>
            <a:off x="502920" y="2642616"/>
            <a:ext cx="2011680" cy="292608"/>
          </a:xfrm>
          <a:prstGeom prst="rect">
            <a:avLst/>
          </a:prstGeom>
          <a:noFill/>
        </p:spPr>
        <p:txBody>
          <a:bodyPr wrap="square" lIns="0" tIns="0" rIns="0" bIns="0" rtlCol="0" anchor="ctr"/>
          <a:lstStyle/>
          <a:p>
            <a:pPr marL="0" indent="0" algn="r">
              <a:buNone/>
            </a:pPr>
            <a:r>
              <a:rPr lang="en-US" sz="950" dirty="0">
                <a:solidFill>
                  <a:srgbClr val="1E2761"/>
                </a:solidFill>
                <a:latin typeface="Calibri" pitchFamily="34" charset="0"/>
                <a:ea typeface="Calibri" pitchFamily="34" charset="-122"/>
                <a:cs typeface="Calibri" pitchFamily="34" charset="-120"/>
              </a:rPr>
              <a:t>Total day minutes</a:t>
            </a:r>
            <a:endParaRPr lang="en-US" sz="950" dirty="0"/>
          </a:p>
        </p:txBody>
      </p:sp>
      <p:sp>
        <p:nvSpPr>
          <p:cNvPr id="16" name="Shape 14"/>
          <p:cNvSpPr/>
          <p:nvPr/>
        </p:nvSpPr>
        <p:spPr>
          <a:xfrm>
            <a:off x="2606040" y="2697480"/>
            <a:ext cx="1850617" cy="182880"/>
          </a:xfrm>
          <a:prstGeom prst="rect">
            <a:avLst/>
          </a:prstGeom>
          <a:solidFill>
            <a:srgbClr val="1E2761"/>
          </a:solidFill>
          <a:ln w="12700">
            <a:solidFill>
              <a:srgbClr val="1E2761"/>
            </a:solidFill>
            <a:prstDash val="solid"/>
          </a:ln>
        </p:spPr>
        <p:txBody>
          <a:bodyPr/>
          <a:lstStyle/>
          <a:p>
            <a:endParaRPr lang="en-US"/>
          </a:p>
        </p:txBody>
      </p:sp>
      <p:sp>
        <p:nvSpPr>
          <p:cNvPr id="17" name="Text 15"/>
          <p:cNvSpPr/>
          <p:nvPr/>
        </p:nvSpPr>
        <p:spPr>
          <a:xfrm>
            <a:off x="4502377" y="2642616"/>
            <a:ext cx="548640" cy="292608"/>
          </a:xfrm>
          <a:prstGeom prst="rect">
            <a:avLst/>
          </a:prstGeom>
          <a:noFill/>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+0.206</a:t>
            </a:r>
            <a:endParaRPr lang="en-US" sz="900" dirty="0"/>
          </a:p>
        </p:txBody>
      </p:sp>
      <p:sp>
        <p:nvSpPr>
          <p:cNvPr id="18" name="Text 16"/>
          <p:cNvSpPr/>
          <p:nvPr/>
        </p:nvSpPr>
        <p:spPr>
          <a:xfrm>
            <a:off x="502920" y="3026664"/>
            <a:ext cx="2011680" cy="292608"/>
          </a:xfrm>
          <a:prstGeom prst="rect">
            <a:avLst/>
          </a:prstGeom>
          <a:noFill/>
        </p:spPr>
        <p:txBody>
          <a:bodyPr wrap="square" lIns="0" tIns="0" rIns="0" bIns="0" rtlCol="0" anchor="ctr"/>
          <a:lstStyle/>
          <a:p>
            <a:pPr marL="0" indent="0" algn="r">
              <a:buNone/>
            </a:pPr>
            <a:r>
              <a:rPr lang="en-US" sz="950" dirty="0">
                <a:solidFill>
                  <a:srgbClr val="1E2761"/>
                </a:solidFill>
                <a:latin typeface="Calibri" pitchFamily="34" charset="0"/>
                <a:ea typeface="Calibri" pitchFamily="34" charset="-122"/>
                <a:cs typeface="Calibri" pitchFamily="34" charset="-120"/>
              </a:rPr>
              <a:t>Total day charge</a:t>
            </a:r>
            <a:endParaRPr lang="en-US" sz="950" dirty="0"/>
          </a:p>
        </p:txBody>
      </p:sp>
      <p:sp>
        <p:nvSpPr>
          <p:cNvPr id="19" name="Shape 17"/>
          <p:cNvSpPr/>
          <p:nvPr/>
        </p:nvSpPr>
        <p:spPr>
          <a:xfrm>
            <a:off x="2606040" y="3081528"/>
            <a:ext cx="1823667" cy="182880"/>
          </a:xfrm>
          <a:prstGeom prst="rect">
            <a:avLst/>
          </a:prstGeom>
          <a:solidFill>
            <a:srgbClr val="1E2761"/>
          </a:solidFill>
          <a:ln w="12700">
            <a:solidFill>
              <a:srgbClr val="1E2761"/>
            </a:solidFill>
            <a:prstDash val="solid"/>
          </a:ln>
        </p:spPr>
        <p:txBody>
          <a:bodyPr/>
          <a:lstStyle/>
          <a:p>
            <a:endParaRPr lang="en-US"/>
          </a:p>
        </p:txBody>
      </p:sp>
      <p:sp>
        <p:nvSpPr>
          <p:cNvPr id="20" name="Text 18"/>
          <p:cNvSpPr/>
          <p:nvPr/>
        </p:nvSpPr>
        <p:spPr>
          <a:xfrm>
            <a:off x="4475427" y="3026664"/>
            <a:ext cx="548640" cy="292608"/>
          </a:xfrm>
          <a:prstGeom prst="rect">
            <a:avLst/>
          </a:prstGeom>
          <a:noFill/>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+0.203</a:t>
            </a:r>
            <a:endParaRPr lang="en-US" sz="900" dirty="0"/>
          </a:p>
        </p:txBody>
      </p:sp>
      <p:sp>
        <p:nvSpPr>
          <p:cNvPr id="21" name="Text 19"/>
          <p:cNvSpPr/>
          <p:nvPr/>
        </p:nvSpPr>
        <p:spPr>
          <a:xfrm>
            <a:off x="502920" y="3410712"/>
            <a:ext cx="2011680" cy="292608"/>
          </a:xfrm>
          <a:prstGeom prst="rect">
            <a:avLst/>
          </a:prstGeom>
          <a:noFill/>
        </p:spPr>
        <p:txBody>
          <a:bodyPr wrap="square" lIns="0" tIns="0" rIns="0" bIns="0" rtlCol="0" anchor="ctr"/>
          <a:lstStyle/>
          <a:p>
            <a:pPr marL="0" indent="0" algn="r">
              <a:buNone/>
            </a:pPr>
            <a:r>
              <a:rPr lang="en-US" sz="950" dirty="0">
                <a:solidFill>
                  <a:srgbClr val="1E2761"/>
                </a:solidFill>
                <a:latin typeface="Calibri" pitchFamily="34" charset="0"/>
                <a:ea typeface="Calibri" pitchFamily="34" charset="-122"/>
                <a:cs typeface="Calibri" pitchFamily="34" charset="-120"/>
              </a:rPr>
              <a:t>Voice mail plan</a:t>
            </a:r>
            <a:endParaRPr lang="en-US" sz="950" dirty="0"/>
          </a:p>
        </p:txBody>
      </p:sp>
      <p:sp>
        <p:nvSpPr>
          <p:cNvPr id="22" name="Shape 20"/>
          <p:cNvSpPr/>
          <p:nvPr/>
        </p:nvSpPr>
        <p:spPr>
          <a:xfrm>
            <a:off x="2606040" y="3465576"/>
            <a:ext cx="1491274" cy="182880"/>
          </a:xfrm>
          <a:prstGeom prst="rect">
            <a:avLst/>
          </a:prstGeom>
          <a:solidFill>
            <a:srgbClr val="EF4444"/>
          </a:solidFill>
          <a:ln w="12700">
            <a:solidFill>
              <a:srgbClr val="EF4444"/>
            </a:solidFill>
            <a:prstDash val="solid"/>
          </a:ln>
        </p:spPr>
        <p:txBody>
          <a:bodyPr/>
          <a:lstStyle/>
          <a:p>
            <a:endParaRPr lang="en-US"/>
          </a:p>
        </p:txBody>
      </p:sp>
      <p:sp>
        <p:nvSpPr>
          <p:cNvPr id="23" name="Text 21"/>
          <p:cNvSpPr/>
          <p:nvPr/>
        </p:nvSpPr>
        <p:spPr>
          <a:xfrm>
            <a:off x="4143034" y="3410712"/>
            <a:ext cx="548640" cy="292608"/>
          </a:xfrm>
          <a:prstGeom prst="rect">
            <a:avLst/>
          </a:prstGeom>
          <a:noFill/>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−0.166</a:t>
            </a:r>
            <a:endParaRPr lang="en-US" sz="900" dirty="0"/>
          </a:p>
        </p:txBody>
      </p:sp>
      <p:sp>
        <p:nvSpPr>
          <p:cNvPr id="24" name="Text 22"/>
          <p:cNvSpPr/>
          <p:nvPr/>
        </p:nvSpPr>
        <p:spPr>
          <a:xfrm>
            <a:off x="502920" y="3794760"/>
            <a:ext cx="2011680" cy="292608"/>
          </a:xfrm>
          <a:prstGeom prst="rect">
            <a:avLst/>
          </a:prstGeom>
          <a:noFill/>
        </p:spPr>
        <p:txBody>
          <a:bodyPr wrap="square" lIns="0" tIns="0" rIns="0" bIns="0" rtlCol="0" anchor="ctr"/>
          <a:lstStyle/>
          <a:p>
            <a:pPr marL="0" indent="0" algn="r">
              <a:buNone/>
            </a:pPr>
            <a:r>
              <a:rPr lang="en-US" sz="950" dirty="0">
                <a:solidFill>
                  <a:srgbClr val="1E2761"/>
                </a:solidFill>
                <a:latin typeface="Calibri" pitchFamily="34" charset="0"/>
                <a:ea typeface="Calibri" pitchFamily="34" charset="-122"/>
                <a:cs typeface="Calibri" pitchFamily="34" charset="-120"/>
              </a:rPr>
              <a:t>Number vmail msgs</a:t>
            </a:r>
            <a:endParaRPr lang="en-US" sz="950" dirty="0"/>
          </a:p>
        </p:txBody>
      </p:sp>
      <p:sp>
        <p:nvSpPr>
          <p:cNvPr id="25" name="Shape 23"/>
          <p:cNvSpPr/>
          <p:nvPr/>
        </p:nvSpPr>
        <p:spPr>
          <a:xfrm>
            <a:off x="2606040" y="3849624"/>
            <a:ext cx="1419405" cy="182880"/>
          </a:xfrm>
          <a:prstGeom prst="rect">
            <a:avLst/>
          </a:prstGeom>
          <a:solidFill>
            <a:srgbClr val="EF4444"/>
          </a:solidFill>
          <a:ln w="12700">
            <a:solidFill>
              <a:srgbClr val="EF4444"/>
            </a:solidFill>
            <a:prstDash val="solid"/>
          </a:ln>
        </p:spPr>
        <p:txBody>
          <a:bodyPr/>
          <a:lstStyle/>
          <a:p>
            <a:endParaRPr lang="en-US"/>
          </a:p>
        </p:txBody>
      </p:sp>
      <p:sp>
        <p:nvSpPr>
          <p:cNvPr id="26" name="Text 24"/>
          <p:cNvSpPr/>
          <p:nvPr/>
        </p:nvSpPr>
        <p:spPr>
          <a:xfrm>
            <a:off x="4071165" y="3794760"/>
            <a:ext cx="548640" cy="292608"/>
          </a:xfrm>
          <a:prstGeom prst="rect">
            <a:avLst/>
          </a:prstGeom>
          <a:noFill/>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−0.158</a:t>
            </a:r>
            <a:endParaRPr lang="en-US" sz="900" dirty="0"/>
          </a:p>
        </p:txBody>
      </p:sp>
      <p:sp>
        <p:nvSpPr>
          <p:cNvPr id="27" name="Text 25"/>
          <p:cNvSpPr/>
          <p:nvPr/>
        </p:nvSpPr>
        <p:spPr>
          <a:xfrm>
            <a:off x="502920" y="4178808"/>
            <a:ext cx="2011680" cy="292608"/>
          </a:xfrm>
          <a:prstGeom prst="rect">
            <a:avLst/>
          </a:prstGeom>
          <a:noFill/>
        </p:spPr>
        <p:txBody>
          <a:bodyPr wrap="square" lIns="0" tIns="0" rIns="0" bIns="0" rtlCol="0" anchor="ctr"/>
          <a:lstStyle/>
          <a:p>
            <a:pPr marL="0" indent="0" algn="r">
              <a:buNone/>
            </a:pPr>
            <a:r>
              <a:rPr lang="en-US" sz="950" dirty="0">
                <a:solidFill>
                  <a:srgbClr val="1E2761"/>
                </a:solidFill>
                <a:latin typeface="Calibri" pitchFamily="34" charset="0"/>
                <a:ea typeface="Calibri" pitchFamily="34" charset="-122"/>
                <a:cs typeface="Calibri" pitchFamily="34" charset="-120"/>
              </a:rPr>
              <a:t>total_minutes</a:t>
            </a:r>
            <a:endParaRPr lang="en-US" sz="950" dirty="0"/>
          </a:p>
        </p:txBody>
      </p:sp>
      <p:sp>
        <p:nvSpPr>
          <p:cNvPr id="28" name="Shape 26"/>
          <p:cNvSpPr/>
          <p:nvPr/>
        </p:nvSpPr>
        <p:spPr>
          <a:xfrm>
            <a:off x="2606040" y="4233672"/>
            <a:ext cx="880391" cy="182880"/>
          </a:xfrm>
          <a:prstGeom prst="rect">
            <a:avLst/>
          </a:prstGeom>
          <a:solidFill>
            <a:srgbClr val="1E2761"/>
          </a:solidFill>
          <a:ln w="12700">
            <a:solidFill>
              <a:srgbClr val="1E2761"/>
            </a:solidFill>
            <a:prstDash val="solid"/>
          </a:ln>
        </p:spPr>
        <p:txBody>
          <a:bodyPr/>
          <a:lstStyle/>
          <a:p>
            <a:endParaRPr lang="en-US"/>
          </a:p>
        </p:txBody>
      </p:sp>
      <p:sp>
        <p:nvSpPr>
          <p:cNvPr id="29" name="Text 27"/>
          <p:cNvSpPr/>
          <p:nvPr/>
        </p:nvSpPr>
        <p:spPr>
          <a:xfrm>
            <a:off x="3532151" y="4178808"/>
            <a:ext cx="548640" cy="292608"/>
          </a:xfrm>
          <a:prstGeom prst="rect">
            <a:avLst/>
          </a:prstGeom>
          <a:noFill/>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+0.098</a:t>
            </a:r>
            <a:endParaRPr lang="en-US" sz="900" dirty="0"/>
          </a:p>
        </p:txBody>
      </p:sp>
      <p:sp>
        <p:nvSpPr>
          <p:cNvPr id="30" name="Shape 28"/>
          <p:cNvSpPr/>
          <p:nvPr/>
        </p:nvSpPr>
        <p:spPr>
          <a:xfrm>
            <a:off x="5577840" y="1005840"/>
            <a:ext cx="3200400" cy="914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1" name="Shape 29"/>
          <p:cNvSpPr/>
          <p:nvPr/>
        </p:nvSpPr>
        <p:spPr>
          <a:xfrm>
            <a:off x="5577840" y="1005840"/>
            <a:ext cx="91440" cy="914400"/>
          </a:xfrm>
          <a:prstGeom prst="rect">
            <a:avLst/>
          </a:prstGeom>
          <a:solidFill>
            <a:srgbClr val="EF4444"/>
          </a:solidFill>
          <a:ln w="12700">
            <a:solidFill>
              <a:srgbClr val="EF4444"/>
            </a:solidFill>
            <a:prstDash val="solid"/>
          </a:ln>
        </p:spPr>
        <p:txBody>
          <a:bodyPr/>
          <a:lstStyle/>
          <a:p>
            <a:endParaRPr lang="en-US"/>
          </a:p>
        </p:txBody>
      </p:sp>
      <p:sp>
        <p:nvSpPr>
          <p:cNvPr id="32" name="Text 30"/>
          <p:cNvSpPr/>
          <p:nvPr/>
        </p:nvSpPr>
        <p:spPr>
          <a:xfrm>
            <a:off x="5742432" y="1042416"/>
            <a:ext cx="2926080" cy="219456"/>
          </a:xfrm>
          <a:prstGeom prst="rect">
            <a:avLst/>
          </a:prstGeom>
          <a:noFill/>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Strongest Positive</a:t>
            </a:r>
            <a:endParaRPr lang="en-US" sz="900" dirty="0"/>
          </a:p>
        </p:txBody>
      </p:sp>
      <p:sp>
        <p:nvSpPr>
          <p:cNvPr id="33" name="Text 31"/>
          <p:cNvSpPr/>
          <p:nvPr/>
        </p:nvSpPr>
        <p:spPr>
          <a:xfrm>
            <a:off x="5742432" y="1243584"/>
            <a:ext cx="2926080" cy="256032"/>
          </a:xfrm>
          <a:prstGeom prst="rect">
            <a:avLst/>
          </a:prstGeom>
          <a:noFill/>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International Plan (+0.285)</a:t>
            </a:r>
            <a:endParaRPr lang="en-US" sz="1100" dirty="0"/>
          </a:p>
        </p:txBody>
      </p:sp>
      <p:sp>
        <p:nvSpPr>
          <p:cNvPr id="34" name="Text 32"/>
          <p:cNvSpPr/>
          <p:nvPr/>
        </p:nvSpPr>
        <p:spPr>
          <a:xfrm>
            <a:off x="5742432" y="1499616"/>
            <a:ext cx="2926080" cy="347472"/>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Customers with an international plan churn at ~42% vs 11% without. Biggest single predictor.</a:t>
            </a:r>
            <a:endParaRPr lang="en-US" sz="900" dirty="0"/>
          </a:p>
        </p:txBody>
      </p:sp>
      <p:sp>
        <p:nvSpPr>
          <p:cNvPr id="35" name="Shape 33"/>
          <p:cNvSpPr/>
          <p:nvPr/>
        </p:nvSpPr>
        <p:spPr>
          <a:xfrm>
            <a:off x="5577840" y="2039112"/>
            <a:ext cx="3200400" cy="914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6" name="Shape 34"/>
          <p:cNvSpPr/>
          <p:nvPr/>
        </p:nvSpPr>
        <p:spPr>
          <a:xfrm>
            <a:off x="5577840" y="2039112"/>
            <a:ext cx="91440" cy="914400"/>
          </a:xfrm>
          <a:prstGeom prst="rect">
            <a:avLst/>
          </a:prstGeom>
          <a:solidFill>
            <a:srgbClr val="0891B2"/>
          </a:solidFill>
          <a:ln w="12700">
            <a:solidFill>
              <a:srgbClr val="0891B2"/>
            </a:solidFill>
            <a:prstDash val="solid"/>
          </a:ln>
        </p:spPr>
        <p:txBody>
          <a:bodyPr/>
          <a:lstStyle/>
          <a:p>
            <a:endParaRPr lang="en-US"/>
          </a:p>
        </p:txBody>
      </p:sp>
      <p:sp>
        <p:nvSpPr>
          <p:cNvPr id="37" name="Text 35"/>
          <p:cNvSpPr/>
          <p:nvPr/>
        </p:nvSpPr>
        <p:spPr>
          <a:xfrm>
            <a:off x="5742432" y="2075688"/>
            <a:ext cx="2926080" cy="219456"/>
          </a:xfrm>
          <a:prstGeom prst="rect">
            <a:avLst/>
          </a:prstGeom>
          <a:noFill/>
        </p:spPr>
        <p:txBody>
          <a:bodyPr wrap="square" lIns="0" tIns="0" rIns="0" bIns="0"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Behavioral Signal</a:t>
            </a:r>
            <a:endParaRPr lang="en-US" sz="900" dirty="0"/>
          </a:p>
        </p:txBody>
      </p:sp>
      <p:sp>
        <p:nvSpPr>
          <p:cNvPr id="38" name="Text 36"/>
          <p:cNvSpPr/>
          <p:nvPr/>
        </p:nvSpPr>
        <p:spPr>
          <a:xfrm>
            <a:off x="5742432" y="2276856"/>
            <a:ext cx="2926080" cy="256032"/>
          </a:xfrm>
          <a:prstGeom prst="rect">
            <a:avLst/>
          </a:prstGeom>
          <a:noFill/>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Customer Service Calls (+0.245)</a:t>
            </a:r>
            <a:endParaRPr lang="en-US" sz="1100" dirty="0"/>
          </a:p>
        </p:txBody>
      </p:sp>
      <p:sp>
        <p:nvSpPr>
          <p:cNvPr id="39" name="Text 37"/>
          <p:cNvSpPr/>
          <p:nvPr/>
        </p:nvSpPr>
        <p:spPr>
          <a:xfrm>
            <a:off x="5742432" y="2532888"/>
            <a:ext cx="2926080" cy="347472"/>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Customers who call 4+ times churn at ~50%. Stress indicator — likely reflects unresolved issues.</a:t>
            </a:r>
            <a:endParaRPr lang="en-US" sz="900" dirty="0"/>
          </a:p>
        </p:txBody>
      </p:sp>
      <p:sp>
        <p:nvSpPr>
          <p:cNvPr id="40" name="Shape 38"/>
          <p:cNvSpPr/>
          <p:nvPr/>
        </p:nvSpPr>
        <p:spPr>
          <a:xfrm>
            <a:off x="5577840" y="3072384"/>
            <a:ext cx="3200400" cy="914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41" name="Shape 39"/>
          <p:cNvSpPr/>
          <p:nvPr/>
        </p:nvSpPr>
        <p:spPr>
          <a:xfrm>
            <a:off x="5577840" y="3072384"/>
            <a:ext cx="91440" cy="914400"/>
          </a:xfrm>
          <a:prstGeom prst="rect">
            <a:avLst/>
          </a:prstGeom>
          <a:solidFill>
            <a:srgbClr val="1E2761"/>
          </a:solidFill>
          <a:ln w="12700">
            <a:solidFill>
              <a:srgbClr val="1E2761"/>
            </a:solidFill>
            <a:prstDash val="solid"/>
          </a:ln>
        </p:spPr>
        <p:txBody>
          <a:bodyPr/>
          <a:lstStyle/>
          <a:p>
            <a:endParaRPr lang="en-US"/>
          </a:p>
        </p:txBody>
      </p:sp>
      <p:sp>
        <p:nvSpPr>
          <p:cNvPr id="42" name="Text 40"/>
          <p:cNvSpPr/>
          <p:nvPr/>
        </p:nvSpPr>
        <p:spPr>
          <a:xfrm>
            <a:off x="5742432" y="3108960"/>
            <a:ext cx="2926080" cy="219456"/>
          </a:xfrm>
          <a:prstGeom prst="rect">
            <a:avLst/>
          </a:prstGeom>
          <a:noFill/>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Usage Impact</a:t>
            </a:r>
            <a:endParaRPr lang="en-US" sz="900" dirty="0"/>
          </a:p>
        </p:txBody>
      </p:sp>
      <p:sp>
        <p:nvSpPr>
          <p:cNvPr id="43" name="Text 41"/>
          <p:cNvSpPr/>
          <p:nvPr/>
        </p:nvSpPr>
        <p:spPr>
          <a:xfrm>
            <a:off x="5742432" y="3310128"/>
            <a:ext cx="2926080" cy="256032"/>
          </a:xfrm>
          <a:prstGeom prst="rect">
            <a:avLst/>
          </a:prstGeom>
          <a:noFill/>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Total Day Minutes (+0.206)</a:t>
            </a:r>
            <a:endParaRPr lang="en-US" sz="1100" dirty="0"/>
          </a:p>
        </p:txBody>
      </p:sp>
      <p:sp>
        <p:nvSpPr>
          <p:cNvPr id="44" name="Text 42"/>
          <p:cNvSpPr/>
          <p:nvPr/>
        </p:nvSpPr>
        <p:spPr>
          <a:xfrm>
            <a:off x="5742432" y="3566160"/>
            <a:ext cx="2926080" cy="347472"/>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Heavy daytime users churn more, possibly due to higher bills. Charge column is perfectly correlated.</a:t>
            </a:r>
            <a:endParaRPr lang="en-US" sz="900" dirty="0"/>
          </a:p>
        </p:txBody>
      </p:sp>
      <p:sp>
        <p:nvSpPr>
          <p:cNvPr id="45" name="Shape 43"/>
          <p:cNvSpPr/>
          <p:nvPr/>
        </p:nvSpPr>
        <p:spPr>
          <a:xfrm>
            <a:off x="5577840" y="4105656"/>
            <a:ext cx="3200400" cy="914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46" name="Shape 44"/>
          <p:cNvSpPr/>
          <p:nvPr/>
        </p:nvSpPr>
        <p:spPr>
          <a:xfrm>
            <a:off x="5577840" y="4105656"/>
            <a:ext cx="91440" cy="914400"/>
          </a:xfrm>
          <a:prstGeom prst="rect">
            <a:avLst/>
          </a:prstGeom>
          <a:solidFill>
            <a:srgbClr val="1E2761"/>
          </a:solidFill>
          <a:ln w="12700">
            <a:solidFill>
              <a:srgbClr val="1E2761"/>
            </a:solidFill>
            <a:prstDash val="solid"/>
          </a:ln>
        </p:spPr>
        <p:txBody>
          <a:bodyPr/>
          <a:lstStyle/>
          <a:p>
            <a:endParaRPr lang="en-US"/>
          </a:p>
        </p:txBody>
      </p:sp>
      <p:sp>
        <p:nvSpPr>
          <p:cNvPr id="47" name="Text 45"/>
          <p:cNvSpPr/>
          <p:nvPr/>
        </p:nvSpPr>
        <p:spPr>
          <a:xfrm>
            <a:off x="5742432" y="4142232"/>
            <a:ext cx="2926080" cy="219456"/>
          </a:xfrm>
          <a:prstGeom prst="rect">
            <a:avLst/>
          </a:prstGeom>
          <a:noFill/>
        </p:spPr>
        <p:txBody>
          <a:bodyPr wrap="square" lIns="0" tIns="0" rIns="0" bIns="0"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Protective Factor</a:t>
            </a:r>
            <a:endParaRPr lang="en-US" sz="900" dirty="0"/>
          </a:p>
        </p:txBody>
      </p:sp>
      <p:sp>
        <p:nvSpPr>
          <p:cNvPr id="48" name="Text 46"/>
          <p:cNvSpPr/>
          <p:nvPr/>
        </p:nvSpPr>
        <p:spPr>
          <a:xfrm>
            <a:off x="5742432" y="4343400"/>
            <a:ext cx="2926080" cy="256032"/>
          </a:xfrm>
          <a:prstGeom prst="rect">
            <a:avLst/>
          </a:prstGeom>
          <a:noFill/>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Voice Mail Plan (−0.166)</a:t>
            </a:r>
            <a:endParaRPr lang="en-US" sz="1100" dirty="0"/>
          </a:p>
        </p:txBody>
      </p:sp>
      <p:sp>
        <p:nvSpPr>
          <p:cNvPr id="49" name="Text 47"/>
          <p:cNvSpPr/>
          <p:nvPr/>
        </p:nvSpPr>
        <p:spPr>
          <a:xfrm>
            <a:off x="5742432" y="4599432"/>
            <a:ext cx="2926080" cy="347472"/>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Having a voicemail plan is associated with lower churn — these customers appear more engaged.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14400" y="-914400"/>
            <a:ext cx="4114800" cy="4114800"/>
          </a:xfrm>
          <a:prstGeom prst="ellipse">
            <a:avLst/>
          </a:prstGeom>
          <a:solidFill>
            <a:srgbClr val="1E2761">
              <a:alpha val="12000"/>
            </a:srgbClr>
          </a:solidFill>
          <a:ln w="12700">
            <a:solidFill>
              <a:srgbClr val="1E2761">
                <a:alpha val="12000"/>
              </a:srgbClr>
            </a:solidFill>
            <a:prstDash val="solid"/>
          </a:ln>
        </p:spPr>
        <p:txBody>
          <a:bodyPr/>
          <a:lstStyle/>
          <a:p>
            <a:endParaRPr lang="en-US"/>
          </a:p>
        </p:txBody>
      </p:sp>
      <p:sp>
        <p:nvSpPr>
          <p:cNvPr id="3" name="Shape 1"/>
          <p:cNvSpPr/>
          <p:nvPr/>
        </p:nvSpPr>
        <p:spPr>
          <a:xfrm>
            <a:off x="6858000" y="2286000"/>
            <a:ext cx="3200400" cy="3200400"/>
          </a:xfrm>
          <a:prstGeom prst="ellipse">
            <a:avLst/>
          </a:prstGeom>
          <a:solidFill>
            <a:srgbClr val="0891B2">
              <a:alpha val="10000"/>
            </a:srgbClr>
          </a:solidFill>
          <a:ln w="12700">
            <a:solidFill>
              <a:srgbClr val="0891B2">
                <a:alpha val="10000"/>
              </a:srgbClr>
            </a:solidFill>
            <a:prstDash val="solid"/>
          </a:ln>
        </p:spPr>
        <p:txBody>
          <a:bodyPr/>
          <a:lstStyle/>
          <a:p>
            <a:endParaRPr lang="en-US"/>
          </a:p>
        </p:txBody>
      </p:sp>
      <p:sp>
        <p:nvSpPr>
          <p:cNvPr id="4" name="Text 2"/>
          <p:cNvSpPr/>
          <p:nvPr/>
        </p:nvSpPr>
        <p:spPr>
          <a:xfrm>
            <a:off x="457200" y="274320"/>
            <a:ext cx="8229600" cy="640080"/>
          </a:xfrm>
          <a:prstGeom prst="rect">
            <a:avLst/>
          </a:prstGeom>
          <a:solidFill>
            <a:srgbClr val="1E2761"/>
          </a:solidFill>
          <a:ln>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EDA Summary &amp; Next Steps</a:t>
            </a:r>
            <a:endParaRPr lang="en-US" sz="3400" dirty="0"/>
          </a:p>
        </p:txBody>
      </p:sp>
      <p:sp>
        <p:nvSpPr>
          <p:cNvPr id="5" name="Shape 3"/>
          <p:cNvSpPr/>
          <p:nvPr/>
        </p:nvSpPr>
        <p:spPr>
          <a:xfrm>
            <a:off x="457200" y="987552"/>
            <a:ext cx="2286000" cy="54864"/>
          </a:xfrm>
          <a:prstGeom prst="rect">
            <a:avLst/>
          </a:prstGeom>
          <a:solidFill>
            <a:srgbClr val="0891B2"/>
          </a:solidFill>
          <a:ln w="12700">
            <a:solidFill>
              <a:srgbClr val="1E2761"/>
            </a:solidFill>
            <a:prstDash val="solid"/>
          </a:ln>
        </p:spPr>
        <p:txBody>
          <a:bodyPr/>
          <a:lstStyle/>
          <a:p>
            <a:endParaRPr lang="en-US"/>
          </a:p>
        </p:txBody>
      </p:sp>
      <p:sp>
        <p:nvSpPr>
          <p:cNvPr id="6" name="Text 4"/>
          <p:cNvSpPr/>
          <p:nvPr/>
        </p:nvSpPr>
        <p:spPr>
          <a:xfrm>
            <a:off x="457200" y="1188720"/>
            <a:ext cx="4114800" cy="365760"/>
          </a:xfrm>
          <a:prstGeom prst="rect">
            <a:avLst/>
          </a:prstGeom>
          <a:noFill/>
        </p:spPr>
        <p:txBody>
          <a:bodyPr wrap="square" lIns="0" tIns="0" rIns="0" bIns="0" rtlCol="0" anchor="ctr"/>
          <a:lstStyle/>
          <a:p>
            <a:pPr marL="0" indent="0">
              <a:buNone/>
            </a:pPr>
            <a:r>
              <a:rPr lang="en-US" sz="1400" b="1" dirty="0">
                <a:solidFill>
                  <a:srgbClr val="002060"/>
                </a:solidFill>
                <a:latin typeface="Calibri" pitchFamily="34" charset="0"/>
                <a:ea typeface="Calibri" pitchFamily="34" charset="-122"/>
                <a:cs typeface="Calibri" pitchFamily="34" charset="-120"/>
              </a:rPr>
              <a:t>Key EDA Takeaways</a:t>
            </a:r>
            <a:endParaRPr lang="en-US" sz="1400" b="1" dirty="0">
              <a:solidFill>
                <a:srgbClr val="002060"/>
              </a:solidFill>
              <a:latin typeface="Calibri" pitchFamily="34" charset="0"/>
              <a:ea typeface="Calibri" pitchFamily="34" charset="-122"/>
              <a:cs typeface="Calibri" pitchFamily="34" charset="-120"/>
            </a:endParaRPr>
          </a:p>
        </p:txBody>
      </p:sp>
      <p:sp>
        <p:nvSpPr>
          <p:cNvPr id="7" name="Shape 5"/>
          <p:cNvSpPr/>
          <p:nvPr/>
        </p:nvSpPr>
        <p:spPr>
          <a:xfrm>
            <a:off x="457200" y="1627632"/>
            <a:ext cx="3931920" cy="621792"/>
          </a:xfrm>
          <a:prstGeom prst="rect">
            <a:avLst/>
          </a:prstGeom>
          <a:solidFill>
            <a:srgbClr val="FFFFFF">
              <a:alpha val="8000"/>
            </a:srgbClr>
          </a:solidFill>
          <a:ln w="12700">
            <a:solidFill>
              <a:srgbClr val="1E2761">
                <a:alpha val="40000"/>
              </a:srgbClr>
            </a:solidFill>
            <a:prstDash val="solid"/>
          </a:ln>
        </p:spPr>
        <p:txBody>
          <a:bodyPr/>
          <a:lstStyle/>
          <a:p>
            <a:endParaRPr lang="en-US"/>
          </a:p>
        </p:txBody>
      </p:sp>
      <p:sp>
        <p:nvSpPr>
          <p:cNvPr id="8" name="Text 6"/>
          <p:cNvSpPr/>
          <p:nvPr/>
        </p:nvSpPr>
        <p:spPr>
          <a:xfrm>
            <a:off x="594360" y="1682496"/>
            <a:ext cx="3657600" cy="237744"/>
          </a:xfrm>
          <a:prstGeom prst="rect">
            <a:avLst/>
          </a:prstGeom>
          <a:noFill/>
        </p:spPr>
        <p:txBody>
          <a:bodyPr wrap="square" lIns="0" tIns="0" rIns="0" bIns="0" rtlCol="0" anchor="ctr"/>
          <a:lstStyle/>
          <a:p>
            <a:pPr marL="0" indent="0">
              <a:buNone/>
            </a:pPr>
            <a:r>
              <a:rPr lang="en-US" sz="1100" b="1" dirty="0">
                <a:solidFill>
                  <a:srgbClr val="002060"/>
                </a:solidFill>
                <a:latin typeface="Calibri" pitchFamily="34" charset="0"/>
                <a:ea typeface="Calibri" pitchFamily="34" charset="-122"/>
                <a:cs typeface="Calibri" pitchFamily="34" charset="-120"/>
              </a:rPr>
              <a:t>Clean Data</a:t>
            </a:r>
            <a:endParaRPr lang="en-US" sz="1100" b="1" dirty="0">
              <a:solidFill>
                <a:srgbClr val="002060"/>
              </a:solidFill>
              <a:latin typeface="Calibri" pitchFamily="34" charset="0"/>
              <a:ea typeface="Calibri" pitchFamily="34" charset="-122"/>
              <a:cs typeface="Calibri" pitchFamily="34" charset="-120"/>
            </a:endParaRPr>
          </a:p>
        </p:txBody>
      </p:sp>
      <p:sp>
        <p:nvSpPr>
          <p:cNvPr id="9" name="Text 7"/>
          <p:cNvSpPr/>
          <p:nvPr/>
        </p:nvSpPr>
        <p:spPr>
          <a:xfrm>
            <a:off x="594360" y="1920240"/>
            <a:ext cx="3657600" cy="25603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No missing values; minimal outlier removal needed</a:t>
            </a:r>
            <a:endParaRPr lang="en-US" sz="1000" dirty="0"/>
          </a:p>
        </p:txBody>
      </p:sp>
      <p:sp>
        <p:nvSpPr>
          <p:cNvPr id="10" name="Shape 8"/>
          <p:cNvSpPr/>
          <p:nvPr/>
        </p:nvSpPr>
        <p:spPr>
          <a:xfrm>
            <a:off x="457200" y="2377440"/>
            <a:ext cx="3931920" cy="621792"/>
          </a:xfrm>
          <a:prstGeom prst="rect">
            <a:avLst/>
          </a:prstGeom>
          <a:solidFill>
            <a:srgbClr val="FFFFFF">
              <a:alpha val="8000"/>
            </a:srgbClr>
          </a:solidFill>
          <a:ln w="12700">
            <a:solidFill>
              <a:srgbClr val="1E2761">
                <a:alpha val="40000"/>
              </a:srgbClr>
            </a:solidFill>
            <a:prstDash val="solid"/>
          </a:ln>
        </p:spPr>
        <p:txBody>
          <a:bodyPr/>
          <a:lstStyle/>
          <a:p>
            <a:endParaRPr lang="en-US"/>
          </a:p>
        </p:txBody>
      </p:sp>
      <p:sp>
        <p:nvSpPr>
          <p:cNvPr id="11" name="Text 9"/>
          <p:cNvSpPr/>
          <p:nvPr/>
        </p:nvSpPr>
        <p:spPr>
          <a:xfrm>
            <a:off x="594360" y="2432304"/>
            <a:ext cx="3657600" cy="237744"/>
          </a:xfrm>
          <a:prstGeom prst="rect">
            <a:avLst/>
          </a:prstGeom>
          <a:noFill/>
        </p:spPr>
        <p:txBody>
          <a:bodyPr wrap="square" lIns="0" tIns="0" rIns="0" bIns="0" rtlCol="0" anchor="ctr"/>
          <a:lstStyle/>
          <a:p>
            <a:pPr marL="0" indent="0">
              <a:buNone/>
            </a:pPr>
            <a:r>
              <a:rPr lang="en-US" sz="1100" b="1" dirty="0">
                <a:solidFill>
                  <a:srgbClr val="002060"/>
                </a:solidFill>
                <a:latin typeface="Calibri" pitchFamily="34" charset="0"/>
                <a:ea typeface="Calibri" pitchFamily="34" charset="-122"/>
                <a:cs typeface="Calibri" pitchFamily="34" charset="-120"/>
              </a:rPr>
              <a:t>Imbalanced Target</a:t>
            </a:r>
            <a:endParaRPr lang="en-US" sz="1100" b="1" dirty="0">
              <a:solidFill>
                <a:srgbClr val="002060"/>
              </a:solidFill>
              <a:latin typeface="Calibri" pitchFamily="34" charset="0"/>
              <a:ea typeface="Calibri" pitchFamily="34" charset="-122"/>
              <a:cs typeface="Calibri" pitchFamily="34" charset="-120"/>
            </a:endParaRPr>
          </a:p>
        </p:txBody>
      </p:sp>
      <p:sp>
        <p:nvSpPr>
          <p:cNvPr id="12" name="Text 10"/>
          <p:cNvSpPr/>
          <p:nvPr/>
        </p:nvSpPr>
        <p:spPr>
          <a:xfrm>
            <a:off x="594360" y="2670048"/>
            <a:ext cx="3657600" cy="25603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14.5% churn — requires class weights or SMOTE in modeling</a:t>
            </a:r>
            <a:endParaRPr lang="en-US" sz="1000" dirty="0"/>
          </a:p>
        </p:txBody>
      </p:sp>
      <p:sp>
        <p:nvSpPr>
          <p:cNvPr id="13" name="Shape 11"/>
          <p:cNvSpPr/>
          <p:nvPr/>
        </p:nvSpPr>
        <p:spPr>
          <a:xfrm>
            <a:off x="457200" y="3127248"/>
            <a:ext cx="3931920" cy="621792"/>
          </a:xfrm>
          <a:prstGeom prst="rect">
            <a:avLst/>
          </a:prstGeom>
          <a:solidFill>
            <a:srgbClr val="FFFFFF">
              <a:alpha val="8000"/>
            </a:srgbClr>
          </a:solidFill>
          <a:ln w="12700">
            <a:solidFill>
              <a:srgbClr val="1E2761">
                <a:alpha val="40000"/>
              </a:srgbClr>
            </a:solidFill>
            <a:prstDash val="solid"/>
          </a:ln>
        </p:spPr>
        <p:txBody>
          <a:bodyPr/>
          <a:lstStyle/>
          <a:p>
            <a:endParaRPr lang="en-US"/>
          </a:p>
        </p:txBody>
      </p:sp>
      <p:sp>
        <p:nvSpPr>
          <p:cNvPr id="14" name="Text 12"/>
          <p:cNvSpPr/>
          <p:nvPr/>
        </p:nvSpPr>
        <p:spPr>
          <a:xfrm>
            <a:off x="594360" y="3182112"/>
            <a:ext cx="3657600" cy="237744"/>
          </a:xfrm>
          <a:prstGeom prst="rect">
            <a:avLst/>
          </a:prstGeom>
          <a:noFill/>
        </p:spPr>
        <p:txBody>
          <a:bodyPr wrap="square" lIns="0" tIns="0" rIns="0" bIns="0" rtlCol="0" anchor="ctr"/>
          <a:lstStyle/>
          <a:p>
            <a:pPr marL="0" indent="0">
              <a:buNone/>
            </a:pPr>
            <a:r>
              <a:rPr lang="en-US" sz="1100" b="1" dirty="0">
                <a:solidFill>
                  <a:srgbClr val="002060"/>
                </a:solidFill>
                <a:latin typeface="Calibri" pitchFamily="34" charset="0"/>
                <a:ea typeface="Calibri" pitchFamily="34" charset="-122"/>
                <a:cs typeface="Calibri" pitchFamily="34" charset="-120"/>
              </a:rPr>
              <a:t>Top Predictors</a:t>
            </a:r>
            <a:endParaRPr lang="en-US" sz="1100" b="1" dirty="0">
              <a:solidFill>
                <a:srgbClr val="002060"/>
              </a:solidFill>
              <a:latin typeface="Calibri" pitchFamily="34" charset="0"/>
              <a:ea typeface="Calibri" pitchFamily="34" charset="-122"/>
              <a:cs typeface="Calibri" pitchFamily="34" charset="-120"/>
            </a:endParaRPr>
          </a:p>
        </p:txBody>
      </p:sp>
      <p:sp>
        <p:nvSpPr>
          <p:cNvPr id="15" name="Text 13"/>
          <p:cNvSpPr/>
          <p:nvPr/>
        </p:nvSpPr>
        <p:spPr>
          <a:xfrm>
            <a:off x="594360" y="3419856"/>
            <a:ext cx="3657600" cy="25603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International plan, Customer service calls, Total day minutes</a:t>
            </a:r>
            <a:endParaRPr lang="en-US" sz="1000" dirty="0"/>
          </a:p>
        </p:txBody>
      </p:sp>
      <p:sp>
        <p:nvSpPr>
          <p:cNvPr id="16" name="Shape 14"/>
          <p:cNvSpPr/>
          <p:nvPr/>
        </p:nvSpPr>
        <p:spPr>
          <a:xfrm>
            <a:off x="457200" y="3877056"/>
            <a:ext cx="3931920" cy="621792"/>
          </a:xfrm>
          <a:prstGeom prst="rect">
            <a:avLst/>
          </a:prstGeom>
          <a:solidFill>
            <a:srgbClr val="FFFFFF">
              <a:alpha val="8000"/>
            </a:srgbClr>
          </a:solidFill>
          <a:ln w="12700">
            <a:solidFill>
              <a:srgbClr val="1E2761">
                <a:alpha val="40000"/>
              </a:srgbClr>
            </a:solidFill>
            <a:prstDash val="solid"/>
          </a:ln>
        </p:spPr>
        <p:txBody>
          <a:bodyPr/>
          <a:lstStyle/>
          <a:p>
            <a:endParaRPr lang="en-US"/>
          </a:p>
        </p:txBody>
      </p:sp>
      <p:sp>
        <p:nvSpPr>
          <p:cNvPr id="17" name="Text 15"/>
          <p:cNvSpPr/>
          <p:nvPr/>
        </p:nvSpPr>
        <p:spPr>
          <a:xfrm>
            <a:off x="594360" y="3931920"/>
            <a:ext cx="3657600" cy="237744"/>
          </a:xfrm>
          <a:prstGeom prst="rect">
            <a:avLst/>
          </a:prstGeom>
          <a:noFill/>
        </p:spPr>
        <p:txBody>
          <a:bodyPr wrap="square" lIns="0" tIns="0" rIns="0" bIns="0" rtlCol="0" anchor="ctr"/>
          <a:lstStyle/>
          <a:p>
            <a:pPr marL="0" indent="0">
              <a:buNone/>
            </a:pPr>
            <a:r>
              <a:rPr lang="en-US" sz="1100" b="1" dirty="0">
                <a:solidFill>
                  <a:srgbClr val="002060"/>
                </a:solidFill>
                <a:latin typeface="Calibri" pitchFamily="34" charset="0"/>
                <a:ea typeface="Calibri" pitchFamily="34" charset="-122"/>
                <a:cs typeface="Calibri" pitchFamily="34" charset="-120"/>
              </a:rPr>
              <a:t>Multicollinearity</a:t>
            </a:r>
            <a:endParaRPr lang="en-US" sz="1100" b="1" dirty="0">
              <a:solidFill>
                <a:srgbClr val="002060"/>
              </a:solidFill>
              <a:latin typeface="Calibri" pitchFamily="34" charset="0"/>
              <a:ea typeface="Calibri" pitchFamily="34" charset="-122"/>
              <a:cs typeface="Calibri" pitchFamily="34" charset="-120"/>
            </a:endParaRPr>
          </a:p>
        </p:txBody>
      </p:sp>
      <p:sp>
        <p:nvSpPr>
          <p:cNvPr id="18" name="Text 16"/>
          <p:cNvSpPr/>
          <p:nvPr/>
        </p:nvSpPr>
        <p:spPr>
          <a:xfrm>
            <a:off x="594360" y="4169664"/>
            <a:ext cx="3657600" cy="25603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Charge columns perfectly correlate with minutes — one set dropped</a:t>
            </a:r>
            <a:endParaRPr lang="en-US" sz="1000" dirty="0"/>
          </a:p>
        </p:txBody>
      </p:sp>
      <p:sp>
        <p:nvSpPr>
          <p:cNvPr id="19" name="Text 17"/>
          <p:cNvSpPr/>
          <p:nvPr/>
        </p:nvSpPr>
        <p:spPr>
          <a:xfrm>
            <a:off x="4846320" y="1188720"/>
            <a:ext cx="3931920" cy="36576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Modeling Next Steps</a:t>
            </a:r>
            <a:endParaRPr lang="en-US" sz="1400" dirty="0"/>
          </a:p>
        </p:txBody>
      </p:sp>
      <p:sp>
        <p:nvSpPr>
          <p:cNvPr id="20" name="Shape 18"/>
          <p:cNvSpPr/>
          <p:nvPr/>
        </p:nvSpPr>
        <p:spPr>
          <a:xfrm>
            <a:off x="4846320" y="1691640"/>
            <a:ext cx="256032" cy="256032"/>
          </a:xfrm>
          <a:prstGeom prst="ellipse">
            <a:avLst/>
          </a:prstGeom>
          <a:solidFill>
            <a:srgbClr val="0891B2"/>
          </a:solidFill>
          <a:ln w="12700">
            <a:solidFill>
              <a:srgbClr val="0891B2"/>
            </a:solidFill>
            <a:prstDash val="solid"/>
          </a:ln>
        </p:spPr>
        <p:txBody>
          <a:bodyPr/>
          <a:lstStyle/>
          <a:p>
            <a:endParaRPr lang="en-US"/>
          </a:p>
        </p:txBody>
      </p:sp>
      <p:sp>
        <p:nvSpPr>
          <p:cNvPr id="21" name="Text 19"/>
          <p:cNvSpPr/>
          <p:nvPr/>
        </p:nvSpPr>
        <p:spPr>
          <a:xfrm>
            <a:off x="4846320" y="1691640"/>
            <a:ext cx="256032" cy="256032"/>
          </a:xfrm>
          <a:prstGeom prst="rect">
            <a:avLst/>
          </a:prstGeom>
          <a:noFill/>
        </p:spPr>
        <p:txBody>
          <a:bodyPr wrap="square" lIns="0" tIns="0" rIns="0" bIns="0" rtlCol="0" anchor="ctr"/>
          <a:lstStyle/>
          <a:p>
            <a:pPr marL="0" indent="0" algn="ctr">
              <a:buNone/>
            </a:pPr>
            <a:r>
              <a:rPr lang="en-US" sz="1000" b="1" dirty="0">
                <a:solidFill>
                  <a:srgbClr val="0F1C32"/>
                </a:solidFill>
                <a:latin typeface="Calibri" pitchFamily="34" charset="0"/>
                <a:ea typeface="Calibri" pitchFamily="34" charset="-122"/>
                <a:cs typeface="Calibri" pitchFamily="34" charset="-120"/>
              </a:rPr>
              <a:t>1</a:t>
            </a:r>
            <a:endParaRPr lang="en-US" sz="1000" dirty="0"/>
          </a:p>
        </p:txBody>
      </p:sp>
      <p:sp>
        <p:nvSpPr>
          <p:cNvPr id="22" name="Text 20"/>
          <p:cNvSpPr/>
          <p:nvPr/>
        </p:nvSpPr>
        <p:spPr>
          <a:xfrm>
            <a:off x="5212080" y="1691640"/>
            <a:ext cx="3566160" cy="457200"/>
          </a:xfrm>
          <a:prstGeom prst="rect">
            <a:avLst/>
          </a:prstGeom>
          <a:noFill/>
        </p:spPr>
        <p:txBody>
          <a:bodyPr wrap="square" lIns="0" tIns="0" rIns="0" bIns="0" rtlCol="0" anchor="ctr"/>
          <a:lstStyle/>
          <a:p>
            <a:pPr marL="0" indent="0">
              <a:buNone/>
            </a:pPr>
            <a:r>
              <a:rPr lang="en-US" sz="1100" dirty="0">
                <a:solidFill>
                  <a:schemeClr val="tx1"/>
                </a:solidFill>
                <a:latin typeface="Calibri" pitchFamily="34" charset="0"/>
                <a:ea typeface="Calibri" pitchFamily="34" charset="-122"/>
                <a:cs typeface="Calibri" pitchFamily="34" charset="-120"/>
              </a:rPr>
              <a:t>Train baseline Logistic Regression model</a:t>
            </a:r>
            <a:endParaRPr lang="en-US" sz="1100" dirty="0">
              <a:solidFill>
                <a:schemeClr val="tx1"/>
              </a:solidFill>
              <a:latin typeface="Calibri" pitchFamily="34" charset="0"/>
              <a:ea typeface="Calibri" pitchFamily="34" charset="-122"/>
              <a:cs typeface="Calibri" pitchFamily="34" charset="-120"/>
            </a:endParaRPr>
          </a:p>
        </p:txBody>
      </p:sp>
      <p:sp>
        <p:nvSpPr>
          <p:cNvPr id="23" name="Shape 21"/>
          <p:cNvSpPr/>
          <p:nvPr/>
        </p:nvSpPr>
        <p:spPr>
          <a:xfrm>
            <a:off x="4846320" y="2441448"/>
            <a:ext cx="256032" cy="256032"/>
          </a:xfrm>
          <a:prstGeom prst="ellipse">
            <a:avLst/>
          </a:prstGeom>
          <a:solidFill>
            <a:srgbClr val="0891B2"/>
          </a:solidFill>
          <a:ln w="12700">
            <a:solidFill>
              <a:srgbClr val="0891B2"/>
            </a:solidFill>
            <a:prstDash val="solid"/>
          </a:ln>
        </p:spPr>
        <p:txBody>
          <a:bodyPr/>
          <a:lstStyle/>
          <a:p>
            <a:endParaRPr lang="en-US"/>
          </a:p>
        </p:txBody>
      </p:sp>
      <p:sp>
        <p:nvSpPr>
          <p:cNvPr id="24" name="Text 22"/>
          <p:cNvSpPr/>
          <p:nvPr/>
        </p:nvSpPr>
        <p:spPr>
          <a:xfrm>
            <a:off x="4846320" y="2441448"/>
            <a:ext cx="256032" cy="256032"/>
          </a:xfrm>
          <a:prstGeom prst="rect">
            <a:avLst/>
          </a:prstGeom>
          <a:noFill/>
        </p:spPr>
        <p:txBody>
          <a:bodyPr wrap="square" lIns="0" tIns="0" rIns="0" bIns="0" rtlCol="0" anchor="ctr"/>
          <a:lstStyle/>
          <a:p>
            <a:pPr marL="0" indent="0" algn="ctr">
              <a:buNone/>
            </a:pPr>
            <a:r>
              <a:rPr lang="en-US" sz="1000" b="1" dirty="0">
                <a:solidFill>
                  <a:srgbClr val="0F1C32"/>
                </a:solidFill>
                <a:latin typeface="Calibri" pitchFamily="34" charset="0"/>
                <a:ea typeface="Calibri" pitchFamily="34" charset="-122"/>
                <a:cs typeface="Calibri" pitchFamily="34" charset="-120"/>
              </a:rPr>
              <a:t>2</a:t>
            </a:r>
            <a:endParaRPr lang="en-US" sz="1000" dirty="0"/>
          </a:p>
        </p:txBody>
      </p:sp>
      <p:sp>
        <p:nvSpPr>
          <p:cNvPr id="25" name="Text 23"/>
          <p:cNvSpPr/>
          <p:nvPr/>
        </p:nvSpPr>
        <p:spPr>
          <a:xfrm>
            <a:off x="5212080" y="2441448"/>
            <a:ext cx="3566160" cy="457200"/>
          </a:xfrm>
          <a:prstGeom prst="rect">
            <a:avLst/>
          </a:prstGeom>
          <a:noFill/>
        </p:spPr>
        <p:txBody>
          <a:bodyPr wrap="square" lIns="0" tIns="0" rIns="0" bIns="0" rtlCol="0" anchor="ctr"/>
          <a:lstStyle/>
          <a:p>
            <a:pPr marL="0" indent="0">
              <a:buNone/>
            </a:pPr>
            <a:r>
              <a:rPr lang="en-US" sz="1100" dirty="0">
                <a:solidFill>
                  <a:schemeClr val="tx1"/>
                </a:solidFill>
                <a:latin typeface="Calibri" pitchFamily="34" charset="0"/>
                <a:ea typeface="Calibri" pitchFamily="34" charset="-122"/>
                <a:cs typeface="Calibri" pitchFamily="34" charset="-120"/>
              </a:rPr>
              <a:t>Evaluate Random Forest &amp; XGBoost for non-linear patterns</a:t>
            </a:r>
            <a:endParaRPr lang="en-US" sz="1100" dirty="0">
              <a:solidFill>
                <a:schemeClr val="tx1"/>
              </a:solidFill>
              <a:latin typeface="Calibri" pitchFamily="34" charset="0"/>
              <a:ea typeface="Calibri" pitchFamily="34" charset="-122"/>
              <a:cs typeface="Calibri" pitchFamily="34" charset="-120"/>
            </a:endParaRPr>
          </a:p>
        </p:txBody>
      </p:sp>
      <p:sp>
        <p:nvSpPr>
          <p:cNvPr id="26" name="Shape 24"/>
          <p:cNvSpPr/>
          <p:nvPr/>
        </p:nvSpPr>
        <p:spPr>
          <a:xfrm>
            <a:off x="4846320" y="3191256"/>
            <a:ext cx="256032" cy="256032"/>
          </a:xfrm>
          <a:prstGeom prst="ellipse">
            <a:avLst/>
          </a:prstGeom>
          <a:solidFill>
            <a:srgbClr val="0891B2"/>
          </a:solidFill>
          <a:ln w="12700">
            <a:solidFill>
              <a:srgbClr val="0891B2"/>
            </a:solidFill>
            <a:prstDash val="solid"/>
          </a:ln>
        </p:spPr>
        <p:txBody>
          <a:bodyPr/>
          <a:lstStyle/>
          <a:p>
            <a:endParaRPr lang="en-US"/>
          </a:p>
        </p:txBody>
      </p:sp>
      <p:sp>
        <p:nvSpPr>
          <p:cNvPr id="27" name="Text 25"/>
          <p:cNvSpPr/>
          <p:nvPr/>
        </p:nvSpPr>
        <p:spPr>
          <a:xfrm>
            <a:off x="4846320" y="3191256"/>
            <a:ext cx="256032" cy="256032"/>
          </a:xfrm>
          <a:prstGeom prst="rect">
            <a:avLst/>
          </a:prstGeom>
          <a:noFill/>
        </p:spPr>
        <p:txBody>
          <a:bodyPr wrap="square" lIns="0" tIns="0" rIns="0" bIns="0" rtlCol="0" anchor="ctr"/>
          <a:lstStyle/>
          <a:p>
            <a:pPr marL="0" indent="0" algn="ctr">
              <a:buNone/>
            </a:pPr>
            <a:r>
              <a:rPr lang="en-US" sz="1000" b="1" dirty="0">
                <a:solidFill>
                  <a:srgbClr val="0F1C32"/>
                </a:solidFill>
                <a:latin typeface="Calibri" pitchFamily="34" charset="0"/>
                <a:ea typeface="Calibri" pitchFamily="34" charset="-122"/>
                <a:cs typeface="Calibri" pitchFamily="34" charset="-120"/>
              </a:rPr>
              <a:t>3</a:t>
            </a:r>
            <a:endParaRPr lang="en-US" sz="1000" dirty="0"/>
          </a:p>
        </p:txBody>
      </p:sp>
      <p:sp>
        <p:nvSpPr>
          <p:cNvPr id="28" name="Text 26"/>
          <p:cNvSpPr/>
          <p:nvPr/>
        </p:nvSpPr>
        <p:spPr>
          <a:xfrm>
            <a:off x="5212080" y="3191256"/>
            <a:ext cx="3566160" cy="457200"/>
          </a:xfrm>
          <a:prstGeom prst="rect">
            <a:avLst/>
          </a:prstGeom>
          <a:noFill/>
        </p:spPr>
        <p:txBody>
          <a:bodyPr wrap="square" lIns="0" tIns="0" rIns="0" bIns="0" rtlCol="0" anchor="ctr"/>
          <a:lstStyle/>
          <a:p>
            <a:pPr marL="0" indent="0">
              <a:buNone/>
            </a:pPr>
            <a:r>
              <a:rPr lang="en-US" sz="1100" dirty="0">
                <a:solidFill>
                  <a:schemeClr val="tx1"/>
                </a:solidFill>
                <a:latin typeface="Calibri" pitchFamily="34" charset="0"/>
                <a:ea typeface="Calibri" pitchFamily="34" charset="-122"/>
                <a:cs typeface="Calibri" pitchFamily="34" charset="-120"/>
              </a:rPr>
              <a:t>Build Neural Network (MLP) for comparison</a:t>
            </a:r>
            <a:endParaRPr lang="en-US" sz="1100" dirty="0">
              <a:solidFill>
                <a:schemeClr val="tx1"/>
              </a:solidFill>
              <a:latin typeface="Calibri" pitchFamily="34" charset="0"/>
              <a:ea typeface="Calibri" pitchFamily="34" charset="-122"/>
              <a:cs typeface="Calibri" pitchFamily="34" charset="-120"/>
            </a:endParaRPr>
          </a:p>
        </p:txBody>
      </p:sp>
      <p:sp>
        <p:nvSpPr>
          <p:cNvPr id="29" name="Shape 27"/>
          <p:cNvSpPr/>
          <p:nvPr/>
        </p:nvSpPr>
        <p:spPr>
          <a:xfrm>
            <a:off x="4846320" y="3941064"/>
            <a:ext cx="256032" cy="256032"/>
          </a:xfrm>
          <a:prstGeom prst="ellipse">
            <a:avLst/>
          </a:prstGeom>
          <a:solidFill>
            <a:srgbClr val="0891B2"/>
          </a:solidFill>
          <a:ln w="12700">
            <a:solidFill>
              <a:srgbClr val="0891B2"/>
            </a:solidFill>
            <a:prstDash val="solid"/>
          </a:ln>
        </p:spPr>
        <p:txBody>
          <a:bodyPr/>
          <a:lstStyle/>
          <a:p>
            <a:endParaRPr lang="en-US"/>
          </a:p>
        </p:txBody>
      </p:sp>
      <p:sp>
        <p:nvSpPr>
          <p:cNvPr id="30" name="Text 28"/>
          <p:cNvSpPr/>
          <p:nvPr/>
        </p:nvSpPr>
        <p:spPr>
          <a:xfrm>
            <a:off x="4846320" y="3941064"/>
            <a:ext cx="256032" cy="256032"/>
          </a:xfrm>
          <a:prstGeom prst="rect">
            <a:avLst/>
          </a:prstGeom>
          <a:noFill/>
        </p:spPr>
        <p:txBody>
          <a:bodyPr wrap="square" lIns="0" tIns="0" rIns="0" bIns="0" rtlCol="0" anchor="ctr"/>
          <a:lstStyle/>
          <a:p>
            <a:pPr marL="0" indent="0" algn="ctr">
              <a:buNone/>
            </a:pPr>
            <a:r>
              <a:rPr lang="en-US" sz="1000" b="1" dirty="0">
                <a:solidFill>
                  <a:srgbClr val="0F1C32"/>
                </a:solidFill>
                <a:latin typeface="Calibri" pitchFamily="34" charset="0"/>
                <a:ea typeface="Calibri" pitchFamily="34" charset="-122"/>
                <a:cs typeface="Calibri" pitchFamily="34" charset="-120"/>
              </a:rPr>
              <a:t>4</a:t>
            </a:r>
            <a:endParaRPr lang="en-US" sz="1000" dirty="0"/>
          </a:p>
        </p:txBody>
      </p:sp>
      <p:sp>
        <p:nvSpPr>
          <p:cNvPr id="31" name="Text 29"/>
          <p:cNvSpPr/>
          <p:nvPr/>
        </p:nvSpPr>
        <p:spPr>
          <a:xfrm>
            <a:off x="5212080" y="3941064"/>
            <a:ext cx="3566160" cy="457200"/>
          </a:xfrm>
          <a:prstGeom prst="rect">
            <a:avLst/>
          </a:prstGeom>
          <a:noFill/>
        </p:spPr>
        <p:txBody>
          <a:bodyPr wrap="square" lIns="0" tIns="0" rIns="0" bIns="0" rtlCol="0" anchor="ctr"/>
          <a:lstStyle/>
          <a:p>
            <a:pPr marL="0" indent="0">
              <a:buNone/>
            </a:pPr>
            <a:r>
              <a:rPr lang="en-US" sz="1100" dirty="0">
                <a:solidFill>
                  <a:schemeClr val="tx1"/>
                </a:solidFill>
                <a:latin typeface="Calibri" pitchFamily="34" charset="0"/>
                <a:ea typeface="Calibri" pitchFamily="34" charset="-122"/>
                <a:cs typeface="Calibri" pitchFamily="34" charset="-120"/>
              </a:rPr>
              <a:t>Focus on Recall &amp; F1 score over raw accuracy</a:t>
            </a:r>
            <a:endParaRPr lang="en-US" sz="1100" dirty="0">
              <a:solidFill>
                <a:schemeClr val="tx1"/>
              </a:solidFill>
              <a:latin typeface="Calibri" pitchFamily="34" charset="0"/>
              <a:ea typeface="Calibri" pitchFamily="34" charset="-122"/>
              <a:cs typeface="Calibri" pitchFamily="34" charset="-12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a:noFill/>
          </a:ln>
        </p:spPr>
      </p:sp>
      <p:sp>
        <p:nvSpPr>
          <p:cNvPr id="3" name="Shape 1"/>
          <p:cNvSpPr/>
          <p:nvPr/>
        </p:nvSpPr>
        <p:spPr>
          <a:xfrm>
            <a:off x="0" y="0"/>
            <a:ext cx="164592" cy="658368"/>
          </a:xfrm>
          <a:prstGeom prst="rect">
            <a:avLst/>
          </a:prstGeom>
          <a:solidFill>
            <a:srgbClr val="0891B2"/>
          </a:solidFill>
          <a:ln w="12700">
            <a:solidFill>
              <a:srgbClr val="0891B2"/>
            </a:solidFill>
            <a:prstDash val="solid"/>
          </a:ln>
        </p:spPr>
      </p:sp>
      <p:sp>
        <p:nvSpPr>
          <p:cNvPr id="4" name="Text 2"/>
          <p:cNvSpPr/>
          <p:nvPr/>
        </p:nvSpPr>
        <p:spPr>
          <a:xfrm>
            <a:off x="320040" y="45720"/>
            <a:ext cx="6858000" cy="566928"/>
          </a:xfrm>
          <a:prstGeom prst="rect">
            <a:avLst/>
          </a:prstGeom>
          <a:noFill/>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Feature Engineering Overview</a:t>
            </a:r>
            <a:endParaRPr lang="en-US" sz="2200" dirty="0"/>
          </a:p>
        </p:txBody>
      </p:sp>
      <p:sp>
        <p:nvSpPr>
          <p:cNvPr id="5" name="Text 3"/>
          <p:cNvSpPr/>
          <p:nvPr/>
        </p:nvSpPr>
        <p:spPr>
          <a:xfrm>
            <a:off x="7315200" y="137160"/>
            <a:ext cx="1645920" cy="384048"/>
          </a:xfrm>
          <a:prstGeom prst="rect">
            <a:avLst/>
          </a:prstGeom>
          <a:noFill/>
        </p:spPr>
        <p:txBody>
          <a:bodyPr wrap="square" lIns="0" tIns="0" rIns="0" bIns="0" rtlCol="0" anchor="ctr"/>
          <a:lstStyle/>
          <a:p>
            <a:pPr marL="0" indent="0" algn="r">
              <a:buNone/>
            </a:pPr>
            <a:r>
              <a:rPr lang="en-US" sz="900" b="1" dirty="0">
                <a:solidFill>
                  <a:srgbClr val="02C39A"/>
                </a:solidFill>
                <a:latin typeface="Calibri" pitchFamily="34" charset="0"/>
                <a:ea typeface="Calibri" pitchFamily="34" charset="-122"/>
                <a:cs typeface="Calibri" pitchFamily="34" charset="-120"/>
              </a:rPr>
              <a:t>FEAT. ENGINEERING</a:t>
            </a:r>
            <a:endParaRPr lang="en-US" sz="900" dirty="0"/>
          </a:p>
        </p:txBody>
      </p:sp>
      <p:sp>
        <p:nvSpPr>
          <p:cNvPr id="6" name="Text 4"/>
          <p:cNvSpPr/>
          <p:nvPr/>
        </p:nvSpPr>
        <p:spPr>
          <a:xfrm>
            <a:off x="320040" y="777240"/>
            <a:ext cx="8503920" cy="365760"/>
          </a:xfrm>
          <a:prstGeom prst="rect">
            <a:avLst/>
          </a:prstGeom>
          <a:noFill/>
        </p:spPr>
        <p:txBody>
          <a:bodyPr wrap="square" lIns="0" tIns="0" rIns="0" bIns="0" rtlCol="0" anchor="ctr"/>
          <a:lstStyle/>
          <a:p>
            <a:pPr marL="0" indent="0">
              <a:buNone/>
            </a:pPr>
            <a:r>
              <a:rPr lang="en-US" sz="1400" b="1" dirty="0">
                <a:solidFill>
                  <a:srgbClr val="0891B2"/>
                </a:solidFill>
                <a:latin typeface="Calibri" pitchFamily="34" charset="0"/>
                <a:ea typeface="Calibri" pitchFamily="34" charset="-122"/>
                <a:cs typeface="Calibri" pitchFamily="34" charset="-120"/>
              </a:rPr>
              <a:t>Why Feature Engineering?</a:t>
            </a:r>
            <a:endParaRPr lang="en-US" sz="1400" dirty="0"/>
          </a:p>
        </p:txBody>
      </p:sp>
      <p:sp>
        <p:nvSpPr>
          <p:cNvPr id="7" name="Text 5"/>
          <p:cNvSpPr/>
          <p:nvPr/>
        </p:nvSpPr>
        <p:spPr>
          <a:xfrm>
            <a:off x="320040" y="1097280"/>
            <a:ext cx="8503920" cy="502920"/>
          </a:xfrm>
          <a:prstGeom prst="rect">
            <a:avLst/>
          </a:prstGeom>
          <a:noFill/>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Raw telecom data contains limited direct churn signals. We transform and combine variables to expose hidden patterns — increasing model AUC and recall.</a:t>
            </a:r>
            <a:endParaRPr lang="en-US" sz="1200" dirty="0"/>
          </a:p>
        </p:txBody>
      </p:sp>
      <p:sp>
        <p:nvSpPr>
          <p:cNvPr id="8" name="Shape 6"/>
          <p:cNvSpPr/>
          <p:nvPr/>
        </p:nvSpPr>
        <p:spPr>
          <a:xfrm>
            <a:off x="274320" y="1691640"/>
            <a:ext cx="1920240" cy="1234440"/>
          </a:xfrm>
          <a:prstGeom prst="rect">
            <a:avLst/>
          </a:prstGeom>
          <a:solidFill>
            <a:srgbClr val="EEF2F7"/>
          </a:solidFill>
          <a:ln>
            <a:noFill/>
          </a:ln>
          <a:effectLst>
            <a:outerShdw blurRad="63500" dist="25400" dir="8100000" algn="bl" rotWithShape="0">
              <a:srgbClr val="000000">
                <a:alpha val="12000"/>
              </a:srgbClr>
            </a:outerShdw>
          </a:effectLst>
        </p:spPr>
      </p:sp>
      <p:sp>
        <p:nvSpPr>
          <p:cNvPr id="9" name="Text 7"/>
          <p:cNvSpPr/>
          <p:nvPr/>
        </p:nvSpPr>
        <p:spPr>
          <a:xfrm>
            <a:off x="274320" y="1828800"/>
            <a:ext cx="1920240" cy="594360"/>
          </a:xfrm>
          <a:prstGeom prst="rect">
            <a:avLst/>
          </a:prstGeom>
          <a:noFill/>
        </p:spPr>
        <p:txBody>
          <a:bodyPr wrap="square" lIns="0" tIns="0" rIns="0" bIns="0" rtlCol="0" anchor="ctr"/>
          <a:lstStyle/>
          <a:p>
            <a:pPr marL="0" indent="0" algn="ctr">
              <a:buNone/>
            </a:pPr>
            <a:r>
              <a:rPr lang="en-US" sz="3000" b="1" dirty="0">
                <a:solidFill>
                  <a:schemeClr val="tx1"/>
                </a:solidFill>
                <a:latin typeface="Calibri" pitchFamily="34" charset="0"/>
                <a:ea typeface="Calibri" pitchFamily="34" charset="-122"/>
                <a:cs typeface="Calibri" pitchFamily="34" charset="-120"/>
              </a:rPr>
              <a:t>20</a:t>
            </a:r>
            <a:endParaRPr lang="en-US" sz="3000" b="1" dirty="0">
              <a:solidFill>
                <a:schemeClr val="tx1"/>
              </a:solidFill>
              <a:latin typeface="Calibri" pitchFamily="34" charset="0"/>
              <a:ea typeface="Calibri" pitchFamily="34" charset="-122"/>
              <a:cs typeface="Calibri" pitchFamily="34" charset="-120"/>
            </a:endParaRPr>
          </a:p>
        </p:txBody>
      </p:sp>
      <p:sp>
        <p:nvSpPr>
          <p:cNvPr id="10" name="Text 8"/>
          <p:cNvSpPr/>
          <p:nvPr/>
        </p:nvSpPr>
        <p:spPr>
          <a:xfrm>
            <a:off x="274320" y="2423160"/>
            <a:ext cx="1920240" cy="411480"/>
          </a:xfrm>
          <a:prstGeom prst="rect">
            <a:avLst/>
          </a:prstGeom>
          <a:noFill/>
        </p:spPr>
        <p:txBody>
          <a:bodyPr wrap="square" lIns="0" tIns="0" rIns="0" bIns="0" rtlCol="0" anchor="ctr"/>
          <a:lstStyle/>
          <a:p>
            <a:pPr marL="0" indent="0" algn="ctr">
              <a:buNone/>
            </a:pPr>
            <a:r>
              <a:rPr lang="en-US" sz="1100" dirty="0">
                <a:solidFill>
                  <a:srgbClr val="002060"/>
                </a:solidFill>
                <a:latin typeface="Calibri" pitchFamily="34" charset="0"/>
                <a:ea typeface="Calibri" pitchFamily="34" charset="-122"/>
                <a:cs typeface="Calibri" pitchFamily="34" charset="-120"/>
              </a:rPr>
              <a:t>Raw Features</a:t>
            </a:r>
            <a:endParaRPr lang="en-US" sz="1100" dirty="0">
              <a:solidFill>
                <a:srgbClr val="002060"/>
              </a:solidFill>
              <a:latin typeface="Calibri" pitchFamily="34" charset="0"/>
              <a:ea typeface="Calibri" pitchFamily="34" charset="-122"/>
              <a:cs typeface="Calibri" pitchFamily="34" charset="-120"/>
            </a:endParaRPr>
          </a:p>
        </p:txBody>
      </p:sp>
      <p:sp>
        <p:nvSpPr>
          <p:cNvPr id="11" name="Shape 9"/>
          <p:cNvSpPr/>
          <p:nvPr/>
        </p:nvSpPr>
        <p:spPr>
          <a:xfrm>
            <a:off x="2450592" y="1691640"/>
            <a:ext cx="1920240" cy="1234440"/>
          </a:xfrm>
          <a:prstGeom prst="rect">
            <a:avLst/>
          </a:prstGeom>
          <a:solidFill>
            <a:srgbClr val="EEF2F7"/>
          </a:solidFill>
          <a:ln>
            <a:noFill/>
          </a:ln>
          <a:effectLst>
            <a:outerShdw blurRad="63500" dist="25400" dir="8100000" algn="bl" rotWithShape="0">
              <a:srgbClr val="000000">
                <a:alpha val="12000"/>
              </a:srgbClr>
            </a:outerShdw>
          </a:effectLst>
        </p:spPr>
      </p:sp>
      <p:sp>
        <p:nvSpPr>
          <p:cNvPr id="12" name="Text 10"/>
          <p:cNvSpPr/>
          <p:nvPr/>
        </p:nvSpPr>
        <p:spPr>
          <a:xfrm>
            <a:off x="2450592" y="1828800"/>
            <a:ext cx="1920240" cy="594360"/>
          </a:xfrm>
          <a:prstGeom prst="rect">
            <a:avLst/>
          </a:prstGeom>
          <a:noFill/>
        </p:spPr>
        <p:txBody>
          <a:bodyPr wrap="square" lIns="0" tIns="0" rIns="0" bIns="0" rtlCol="0" anchor="ctr"/>
          <a:lstStyle/>
          <a:p>
            <a:pPr marL="0" indent="0" algn="ctr">
              <a:buNone/>
            </a:pPr>
            <a:r>
              <a:rPr lang="en-US" sz="3000" b="1" dirty="0">
                <a:solidFill>
                  <a:schemeClr val="tx1"/>
                </a:solidFill>
                <a:latin typeface="Calibri" pitchFamily="34" charset="0"/>
                <a:ea typeface="Calibri" pitchFamily="34" charset="-122"/>
                <a:cs typeface="Calibri" pitchFamily="34" charset="-120"/>
              </a:rPr>
              <a:t>+8</a:t>
            </a:r>
            <a:endParaRPr lang="en-US" sz="3000" b="1" dirty="0">
              <a:solidFill>
                <a:schemeClr val="tx1"/>
              </a:solidFill>
              <a:latin typeface="Calibri" pitchFamily="34" charset="0"/>
              <a:ea typeface="Calibri" pitchFamily="34" charset="-122"/>
              <a:cs typeface="Calibri" pitchFamily="34" charset="-120"/>
            </a:endParaRPr>
          </a:p>
        </p:txBody>
      </p:sp>
      <p:sp>
        <p:nvSpPr>
          <p:cNvPr id="13" name="Text 11"/>
          <p:cNvSpPr/>
          <p:nvPr/>
        </p:nvSpPr>
        <p:spPr>
          <a:xfrm>
            <a:off x="2450592" y="2423160"/>
            <a:ext cx="1920240" cy="411480"/>
          </a:xfrm>
          <a:prstGeom prst="rect">
            <a:avLst/>
          </a:prstGeom>
          <a:noFill/>
        </p:spPr>
        <p:txBody>
          <a:bodyPr wrap="square" lIns="0" tIns="0" rIns="0" bIns="0" rtlCol="0" anchor="ctr"/>
          <a:lstStyle/>
          <a:p>
            <a:pPr marL="0" indent="0" algn="ctr">
              <a:buNone/>
            </a:pPr>
            <a:r>
              <a:rPr lang="en-US" sz="1100" dirty="0">
                <a:solidFill>
                  <a:srgbClr val="002060"/>
                </a:solidFill>
                <a:latin typeface="Calibri" pitchFamily="34" charset="0"/>
                <a:ea typeface="Calibri" pitchFamily="34" charset="-122"/>
                <a:cs typeface="Calibri" pitchFamily="34" charset="-120"/>
              </a:rPr>
              <a:t>Engineered Features</a:t>
            </a:r>
            <a:endParaRPr lang="en-US" sz="1100" dirty="0">
              <a:solidFill>
                <a:srgbClr val="002060"/>
              </a:solidFill>
              <a:latin typeface="Calibri" pitchFamily="34" charset="0"/>
              <a:ea typeface="Calibri" pitchFamily="34" charset="-122"/>
              <a:cs typeface="Calibri" pitchFamily="34" charset="-120"/>
            </a:endParaRPr>
          </a:p>
        </p:txBody>
      </p:sp>
      <p:sp>
        <p:nvSpPr>
          <p:cNvPr id="14" name="Shape 12"/>
          <p:cNvSpPr/>
          <p:nvPr/>
        </p:nvSpPr>
        <p:spPr>
          <a:xfrm>
            <a:off x="4626864" y="1691640"/>
            <a:ext cx="1920240" cy="1234440"/>
          </a:xfrm>
          <a:prstGeom prst="rect">
            <a:avLst/>
          </a:prstGeom>
          <a:solidFill>
            <a:srgbClr val="EEF2F7"/>
          </a:solidFill>
          <a:ln>
            <a:noFill/>
          </a:ln>
          <a:effectLst>
            <a:outerShdw blurRad="63500" dist="25400" dir="8100000" algn="bl" rotWithShape="0">
              <a:srgbClr val="000000">
                <a:alpha val="12000"/>
              </a:srgbClr>
            </a:outerShdw>
          </a:effectLst>
        </p:spPr>
      </p:sp>
      <p:sp>
        <p:nvSpPr>
          <p:cNvPr id="15" name="Text 13"/>
          <p:cNvSpPr/>
          <p:nvPr/>
        </p:nvSpPr>
        <p:spPr>
          <a:xfrm>
            <a:off x="4626864" y="1828800"/>
            <a:ext cx="1920240" cy="594360"/>
          </a:xfrm>
          <a:prstGeom prst="rect">
            <a:avLst/>
          </a:prstGeom>
          <a:noFill/>
        </p:spPr>
        <p:txBody>
          <a:bodyPr wrap="square" lIns="0" tIns="0" rIns="0" bIns="0" rtlCol="0" anchor="ctr"/>
          <a:lstStyle/>
          <a:p>
            <a:pPr marL="0" indent="0" algn="ctr">
              <a:buNone/>
            </a:pPr>
            <a:r>
              <a:rPr lang="en-US" sz="3000" b="1" dirty="0">
                <a:solidFill>
                  <a:schemeClr val="tx1"/>
                </a:solidFill>
                <a:latin typeface="Calibri" pitchFamily="34" charset="0"/>
                <a:ea typeface="Calibri" pitchFamily="34" charset="-122"/>
                <a:cs typeface="Calibri" pitchFamily="34" charset="-120"/>
              </a:rPr>
              <a:t>~14%</a:t>
            </a:r>
            <a:endParaRPr lang="en-US" sz="3000" b="1" dirty="0">
              <a:solidFill>
                <a:schemeClr val="tx1"/>
              </a:solidFill>
              <a:latin typeface="Calibri" pitchFamily="34" charset="0"/>
              <a:ea typeface="Calibri" pitchFamily="34" charset="-122"/>
              <a:cs typeface="Calibri" pitchFamily="34" charset="-120"/>
            </a:endParaRPr>
          </a:p>
        </p:txBody>
      </p:sp>
      <p:sp>
        <p:nvSpPr>
          <p:cNvPr id="16" name="Text 14"/>
          <p:cNvSpPr/>
          <p:nvPr/>
        </p:nvSpPr>
        <p:spPr>
          <a:xfrm>
            <a:off x="4626864" y="2423160"/>
            <a:ext cx="1920240" cy="411480"/>
          </a:xfrm>
          <a:prstGeom prst="rect">
            <a:avLst/>
          </a:prstGeom>
          <a:noFill/>
        </p:spPr>
        <p:txBody>
          <a:bodyPr wrap="square" lIns="0" tIns="0" rIns="0" bIns="0" rtlCol="0" anchor="ctr"/>
          <a:lstStyle/>
          <a:p>
            <a:pPr marL="0" indent="0" algn="ctr">
              <a:buNone/>
            </a:pPr>
            <a:r>
              <a:rPr lang="en-US" sz="1100" dirty="0">
                <a:solidFill>
                  <a:srgbClr val="002060"/>
                </a:solidFill>
                <a:latin typeface="Calibri" pitchFamily="34" charset="0"/>
                <a:ea typeface="Calibri" pitchFamily="34" charset="-122"/>
                <a:cs typeface="Calibri" pitchFamily="34" charset="-120"/>
              </a:rPr>
              <a:t>Churn Rate (minority)</a:t>
            </a:r>
            <a:endParaRPr lang="en-US" sz="1100" dirty="0">
              <a:solidFill>
                <a:srgbClr val="002060"/>
              </a:solidFill>
              <a:latin typeface="Calibri" pitchFamily="34" charset="0"/>
              <a:ea typeface="Calibri" pitchFamily="34" charset="-122"/>
              <a:cs typeface="Calibri" pitchFamily="34" charset="-120"/>
            </a:endParaRPr>
          </a:p>
        </p:txBody>
      </p:sp>
      <p:sp>
        <p:nvSpPr>
          <p:cNvPr id="17" name="Shape 15"/>
          <p:cNvSpPr/>
          <p:nvPr/>
        </p:nvSpPr>
        <p:spPr>
          <a:xfrm>
            <a:off x="6803136" y="1691640"/>
            <a:ext cx="1920240" cy="1234440"/>
          </a:xfrm>
          <a:prstGeom prst="rect">
            <a:avLst/>
          </a:prstGeom>
          <a:solidFill>
            <a:srgbClr val="EEF2F7"/>
          </a:solidFill>
          <a:ln>
            <a:noFill/>
          </a:ln>
          <a:effectLst>
            <a:outerShdw blurRad="63500" dist="25400" dir="8100000" algn="bl" rotWithShape="0">
              <a:srgbClr val="000000">
                <a:alpha val="12000"/>
              </a:srgbClr>
            </a:outerShdw>
          </a:effectLst>
        </p:spPr>
      </p:sp>
      <p:sp>
        <p:nvSpPr>
          <p:cNvPr id="18" name="Text 16"/>
          <p:cNvSpPr/>
          <p:nvPr/>
        </p:nvSpPr>
        <p:spPr>
          <a:xfrm>
            <a:off x="6803136" y="1828800"/>
            <a:ext cx="1920240" cy="594360"/>
          </a:xfrm>
          <a:prstGeom prst="rect">
            <a:avLst/>
          </a:prstGeom>
          <a:noFill/>
        </p:spPr>
        <p:txBody>
          <a:bodyPr wrap="square" lIns="0" tIns="0" rIns="0" bIns="0" rtlCol="0" anchor="ctr"/>
          <a:lstStyle/>
          <a:p>
            <a:pPr marL="0" indent="0" algn="ctr">
              <a:buNone/>
            </a:pPr>
            <a:r>
              <a:rPr lang="en-US" sz="3000" b="1" dirty="0">
                <a:solidFill>
                  <a:schemeClr val="tx1"/>
                </a:solidFill>
                <a:latin typeface="Calibri" pitchFamily="34" charset="0"/>
                <a:ea typeface="Calibri" pitchFamily="34" charset="-122"/>
                <a:cs typeface="Calibri" pitchFamily="34" charset="-120"/>
              </a:rPr>
              <a:t>3,333</a:t>
            </a:r>
            <a:endParaRPr lang="en-US" sz="3000" b="1" dirty="0">
              <a:solidFill>
                <a:schemeClr val="tx1"/>
              </a:solidFill>
              <a:latin typeface="Calibri" pitchFamily="34" charset="0"/>
              <a:ea typeface="Calibri" pitchFamily="34" charset="-122"/>
              <a:cs typeface="Calibri" pitchFamily="34" charset="-120"/>
            </a:endParaRPr>
          </a:p>
        </p:txBody>
      </p:sp>
      <p:sp>
        <p:nvSpPr>
          <p:cNvPr id="19" name="Text 17"/>
          <p:cNvSpPr/>
          <p:nvPr/>
        </p:nvSpPr>
        <p:spPr>
          <a:xfrm>
            <a:off x="6803136" y="2423160"/>
            <a:ext cx="1920240" cy="411480"/>
          </a:xfrm>
          <a:prstGeom prst="rect">
            <a:avLst/>
          </a:prstGeom>
          <a:noFill/>
        </p:spPr>
        <p:txBody>
          <a:bodyPr wrap="square" lIns="0" tIns="0" rIns="0" bIns="0" rtlCol="0" anchor="ctr"/>
          <a:lstStyle/>
          <a:p>
            <a:pPr marL="0" indent="0" algn="ctr">
              <a:buNone/>
            </a:pPr>
            <a:r>
              <a:rPr lang="en-US" sz="1100" dirty="0">
                <a:solidFill>
                  <a:srgbClr val="002060"/>
                </a:solidFill>
                <a:latin typeface="Calibri" pitchFamily="34" charset="0"/>
                <a:ea typeface="Calibri" pitchFamily="34" charset="-122"/>
                <a:cs typeface="Calibri" pitchFamily="34" charset="-120"/>
              </a:rPr>
              <a:t>Total Records</a:t>
            </a:r>
            <a:endParaRPr lang="en-US" sz="1100" dirty="0">
              <a:solidFill>
                <a:srgbClr val="002060"/>
              </a:solidFill>
              <a:latin typeface="Calibri" pitchFamily="34" charset="0"/>
              <a:ea typeface="Calibri" pitchFamily="34" charset="-122"/>
              <a:cs typeface="Calibri" pitchFamily="34" charset="-120"/>
            </a:endParaRPr>
          </a:p>
        </p:txBody>
      </p:sp>
      <p:sp>
        <p:nvSpPr>
          <p:cNvPr id="20" name="Text 18"/>
          <p:cNvSpPr/>
          <p:nvPr/>
        </p:nvSpPr>
        <p:spPr>
          <a:xfrm>
            <a:off x="320040" y="3063240"/>
            <a:ext cx="8503920" cy="320040"/>
          </a:xfrm>
          <a:prstGeom prst="rect">
            <a:avLst/>
          </a:prstGeom>
          <a:noFill/>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Engineering Pipeline</a:t>
            </a:r>
            <a:endParaRPr lang="en-US" sz="1300" dirty="0"/>
          </a:p>
        </p:txBody>
      </p:sp>
      <p:sp>
        <p:nvSpPr>
          <p:cNvPr id="21" name="Shape 19"/>
          <p:cNvSpPr/>
          <p:nvPr/>
        </p:nvSpPr>
        <p:spPr>
          <a:xfrm>
            <a:off x="274320" y="3456432"/>
            <a:ext cx="1325880" cy="1417320"/>
          </a:xfrm>
          <a:prstGeom prst="rect">
            <a:avLst/>
          </a:prstGeom>
          <a:solidFill>
            <a:srgbClr val="EEF2F7"/>
          </a:solidFill>
          <a:ln>
            <a:noFill/>
          </a:ln>
        </p:spPr>
      </p:sp>
      <p:sp>
        <p:nvSpPr>
          <p:cNvPr id="22" name="Shape 20"/>
          <p:cNvSpPr/>
          <p:nvPr/>
        </p:nvSpPr>
        <p:spPr>
          <a:xfrm>
            <a:off x="1591056" y="4005072"/>
            <a:ext cx="155448" cy="347472"/>
          </a:xfrm>
          <a:prstGeom prst="rect">
            <a:avLst/>
          </a:prstGeom>
          <a:solidFill>
            <a:srgbClr val="0891B2"/>
          </a:solidFill>
          <a:ln w="12700">
            <a:solidFill>
              <a:srgbClr val="0891B2"/>
            </a:solidFill>
            <a:prstDash val="solid"/>
          </a:ln>
        </p:spPr>
      </p:sp>
      <p:sp>
        <p:nvSpPr>
          <p:cNvPr id="23" name="Text 21"/>
          <p:cNvSpPr/>
          <p:nvPr/>
        </p:nvSpPr>
        <p:spPr>
          <a:xfrm>
            <a:off x="274320" y="3547872"/>
            <a:ext cx="1325880" cy="1234440"/>
          </a:xfrm>
          <a:prstGeom prst="rect">
            <a:avLst/>
          </a:prstGeom>
          <a:noFill/>
        </p:spPr>
        <p:txBody>
          <a:bodyPr wrap="square" lIns="38100" tIns="38100" rIns="38100" bIns="38100" rtlCol="0" anchor="ctr"/>
          <a:lstStyle/>
          <a:p>
            <a:pPr marL="0" indent="0" algn="ctr">
              <a:buNone/>
            </a:pPr>
            <a:r>
              <a:rPr lang="en-US" sz="1000" b="1" dirty="0">
                <a:solidFill>
                  <a:srgbClr val="002060"/>
                </a:solidFill>
                <a:latin typeface="Calibri" pitchFamily="34" charset="0"/>
                <a:ea typeface="Calibri" pitchFamily="34" charset="-122"/>
                <a:cs typeface="Calibri" pitchFamily="34" charset="-120"/>
              </a:rPr>
              <a:t>1  Fix Area Code</a:t>
            </a:r>
            <a:endParaRPr lang="en-US" sz="1000" dirty="0">
              <a:solidFill>
                <a:srgbClr val="002060"/>
              </a:solidFill>
            </a:endParaRPr>
          </a:p>
          <a:p>
            <a:pPr marL="0" indent="0" algn="ctr">
              <a:buNone/>
            </a:pPr>
            <a:r>
              <a:rPr lang="en-US" sz="1000" b="1" dirty="0">
                <a:solidFill>
                  <a:srgbClr val="002060"/>
                </a:solidFill>
                <a:latin typeface="Calibri" pitchFamily="34" charset="0"/>
                <a:ea typeface="Calibri" pitchFamily="34" charset="-122"/>
                <a:cs typeface="Calibri" pitchFamily="34" charset="-120"/>
              </a:rPr>
              <a:t>(one-hot)</a:t>
            </a:r>
            <a:endParaRPr lang="en-US" sz="1000" b="1" dirty="0">
              <a:solidFill>
                <a:srgbClr val="002060"/>
              </a:solidFill>
              <a:latin typeface="Calibri" pitchFamily="34" charset="0"/>
              <a:ea typeface="Calibri" pitchFamily="34" charset="-122"/>
              <a:cs typeface="Calibri" pitchFamily="34" charset="-120"/>
            </a:endParaRPr>
          </a:p>
        </p:txBody>
      </p:sp>
      <p:sp>
        <p:nvSpPr>
          <p:cNvPr id="24" name="Shape 22"/>
          <p:cNvSpPr/>
          <p:nvPr/>
        </p:nvSpPr>
        <p:spPr>
          <a:xfrm>
            <a:off x="1737360" y="3456432"/>
            <a:ext cx="1325880" cy="1417320"/>
          </a:xfrm>
          <a:prstGeom prst="rect">
            <a:avLst/>
          </a:prstGeom>
          <a:solidFill>
            <a:srgbClr val="EEF2F7"/>
          </a:solidFill>
          <a:ln>
            <a:noFill/>
          </a:ln>
        </p:spPr>
      </p:sp>
      <p:sp>
        <p:nvSpPr>
          <p:cNvPr id="25" name="Shape 23"/>
          <p:cNvSpPr/>
          <p:nvPr/>
        </p:nvSpPr>
        <p:spPr>
          <a:xfrm>
            <a:off x="3054096" y="4005072"/>
            <a:ext cx="155448" cy="347472"/>
          </a:xfrm>
          <a:prstGeom prst="rect">
            <a:avLst/>
          </a:prstGeom>
          <a:solidFill>
            <a:srgbClr val="0891B2"/>
          </a:solidFill>
          <a:ln w="12700">
            <a:solidFill>
              <a:srgbClr val="0891B2"/>
            </a:solidFill>
            <a:prstDash val="solid"/>
          </a:ln>
        </p:spPr>
      </p:sp>
      <p:sp>
        <p:nvSpPr>
          <p:cNvPr id="26" name="Text 24"/>
          <p:cNvSpPr/>
          <p:nvPr/>
        </p:nvSpPr>
        <p:spPr>
          <a:xfrm>
            <a:off x="1737360" y="3547872"/>
            <a:ext cx="1325880" cy="1234440"/>
          </a:xfrm>
          <a:prstGeom prst="rect">
            <a:avLst/>
          </a:prstGeom>
          <a:noFill/>
        </p:spPr>
        <p:txBody>
          <a:bodyPr wrap="square" lIns="38100" tIns="38100" rIns="38100" bIns="38100" rtlCol="0" anchor="ctr"/>
          <a:lstStyle/>
          <a:p>
            <a:pPr marL="0" indent="0" algn="ctr">
              <a:buNone/>
            </a:pPr>
            <a:r>
              <a:rPr lang="en-US" sz="1000" b="1" dirty="0">
                <a:solidFill>
                  <a:srgbClr val="002060"/>
                </a:solidFill>
                <a:latin typeface="Calibri" pitchFamily="34" charset="0"/>
                <a:ea typeface="Calibri" pitchFamily="34" charset="-122"/>
                <a:cs typeface="Calibri" pitchFamily="34" charset="-120"/>
              </a:rPr>
              <a:t>2  Aggregation</a:t>
            </a:r>
            <a:endParaRPr lang="en-US" sz="1000" dirty="0">
              <a:solidFill>
                <a:srgbClr val="002060"/>
              </a:solidFill>
            </a:endParaRPr>
          </a:p>
          <a:p>
            <a:pPr marL="0" indent="0" algn="ctr">
              <a:buNone/>
            </a:pPr>
            <a:r>
              <a:rPr lang="en-US" sz="1000" b="1" dirty="0">
                <a:solidFill>
                  <a:srgbClr val="002060"/>
                </a:solidFill>
                <a:latin typeface="Calibri" pitchFamily="34" charset="0"/>
                <a:ea typeface="Calibri" pitchFamily="34" charset="-122"/>
                <a:cs typeface="Calibri" pitchFamily="34" charset="-120"/>
              </a:rPr>
              <a:t>Features</a:t>
            </a:r>
            <a:endParaRPr lang="en-US" sz="1000" b="1" dirty="0">
              <a:solidFill>
                <a:srgbClr val="002060"/>
              </a:solidFill>
              <a:latin typeface="Calibri" pitchFamily="34" charset="0"/>
              <a:ea typeface="Calibri" pitchFamily="34" charset="-122"/>
              <a:cs typeface="Calibri" pitchFamily="34" charset="-120"/>
            </a:endParaRPr>
          </a:p>
        </p:txBody>
      </p:sp>
      <p:sp>
        <p:nvSpPr>
          <p:cNvPr id="27" name="Shape 25"/>
          <p:cNvSpPr/>
          <p:nvPr/>
        </p:nvSpPr>
        <p:spPr>
          <a:xfrm>
            <a:off x="3200400" y="3456432"/>
            <a:ext cx="1325880" cy="1417320"/>
          </a:xfrm>
          <a:prstGeom prst="rect">
            <a:avLst/>
          </a:prstGeom>
          <a:solidFill>
            <a:srgbClr val="EEF2F7"/>
          </a:solidFill>
          <a:ln>
            <a:noFill/>
          </a:ln>
        </p:spPr>
      </p:sp>
      <p:sp>
        <p:nvSpPr>
          <p:cNvPr id="28" name="Shape 26"/>
          <p:cNvSpPr/>
          <p:nvPr/>
        </p:nvSpPr>
        <p:spPr>
          <a:xfrm>
            <a:off x="4517136" y="4005072"/>
            <a:ext cx="155448" cy="347472"/>
          </a:xfrm>
          <a:prstGeom prst="rect">
            <a:avLst/>
          </a:prstGeom>
          <a:solidFill>
            <a:srgbClr val="0891B2"/>
          </a:solidFill>
          <a:ln w="12700">
            <a:solidFill>
              <a:srgbClr val="0891B2"/>
            </a:solidFill>
            <a:prstDash val="solid"/>
          </a:ln>
        </p:spPr>
      </p:sp>
      <p:sp>
        <p:nvSpPr>
          <p:cNvPr id="29" name="Text 27"/>
          <p:cNvSpPr/>
          <p:nvPr/>
        </p:nvSpPr>
        <p:spPr>
          <a:xfrm>
            <a:off x="3200400" y="3547872"/>
            <a:ext cx="1325880" cy="1234440"/>
          </a:xfrm>
          <a:prstGeom prst="rect">
            <a:avLst/>
          </a:prstGeom>
          <a:noFill/>
        </p:spPr>
        <p:txBody>
          <a:bodyPr wrap="square" lIns="38100" tIns="38100" rIns="38100" bIns="38100" rtlCol="0" anchor="ctr"/>
          <a:lstStyle/>
          <a:p>
            <a:pPr marL="0" indent="0" algn="ctr">
              <a:buNone/>
            </a:pPr>
            <a:r>
              <a:rPr lang="en-US" sz="1000" b="1" dirty="0">
                <a:solidFill>
                  <a:srgbClr val="002060"/>
                </a:solidFill>
                <a:latin typeface="Calibri" pitchFamily="34" charset="0"/>
                <a:ea typeface="Calibri" pitchFamily="34" charset="-122"/>
                <a:cs typeface="Calibri" pitchFamily="34" charset="-120"/>
              </a:rPr>
              <a:t>3  Business</a:t>
            </a:r>
            <a:endParaRPr lang="en-US" sz="1000" dirty="0">
              <a:solidFill>
                <a:srgbClr val="002060"/>
              </a:solidFill>
            </a:endParaRPr>
          </a:p>
          <a:p>
            <a:pPr marL="0" indent="0" algn="ctr">
              <a:buNone/>
            </a:pPr>
            <a:r>
              <a:rPr lang="en-US" sz="1000" b="1" dirty="0">
                <a:solidFill>
                  <a:srgbClr val="002060"/>
                </a:solidFill>
                <a:latin typeface="Calibri" pitchFamily="34" charset="0"/>
                <a:ea typeface="Calibri" pitchFamily="34" charset="-122"/>
                <a:cs typeface="Calibri" pitchFamily="34" charset="-120"/>
              </a:rPr>
              <a:t>Features</a:t>
            </a:r>
            <a:endParaRPr lang="en-US" sz="1000" b="1" dirty="0">
              <a:solidFill>
                <a:srgbClr val="002060"/>
              </a:solidFill>
              <a:latin typeface="Calibri" pitchFamily="34" charset="0"/>
              <a:ea typeface="Calibri" pitchFamily="34" charset="-122"/>
              <a:cs typeface="Calibri" pitchFamily="34" charset="-120"/>
            </a:endParaRPr>
          </a:p>
        </p:txBody>
      </p:sp>
      <p:sp>
        <p:nvSpPr>
          <p:cNvPr id="30" name="Shape 28"/>
          <p:cNvSpPr/>
          <p:nvPr/>
        </p:nvSpPr>
        <p:spPr>
          <a:xfrm>
            <a:off x="4663440" y="3456432"/>
            <a:ext cx="1325880" cy="1417320"/>
          </a:xfrm>
          <a:prstGeom prst="rect">
            <a:avLst/>
          </a:prstGeom>
          <a:solidFill>
            <a:srgbClr val="EEF2F7"/>
          </a:solidFill>
          <a:ln>
            <a:noFill/>
          </a:ln>
        </p:spPr>
      </p:sp>
      <p:sp>
        <p:nvSpPr>
          <p:cNvPr id="31" name="Shape 29"/>
          <p:cNvSpPr/>
          <p:nvPr/>
        </p:nvSpPr>
        <p:spPr>
          <a:xfrm>
            <a:off x="5980176" y="4005072"/>
            <a:ext cx="155448" cy="347472"/>
          </a:xfrm>
          <a:prstGeom prst="rect">
            <a:avLst/>
          </a:prstGeom>
          <a:solidFill>
            <a:srgbClr val="0891B2"/>
          </a:solidFill>
          <a:ln w="12700">
            <a:solidFill>
              <a:srgbClr val="0891B2"/>
            </a:solidFill>
            <a:prstDash val="solid"/>
          </a:ln>
        </p:spPr>
      </p:sp>
      <p:sp>
        <p:nvSpPr>
          <p:cNvPr id="32" name="Text 30"/>
          <p:cNvSpPr/>
          <p:nvPr/>
        </p:nvSpPr>
        <p:spPr>
          <a:xfrm>
            <a:off x="4663440" y="3547872"/>
            <a:ext cx="1325880" cy="1234440"/>
          </a:xfrm>
          <a:prstGeom prst="rect">
            <a:avLst/>
          </a:prstGeom>
          <a:noFill/>
        </p:spPr>
        <p:txBody>
          <a:bodyPr wrap="square" lIns="38100" tIns="38100" rIns="38100" bIns="38100" rtlCol="0" anchor="ctr"/>
          <a:lstStyle/>
          <a:p>
            <a:pPr marL="0" indent="0" algn="ctr">
              <a:buNone/>
            </a:pPr>
            <a:r>
              <a:rPr lang="en-US" sz="1000" b="1" dirty="0">
                <a:solidFill>
                  <a:srgbClr val="002060"/>
                </a:solidFill>
                <a:latin typeface="Calibri" pitchFamily="34" charset="0"/>
                <a:ea typeface="Calibri" pitchFamily="34" charset="-122"/>
                <a:cs typeface="Calibri" pitchFamily="34" charset="-120"/>
              </a:rPr>
              <a:t>4  Remove</a:t>
            </a:r>
            <a:endParaRPr lang="en-US" sz="1000" dirty="0">
              <a:solidFill>
                <a:srgbClr val="002060"/>
              </a:solidFill>
            </a:endParaRPr>
          </a:p>
          <a:p>
            <a:pPr marL="0" indent="0" algn="ctr">
              <a:buNone/>
            </a:pPr>
            <a:r>
              <a:rPr lang="en-US" sz="1000" b="1" dirty="0">
                <a:solidFill>
                  <a:srgbClr val="002060"/>
                </a:solidFill>
                <a:latin typeface="Calibri" pitchFamily="34" charset="0"/>
                <a:ea typeface="Calibri" pitchFamily="34" charset="-122"/>
                <a:cs typeface="Calibri" pitchFamily="34" charset="-120"/>
              </a:rPr>
              <a:t>Correlated</a:t>
            </a:r>
            <a:endParaRPr lang="en-US" sz="1000" b="1" dirty="0">
              <a:solidFill>
                <a:srgbClr val="002060"/>
              </a:solidFill>
              <a:latin typeface="Calibri" pitchFamily="34" charset="0"/>
              <a:ea typeface="Calibri" pitchFamily="34" charset="-122"/>
              <a:cs typeface="Calibri" pitchFamily="34" charset="-120"/>
            </a:endParaRPr>
          </a:p>
        </p:txBody>
      </p:sp>
      <p:sp>
        <p:nvSpPr>
          <p:cNvPr id="33" name="Shape 31"/>
          <p:cNvSpPr/>
          <p:nvPr/>
        </p:nvSpPr>
        <p:spPr>
          <a:xfrm>
            <a:off x="6126480" y="3456432"/>
            <a:ext cx="1325880" cy="1417320"/>
          </a:xfrm>
          <a:prstGeom prst="rect">
            <a:avLst/>
          </a:prstGeom>
          <a:solidFill>
            <a:srgbClr val="EEF2F7"/>
          </a:solidFill>
          <a:ln>
            <a:noFill/>
          </a:ln>
        </p:spPr>
      </p:sp>
      <p:sp>
        <p:nvSpPr>
          <p:cNvPr id="34" name="Shape 32"/>
          <p:cNvSpPr/>
          <p:nvPr/>
        </p:nvSpPr>
        <p:spPr>
          <a:xfrm>
            <a:off x="7443216" y="4005072"/>
            <a:ext cx="155448" cy="347472"/>
          </a:xfrm>
          <a:prstGeom prst="rect">
            <a:avLst/>
          </a:prstGeom>
          <a:solidFill>
            <a:srgbClr val="0891B2"/>
          </a:solidFill>
          <a:ln w="12700">
            <a:solidFill>
              <a:srgbClr val="0891B2"/>
            </a:solidFill>
            <a:prstDash val="solid"/>
          </a:ln>
        </p:spPr>
      </p:sp>
      <p:sp>
        <p:nvSpPr>
          <p:cNvPr id="35" name="Text 33"/>
          <p:cNvSpPr/>
          <p:nvPr/>
        </p:nvSpPr>
        <p:spPr>
          <a:xfrm>
            <a:off x="6126480" y="3547872"/>
            <a:ext cx="1325880" cy="1234440"/>
          </a:xfrm>
          <a:prstGeom prst="rect">
            <a:avLst/>
          </a:prstGeom>
          <a:noFill/>
        </p:spPr>
        <p:txBody>
          <a:bodyPr wrap="square" lIns="38100" tIns="38100" rIns="38100" bIns="38100" rtlCol="0" anchor="ctr"/>
          <a:lstStyle/>
          <a:p>
            <a:pPr marL="0" indent="0" algn="ctr">
              <a:buNone/>
            </a:pPr>
            <a:r>
              <a:rPr lang="en-US" sz="1000" b="1" dirty="0">
                <a:solidFill>
                  <a:srgbClr val="002060"/>
                </a:solidFill>
                <a:latin typeface="Calibri" pitchFamily="34" charset="0"/>
                <a:ea typeface="Calibri" pitchFamily="34" charset="-122"/>
                <a:cs typeface="Calibri" pitchFamily="34" charset="-120"/>
              </a:rPr>
              <a:t>5  RobustScaler</a:t>
            </a:r>
            <a:endParaRPr lang="en-US" sz="1000" dirty="0">
              <a:solidFill>
                <a:srgbClr val="002060"/>
              </a:solidFill>
            </a:endParaRPr>
          </a:p>
          <a:p>
            <a:pPr marL="0" indent="0" algn="ctr">
              <a:buNone/>
            </a:pPr>
            <a:r>
              <a:rPr lang="en-US" sz="1000" b="1" dirty="0">
                <a:solidFill>
                  <a:srgbClr val="002060"/>
                </a:solidFill>
                <a:latin typeface="Calibri" pitchFamily="34" charset="0"/>
                <a:ea typeface="Calibri" pitchFamily="34" charset="-122"/>
                <a:cs typeface="Calibri" pitchFamily="34" charset="-120"/>
              </a:rPr>
              <a:t>(train only)</a:t>
            </a:r>
            <a:endParaRPr lang="en-US" sz="1000" b="1" dirty="0">
              <a:solidFill>
                <a:srgbClr val="002060"/>
              </a:solidFill>
              <a:latin typeface="Calibri" pitchFamily="34" charset="0"/>
              <a:ea typeface="Calibri" pitchFamily="34" charset="-122"/>
              <a:cs typeface="Calibri" pitchFamily="34" charset="-120"/>
            </a:endParaRPr>
          </a:p>
        </p:txBody>
      </p:sp>
      <p:sp>
        <p:nvSpPr>
          <p:cNvPr id="36" name="Shape 34"/>
          <p:cNvSpPr/>
          <p:nvPr/>
        </p:nvSpPr>
        <p:spPr>
          <a:xfrm>
            <a:off x="7589520" y="3456432"/>
            <a:ext cx="1325880" cy="1417320"/>
          </a:xfrm>
          <a:prstGeom prst="rect">
            <a:avLst/>
          </a:prstGeom>
          <a:solidFill>
            <a:srgbClr val="EEF2F7"/>
          </a:solidFill>
          <a:ln>
            <a:noFill/>
          </a:ln>
        </p:spPr>
      </p:sp>
      <p:sp>
        <p:nvSpPr>
          <p:cNvPr id="37" name="Text 35"/>
          <p:cNvSpPr/>
          <p:nvPr/>
        </p:nvSpPr>
        <p:spPr>
          <a:xfrm>
            <a:off x="7589520" y="3547872"/>
            <a:ext cx="1325880" cy="1234440"/>
          </a:xfrm>
          <a:prstGeom prst="rect">
            <a:avLst/>
          </a:prstGeom>
          <a:noFill/>
        </p:spPr>
        <p:txBody>
          <a:bodyPr wrap="square" lIns="38100" tIns="38100" rIns="38100" bIns="38100" rtlCol="0" anchor="ctr"/>
          <a:lstStyle/>
          <a:p>
            <a:pPr marL="0" indent="0" algn="ctr">
              <a:buNone/>
            </a:pPr>
            <a:r>
              <a:rPr lang="en-US" sz="1000" b="1" dirty="0">
                <a:solidFill>
                  <a:srgbClr val="002060"/>
                </a:solidFill>
                <a:latin typeface="Calibri" pitchFamily="34" charset="0"/>
                <a:ea typeface="Calibri" pitchFamily="34" charset="-122"/>
                <a:cs typeface="Calibri" pitchFamily="34" charset="-120"/>
              </a:rPr>
              <a:t>6  SMOTE</a:t>
            </a:r>
            <a:endParaRPr lang="en-US" sz="1000" dirty="0">
              <a:solidFill>
                <a:srgbClr val="002060"/>
              </a:solidFill>
            </a:endParaRPr>
          </a:p>
          <a:p>
            <a:pPr marL="0" indent="0" algn="ctr">
              <a:buNone/>
            </a:pPr>
            <a:r>
              <a:rPr lang="en-US" sz="1000" b="1" dirty="0">
                <a:solidFill>
                  <a:srgbClr val="002060"/>
                </a:solidFill>
                <a:latin typeface="Calibri" pitchFamily="34" charset="0"/>
                <a:ea typeface="Calibri" pitchFamily="34" charset="-122"/>
                <a:cs typeface="Calibri" pitchFamily="34" charset="-120"/>
              </a:rPr>
              <a:t>(train only)</a:t>
            </a:r>
            <a:endParaRPr lang="en-US" sz="1000" b="1" dirty="0">
              <a:solidFill>
                <a:srgbClr val="002060"/>
              </a:solidFill>
              <a:latin typeface="Calibri" pitchFamily="34" charset="0"/>
              <a:ea typeface="Calibri" pitchFamily="34" charset="-122"/>
              <a:cs typeface="Calibri" pitchFamily="34" charset="-12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a:noFill/>
          </a:ln>
        </p:spPr>
      </p:sp>
      <p:sp>
        <p:nvSpPr>
          <p:cNvPr id="3" name="Shape 1"/>
          <p:cNvSpPr/>
          <p:nvPr/>
        </p:nvSpPr>
        <p:spPr>
          <a:xfrm>
            <a:off x="0" y="0"/>
            <a:ext cx="164592" cy="658368"/>
          </a:xfrm>
          <a:prstGeom prst="rect">
            <a:avLst/>
          </a:prstGeom>
          <a:solidFill>
            <a:srgbClr val="0891B2"/>
          </a:solidFill>
          <a:ln w="12700">
            <a:solidFill>
              <a:srgbClr val="0891B2"/>
            </a:solidFill>
            <a:prstDash val="solid"/>
          </a:ln>
        </p:spPr>
      </p:sp>
      <p:sp>
        <p:nvSpPr>
          <p:cNvPr id="4" name="Text 2"/>
          <p:cNvSpPr/>
          <p:nvPr/>
        </p:nvSpPr>
        <p:spPr>
          <a:xfrm>
            <a:off x="320040" y="45720"/>
            <a:ext cx="6858000" cy="566928"/>
          </a:xfrm>
          <a:prstGeom prst="rect">
            <a:avLst/>
          </a:prstGeom>
          <a:noFill/>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Original Aggregation Features</a:t>
            </a:r>
            <a:endParaRPr lang="en-US" sz="2200" dirty="0"/>
          </a:p>
        </p:txBody>
      </p:sp>
      <p:sp>
        <p:nvSpPr>
          <p:cNvPr id="5" name="Text 3"/>
          <p:cNvSpPr/>
          <p:nvPr/>
        </p:nvSpPr>
        <p:spPr>
          <a:xfrm>
            <a:off x="7315200" y="137160"/>
            <a:ext cx="1645920" cy="384048"/>
          </a:xfrm>
          <a:prstGeom prst="rect">
            <a:avLst/>
          </a:prstGeom>
          <a:noFill/>
        </p:spPr>
        <p:txBody>
          <a:bodyPr wrap="square" lIns="0" tIns="0" rIns="0" bIns="0" rtlCol="0" anchor="ctr"/>
          <a:lstStyle/>
          <a:p>
            <a:pPr marL="0" indent="0" algn="r">
              <a:buNone/>
            </a:pPr>
            <a:r>
              <a:rPr lang="en-US" sz="900" b="1" dirty="0">
                <a:solidFill>
                  <a:srgbClr val="02C39A"/>
                </a:solidFill>
                <a:latin typeface="Calibri" pitchFamily="34" charset="0"/>
                <a:ea typeface="Calibri" pitchFamily="34" charset="-122"/>
                <a:cs typeface="Calibri" pitchFamily="34" charset="-120"/>
              </a:rPr>
              <a:t>FEAT. ENGINEERING</a:t>
            </a:r>
            <a:endParaRPr lang="en-US" sz="900" dirty="0"/>
          </a:p>
        </p:txBody>
      </p:sp>
      <p:sp>
        <p:nvSpPr>
          <p:cNvPr id="6" name="Shape 4"/>
          <p:cNvSpPr/>
          <p:nvPr/>
        </p:nvSpPr>
        <p:spPr>
          <a:xfrm>
            <a:off x="274320" y="777240"/>
            <a:ext cx="8595360" cy="1234440"/>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7" name="Shape 5"/>
          <p:cNvSpPr/>
          <p:nvPr/>
        </p:nvSpPr>
        <p:spPr>
          <a:xfrm>
            <a:off x="274320" y="777240"/>
            <a:ext cx="64008" cy="1234440"/>
          </a:xfrm>
          <a:prstGeom prst="rect">
            <a:avLst/>
          </a:prstGeom>
          <a:solidFill>
            <a:srgbClr val="0891B2"/>
          </a:solidFill>
          <a:ln>
            <a:noFill/>
          </a:ln>
        </p:spPr>
      </p:sp>
      <p:sp>
        <p:nvSpPr>
          <p:cNvPr id="8" name="Text 6"/>
          <p:cNvSpPr/>
          <p:nvPr/>
        </p:nvSpPr>
        <p:spPr>
          <a:xfrm>
            <a:off x="502920" y="886968"/>
            <a:ext cx="2560320" cy="384048"/>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total_minutes</a:t>
            </a:r>
            <a:endParaRPr lang="en-US" sz="1400" dirty="0"/>
          </a:p>
        </p:txBody>
      </p:sp>
      <p:sp>
        <p:nvSpPr>
          <p:cNvPr id="9" name="Shape 7"/>
          <p:cNvSpPr/>
          <p:nvPr/>
        </p:nvSpPr>
        <p:spPr>
          <a:xfrm>
            <a:off x="502920" y="1252728"/>
            <a:ext cx="3291840" cy="274320"/>
          </a:xfrm>
          <a:prstGeom prst="rect">
            <a:avLst/>
          </a:prstGeom>
          <a:solidFill>
            <a:srgbClr val="D9F0EE"/>
          </a:solidFill>
          <a:ln w="12700">
            <a:solidFill>
              <a:srgbClr val="D9F0EE"/>
            </a:solidFill>
            <a:prstDash val="solid"/>
          </a:ln>
        </p:spPr>
      </p:sp>
      <p:sp>
        <p:nvSpPr>
          <p:cNvPr id="10" name="Text 8"/>
          <p:cNvSpPr/>
          <p:nvPr/>
        </p:nvSpPr>
        <p:spPr>
          <a:xfrm>
            <a:off x="548640" y="1252728"/>
            <a:ext cx="3200400" cy="274320"/>
          </a:xfrm>
          <a:prstGeom prst="rect">
            <a:avLst/>
          </a:prstGeom>
          <a:noFill/>
        </p:spPr>
        <p:txBody>
          <a:bodyPr wrap="square" lIns="0" tIns="0" rIns="0" bIns="0" rtlCol="0" anchor="ctr"/>
          <a:lstStyle/>
          <a:p>
            <a:pPr marL="0" indent="0">
              <a:buNone/>
            </a:pPr>
            <a:r>
              <a:rPr lang="en-US" sz="1000" b="1" dirty="0">
                <a:solidFill>
                  <a:srgbClr val="0891B2"/>
                </a:solidFill>
                <a:latin typeface="Consolas" pitchFamily="34" charset="0"/>
                <a:ea typeface="Consolas" pitchFamily="34" charset="-122"/>
                <a:cs typeface="Consolas" pitchFamily="34" charset="-120"/>
              </a:rPr>
              <a:t>Day min + Eve min + Night min</a:t>
            </a:r>
            <a:endParaRPr lang="en-US" sz="1000" dirty="0"/>
          </a:p>
        </p:txBody>
      </p:sp>
      <p:sp>
        <p:nvSpPr>
          <p:cNvPr id="11" name="Text 9"/>
          <p:cNvSpPr/>
          <p:nvPr/>
        </p:nvSpPr>
        <p:spPr>
          <a:xfrm>
            <a:off x="4023360" y="886968"/>
            <a:ext cx="4663440" cy="960120"/>
          </a:xfrm>
          <a:prstGeom prst="rect">
            <a:avLst/>
          </a:prstGeom>
          <a:noFill/>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Captures total call volume — heavy users are often higher-value customers at risk of switching for better rates.</a:t>
            </a:r>
            <a:endParaRPr lang="en-US" sz="1100" dirty="0"/>
          </a:p>
        </p:txBody>
      </p:sp>
      <p:sp>
        <p:nvSpPr>
          <p:cNvPr id="12" name="Shape 10"/>
          <p:cNvSpPr/>
          <p:nvPr/>
        </p:nvSpPr>
        <p:spPr>
          <a:xfrm>
            <a:off x="3840480" y="941832"/>
            <a:ext cx="36576" cy="822960"/>
          </a:xfrm>
          <a:prstGeom prst="rect">
            <a:avLst/>
          </a:prstGeom>
          <a:solidFill>
            <a:srgbClr val="D9F0EE"/>
          </a:solidFill>
          <a:ln w="12700">
            <a:solidFill>
              <a:srgbClr val="D9F0EE"/>
            </a:solidFill>
            <a:prstDash val="solid"/>
          </a:ln>
        </p:spPr>
      </p:sp>
      <p:sp>
        <p:nvSpPr>
          <p:cNvPr id="13" name="Shape 11"/>
          <p:cNvSpPr/>
          <p:nvPr/>
        </p:nvSpPr>
        <p:spPr>
          <a:xfrm>
            <a:off x="274320" y="2167128"/>
            <a:ext cx="8595360" cy="1234440"/>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14" name="Shape 12"/>
          <p:cNvSpPr/>
          <p:nvPr/>
        </p:nvSpPr>
        <p:spPr>
          <a:xfrm>
            <a:off x="274320" y="2167128"/>
            <a:ext cx="64008" cy="1234440"/>
          </a:xfrm>
          <a:prstGeom prst="rect">
            <a:avLst/>
          </a:prstGeom>
          <a:solidFill>
            <a:srgbClr val="0891B2"/>
          </a:solidFill>
          <a:ln>
            <a:noFill/>
          </a:ln>
        </p:spPr>
      </p:sp>
      <p:sp>
        <p:nvSpPr>
          <p:cNvPr id="15" name="Text 13"/>
          <p:cNvSpPr/>
          <p:nvPr/>
        </p:nvSpPr>
        <p:spPr>
          <a:xfrm>
            <a:off x="502920" y="2276856"/>
            <a:ext cx="2560320" cy="384048"/>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total_charge</a:t>
            </a:r>
            <a:endParaRPr lang="en-US" sz="1400" dirty="0"/>
          </a:p>
        </p:txBody>
      </p:sp>
      <p:sp>
        <p:nvSpPr>
          <p:cNvPr id="16" name="Shape 14"/>
          <p:cNvSpPr/>
          <p:nvPr/>
        </p:nvSpPr>
        <p:spPr>
          <a:xfrm>
            <a:off x="502920" y="2642616"/>
            <a:ext cx="3291840" cy="274320"/>
          </a:xfrm>
          <a:prstGeom prst="rect">
            <a:avLst/>
          </a:prstGeom>
          <a:solidFill>
            <a:srgbClr val="D9F0EE"/>
          </a:solidFill>
          <a:ln w="12700">
            <a:solidFill>
              <a:srgbClr val="D9F0EE"/>
            </a:solidFill>
            <a:prstDash val="solid"/>
          </a:ln>
        </p:spPr>
      </p:sp>
      <p:sp>
        <p:nvSpPr>
          <p:cNvPr id="17" name="Text 15"/>
          <p:cNvSpPr/>
          <p:nvPr/>
        </p:nvSpPr>
        <p:spPr>
          <a:xfrm>
            <a:off x="548640" y="2642616"/>
            <a:ext cx="3200400" cy="274320"/>
          </a:xfrm>
          <a:prstGeom prst="rect">
            <a:avLst/>
          </a:prstGeom>
          <a:noFill/>
        </p:spPr>
        <p:txBody>
          <a:bodyPr wrap="square" lIns="0" tIns="0" rIns="0" bIns="0" rtlCol="0" anchor="ctr"/>
          <a:lstStyle/>
          <a:p>
            <a:pPr marL="0" indent="0">
              <a:buNone/>
            </a:pPr>
            <a:r>
              <a:rPr lang="en-US" sz="1000" b="1" dirty="0">
                <a:solidFill>
                  <a:srgbClr val="0891B2"/>
                </a:solidFill>
                <a:latin typeface="Consolas" pitchFamily="34" charset="0"/>
                <a:ea typeface="Consolas" pitchFamily="34" charset="-122"/>
                <a:cs typeface="Consolas" pitchFamily="34" charset="-120"/>
              </a:rPr>
              <a:t>Day charge + Eve charge + Night charge</a:t>
            </a:r>
            <a:endParaRPr lang="en-US" sz="1000" dirty="0"/>
          </a:p>
        </p:txBody>
      </p:sp>
      <p:sp>
        <p:nvSpPr>
          <p:cNvPr id="18" name="Text 16"/>
          <p:cNvSpPr/>
          <p:nvPr/>
        </p:nvSpPr>
        <p:spPr>
          <a:xfrm>
            <a:off x="4023360" y="2276856"/>
            <a:ext cx="4663440" cy="960120"/>
          </a:xfrm>
          <a:prstGeom prst="rect">
            <a:avLst/>
          </a:prstGeom>
          <a:noFill/>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Aggregate billing amount. High bills correlate with churn, especially without a matching plan.</a:t>
            </a:r>
            <a:endParaRPr lang="en-US" sz="1100" dirty="0"/>
          </a:p>
        </p:txBody>
      </p:sp>
      <p:sp>
        <p:nvSpPr>
          <p:cNvPr id="19" name="Shape 17"/>
          <p:cNvSpPr/>
          <p:nvPr/>
        </p:nvSpPr>
        <p:spPr>
          <a:xfrm>
            <a:off x="3840480" y="2331720"/>
            <a:ext cx="36576" cy="822960"/>
          </a:xfrm>
          <a:prstGeom prst="rect">
            <a:avLst/>
          </a:prstGeom>
          <a:solidFill>
            <a:srgbClr val="D9F0EE"/>
          </a:solidFill>
          <a:ln w="12700">
            <a:solidFill>
              <a:srgbClr val="D9F0EE"/>
            </a:solidFill>
            <a:prstDash val="solid"/>
          </a:ln>
        </p:spPr>
      </p:sp>
      <p:sp>
        <p:nvSpPr>
          <p:cNvPr id="20" name="Shape 18"/>
          <p:cNvSpPr/>
          <p:nvPr/>
        </p:nvSpPr>
        <p:spPr>
          <a:xfrm>
            <a:off x="274320" y="3557016"/>
            <a:ext cx="8595360" cy="1234440"/>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21" name="Shape 19"/>
          <p:cNvSpPr/>
          <p:nvPr/>
        </p:nvSpPr>
        <p:spPr>
          <a:xfrm>
            <a:off x="274320" y="3557016"/>
            <a:ext cx="64008" cy="1234440"/>
          </a:xfrm>
          <a:prstGeom prst="rect">
            <a:avLst/>
          </a:prstGeom>
          <a:solidFill>
            <a:srgbClr val="0891B2"/>
          </a:solidFill>
          <a:ln>
            <a:noFill/>
          </a:ln>
        </p:spPr>
      </p:sp>
      <p:sp>
        <p:nvSpPr>
          <p:cNvPr id="22" name="Text 20"/>
          <p:cNvSpPr/>
          <p:nvPr/>
        </p:nvSpPr>
        <p:spPr>
          <a:xfrm>
            <a:off x="502920" y="3666744"/>
            <a:ext cx="2560320" cy="384048"/>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calls_per_minute</a:t>
            </a:r>
            <a:endParaRPr lang="en-US" sz="1400" dirty="0"/>
          </a:p>
        </p:txBody>
      </p:sp>
      <p:sp>
        <p:nvSpPr>
          <p:cNvPr id="23" name="Shape 21"/>
          <p:cNvSpPr/>
          <p:nvPr/>
        </p:nvSpPr>
        <p:spPr>
          <a:xfrm>
            <a:off x="502920" y="4032504"/>
            <a:ext cx="3291840" cy="274320"/>
          </a:xfrm>
          <a:prstGeom prst="rect">
            <a:avLst/>
          </a:prstGeom>
          <a:solidFill>
            <a:srgbClr val="D9F0EE"/>
          </a:solidFill>
          <a:ln w="12700">
            <a:solidFill>
              <a:srgbClr val="D9F0EE"/>
            </a:solidFill>
            <a:prstDash val="solid"/>
          </a:ln>
        </p:spPr>
      </p:sp>
      <p:sp>
        <p:nvSpPr>
          <p:cNvPr id="24" name="Text 22"/>
          <p:cNvSpPr/>
          <p:nvPr/>
        </p:nvSpPr>
        <p:spPr>
          <a:xfrm>
            <a:off x="548640" y="4032504"/>
            <a:ext cx="3200400" cy="274320"/>
          </a:xfrm>
          <a:prstGeom prst="rect">
            <a:avLst/>
          </a:prstGeom>
          <a:noFill/>
        </p:spPr>
        <p:txBody>
          <a:bodyPr wrap="square" lIns="0" tIns="0" rIns="0" bIns="0" rtlCol="0" anchor="ctr"/>
          <a:lstStyle/>
          <a:p>
            <a:pPr marL="0" indent="0">
              <a:buNone/>
            </a:pPr>
            <a:r>
              <a:rPr lang="en-US" sz="1000" b="1" dirty="0">
                <a:solidFill>
                  <a:srgbClr val="0891B2"/>
                </a:solidFill>
                <a:latin typeface="Consolas" pitchFamily="34" charset="0"/>
                <a:ea typeface="Consolas" pitchFamily="34" charset="-122"/>
                <a:cs typeface="Consolas" pitchFamily="34" charset="-120"/>
              </a:rPr>
              <a:t>Total calls ÷ total_minutes</a:t>
            </a:r>
            <a:endParaRPr lang="en-US" sz="1000" dirty="0"/>
          </a:p>
        </p:txBody>
      </p:sp>
      <p:sp>
        <p:nvSpPr>
          <p:cNvPr id="25" name="Text 23"/>
          <p:cNvSpPr/>
          <p:nvPr/>
        </p:nvSpPr>
        <p:spPr>
          <a:xfrm>
            <a:off x="4023360" y="3666744"/>
            <a:ext cx="4663440" cy="960120"/>
          </a:xfrm>
          <a:prstGeom prst="rect">
            <a:avLst/>
          </a:prstGeom>
          <a:noFill/>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Usage intensity proxy — unusually low calls-per-minute may indicate robocalls or dissatisfied customers.</a:t>
            </a:r>
            <a:endParaRPr lang="en-US" sz="1100" dirty="0"/>
          </a:p>
        </p:txBody>
      </p:sp>
      <p:sp>
        <p:nvSpPr>
          <p:cNvPr id="26" name="Shape 24"/>
          <p:cNvSpPr/>
          <p:nvPr/>
        </p:nvSpPr>
        <p:spPr>
          <a:xfrm>
            <a:off x="3840480" y="3721608"/>
            <a:ext cx="36576" cy="822960"/>
          </a:xfrm>
          <a:prstGeom prst="rect">
            <a:avLst/>
          </a:prstGeom>
          <a:solidFill>
            <a:srgbClr val="D9F0EE"/>
          </a:solidFill>
          <a:ln w="12700">
            <a:solidFill>
              <a:srgbClr val="D9F0EE"/>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a:noFill/>
          </a:ln>
        </p:spPr>
      </p:sp>
      <p:sp>
        <p:nvSpPr>
          <p:cNvPr id="3" name="Shape 1"/>
          <p:cNvSpPr/>
          <p:nvPr/>
        </p:nvSpPr>
        <p:spPr>
          <a:xfrm>
            <a:off x="0" y="0"/>
            <a:ext cx="164592" cy="658368"/>
          </a:xfrm>
          <a:prstGeom prst="rect">
            <a:avLst/>
          </a:prstGeom>
          <a:solidFill>
            <a:srgbClr val="0891B2"/>
          </a:solidFill>
          <a:ln w="12700">
            <a:solidFill>
              <a:srgbClr val="0891B2"/>
            </a:solidFill>
            <a:prstDash val="solid"/>
          </a:ln>
        </p:spPr>
      </p:sp>
      <p:sp>
        <p:nvSpPr>
          <p:cNvPr id="4" name="Text 2"/>
          <p:cNvSpPr/>
          <p:nvPr/>
        </p:nvSpPr>
        <p:spPr>
          <a:xfrm>
            <a:off x="320040" y="45720"/>
            <a:ext cx="6858000" cy="566928"/>
          </a:xfrm>
          <a:prstGeom prst="rect">
            <a:avLst/>
          </a:prstGeom>
          <a:noFill/>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New Business-Derived Features</a:t>
            </a:r>
            <a:endParaRPr lang="en-US" sz="2200" dirty="0"/>
          </a:p>
        </p:txBody>
      </p:sp>
      <p:sp>
        <p:nvSpPr>
          <p:cNvPr id="5" name="Text 3"/>
          <p:cNvSpPr/>
          <p:nvPr/>
        </p:nvSpPr>
        <p:spPr>
          <a:xfrm>
            <a:off x="7315200" y="137160"/>
            <a:ext cx="1645920" cy="384048"/>
          </a:xfrm>
          <a:prstGeom prst="rect">
            <a:avLst/>
          </a:prstGeom>
          <a:noFill/>
        </p:spPr>
        <p:txBody>
          <a:bodyPr wrap="square" lIns="0" tIns="0" rIns="0" bIns="0" rtlCol="0" anchor="ctr"/>
          <a:lstStyle/>
          <a:p>
            <a:pPr marL="0" indent="0" algn="r">
              <a:buNone/>
            </a:pPr>
            <a:r>
              <a:rPr lang="en-US" sz="900" b="1" dirty="0">
                <a:solidFill>
                  <a:srgbClr val="02C39A"/>
                </a:solidFill>
                <a:latin typeface="Calibri" pitchFamily="34" charset="0"/>
                <a:ea typeface="Calibri" pitchFamily="34" charset="-122"/>
                <a:cs typeface="Calibri" pitchFamily="34" charset="-120"/>
              </a:rPr>
              <a:t>FEAT. ENGINEERING</a:t>
            </a:r>
            <a:endParaRPr lang="en-US" sz="900" dirty="0"/>
          </a:p>
        </p:txBody>
      </p:sp>
      <p:sp>
        <p:nvSpPr>
          <p:cNvPr id="6" name="Text 4"/>
          <p:cNvSpPr/>
          <p:nvPr/>
        </p:nvSpPr>
        <p:spPr>
          <a:xfrm>
            <a:off x="320040" y="749808"/>
            <a:ext cx="8503920" cy="347472"/>
          </a:xfrm>
          <a:prstGeom prst="rect">
            <a:avLst/>
          </a:prstGeom>
          <a:noFill/>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5 new features engineered from domain knowledge about telecom churn behaviour:</a:t>
            </a:r>
            <a:endParaRPr lang="en-US" sz="1200" dirty="0"/>
          </a:p>
        </p:txBody>
      </p:sp>
      <p:sp>
        <p:nvSpPr>
          <p:cNvPr id="7" name="Shape 5"/>
          <p:cNvSpPr/>
          <p:nvPr/>
        </p:nvSpPr>
        <p:spPr>
          <a:xfrm>
            <a:off x="274320" y="1207008"/>
            <a:ext cx="4206240" cy="1024128"/>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8" name="Shape 6"/>
          <p:cNvSpPr/>
          <p:nvPr/>
        </p:nvSpPr>
        <p:spPr>
          <a:xfrm>
            <a:off x="274320" y="1207008"/>
            <a:ext cx="64008" cy="1024128"/>
          </a:xfrm>
          <a:prstGeom prst="rect">
            <a:avLst/>
          </a:prstGeom>
          <a:solidFill>
            <a:srgbClr val="0891B2"/>
          </a:solidFill>
          <a:ln>
            <a:noFill/>
          </a:ln>
        </p:spPr>
      </p:sp>
      <p:sp>
        <p:nvSpPr>
          <p:cNvPr id="9" name="Text 7"/>
          <p:cNvSpPr/>
          <p:nvPr/>
        </p:nvSpPr>
        <p:spPr>
          <a:xfrm>
            <a:off x="457200" y="1298448"/>
            <a:ext cx="3977640" cy="347472"/>
          </a:xfrm>
          <a:prstGeom prst="rect">
            <a:avLst/>
          </a:prstGeom>
          <a:noFill/>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high_service_calls</a:t>
            </a:r>
            <a:endParaRPr lang="en-US" sz="1100" dirty="0"/>
          </a:p>
        </p:txBody>
      </p:sp>
      <p:sp>
        <p:nvSpPr>
          <p:cNvPr id="10" name="Text 8"/>
          <p:cNvSpPr/>
          <p:nvPr/>
        </p:nvSpPr>
        <p:spPr>
          <a:xfrm>
            <a:off x="457200" y="1645920"/>
            <a:ext cx="3931920" cy="50292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≥4 customer service calls → strongest single churn predictor in telecom</a:t>
            </a:r>
            <a:endParaRPr lang="en-US" sz="1000" dirty="0"/>
          </a:p>
        </p:txBody>
      </p:sp>
      <p:sp>
        <p:nvSpPr>
          <p:cNvPr id="11" name="Shape 9"/>
          <p:cNvSpPr/>
          <p:nvPr/>
        </p:nvSpPr>
        <p:spPr>
          <a:xfrm>
            <a:off x="274320" y="2395728"/>
            <a:ext cx="4206240" cy="1024128"/>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12" name="Shape 10"/>
          <p:cNvSpPr/>
          <p:nvPr/>
        </p:nvSpPr>
        <p:spPr>
          <a:xfrm>
            <a:off x="274320" y="2395728"/>
            <a:ext cx="64008" cy="1024128"/>
          </a:xfrm>
          <a:prstGeom prst="rect">
            <a:avLst/>
          </a:prstGeom>
          <a:solidFill>
            <a:srgbClr val="0891B2"/>
          </a:solidFill>
          <a:ln>
            <a:noFill/>
          </a:ln>
        </p:spPr>
      </p:sp>
      <p:sp>
        <p:nvSpPr>
          <p:cNvPr id="13" name="Text 11"/>
          <p:cNvSpPr/>
          <p:nvPr/>
        </p:nvSpPr>
        <p:spPr>
          <a:xfrm>
            <a:off x="457200" y="2487168"/>
            <a:ext cx="3977640" cy="347472"/>
          </a:xfrm>
          <a:prstGeom prst="rect">
            <a:avLst/>
          </a:prstGeom>
          <a:noFill/>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intl_plan_no_usage</a:t>
            </a:r>
            <a:endParaRPr lang="en-US" sz="1100" dirty="0"/>
          </a:p>
        </p:txBody>
      </p:sp>
      <p:sp>
        <p:nvSpPr>
          <p:cNvPr id="14" name="Text 12"/>
          <p:cNvSpPr/>
          <p:nvPr/>
        </p:nvSpPr>
        <p:spPr>
          <a:xfrm>
            <a:off x="457200" y="2834640"/>
            <a:ext cx="3931920" cy="50292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Has international plan but 0 intl minutes → paying for unused service</a:t>
            </a:r>
            <a:endParaRPr lang="en-US" sz="1000" dirty="0"/>
          </a:p>
        </p:txBody>
      </p:sp>
      <p:sp>
        <p:nvSpPr>
          <p:cNvPr id="15" name="Shape 13"/>
          <p:cNvSpPr/>
          <p:nvPr/>
        </p:nvSpPr>
        <p:spPr>
          <a:xfrm>
            <a:off x="274320" y="3584448"/>
            <a:ext cx="4206240" cy="1024128"/>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16" name="Shape 14"/>
          <p:cNvSpPr/>
          <p:nvPr/>
        </p:nvSpPr>
        <p:spPr>
          <a:xfrm>
            <a:off x="274320" y="3584448"/>
            <a:ext cx="64008" cy="1024128"/>
          </a:xfrm>
          <a:prstGeom prst="rect">
            <a:avLst/>
          </a:prstGeom>
          <a:solidFill>
            <a:srgbClr val="0891B2"/>
          </a:solidFill>
          <a:ln>
            <a:noFill/>
          </a:ln>
        </p:spPr>
      </p:sp>
      <p:sp>
        <p:nvSpPr>
          <p:cNvPr id="17" name="Text 15"/>
          <p:cNvSpPr/>
          <p:nvPr/>
        </p:nvSpPr>
        <p:spPr>
          <a:xfrm>
            <a:off x="457200" y="3675888"/>
            <a:ext cx="3977640" cy="347472"/>
          </a:xfrm>
          <a:prstGeom prst="rect">
            <a:avLst/>
          </a:prstGeom>
          <a:noFill/>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intl_high_usage_no_plan</a:t>
            </a:r>
            <a:endParaRPr lang="en-US" sz="1100" dirty="0"/>
          </a:p>
        </p:txBody>
      </p:sp>
      <p:sp>
        <p:nvSpPr>
          <p:cNvPr id="18" name="Text 16"/>
          <p:cNvSpPr/>
          <p:nvPr/>
        </p:nvSpPr>
        <p:spPr>
          <a:xfrm>
            <a:off x="457200" y="4023360"/>
            <a:ext cx="3931920" cy="50292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No intl plan but heavy intl usage → unexpected high bills</a:t>
            </a:r>
            <a:endParaRPr lang="en-US" sz="1000" dirty="0"/>
          </a:p>
        </p:txBody>
      </p:sp>
      <p:sp>
        <p:nvSpPr>
          <p:cNvPr id="19" name="Shape 17"/>
          <p:cNvSpPr/>
          <p:nvPr/>
        </p:nvSpPr>
        <p:spPr>
          <a:xfrm>
            <a:off x="4754880" y="1207008"/>
            <a:ext cx="4206240" cy="1024128"/>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20" name="Shape 18"/>
          <p:cNvSpPr/>
          <p:nvPr/>
        </p:nvSpPr>
        <p:spPr>
          <a:xfrm>
            <a:off x="4754880" y="1207008"/>
            <a:ext cx="64008" cy="1024128"/>
          </a:xfrm>
          <a:prstGeom prst="rect">
            <a:avLst/>
          </a:prstGeom>
          <a:solidFill>
            <a:srgbClr val="0891B2"/>
          </a:solidFill>
          <a:ln w="12700">
            <a:solidFill>
              <a:srgbClr val="0891B2"/>
            </a:solidFill>
            <a:prstDash val="solid"/>
          </a:ln>
        </p:spPr>
      </p:sp>
      <p:sp>
        <p:nvSpPr>
          <p:cNvPr id="21" name="Text 19"/>
          <p:cNvSpPr/>
          <p:nvPr/>
        </p:nvSpPr>
        <p:spPr>
          <a:xfrm>
            <a:off x="4937760" y="1298448"/>
            <a:ext cx="3977640" cy="347472"/>
          </a:xfrm>
          <a:prstGeom prst="rect">
            <a:avLst/>
          </a:prstGeom>
          <a:noFill/>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day_rate_per_minute</a:t>
            </a:r>
            <a:endParaRPr lang="en-US" sz="1100" dirty="0"/>
          </a:p>
        </p:txBody>
      </p:sp>
      <p:sp>
        <p:nvSpPr>
          <p:cNvPr id="22" name="Text 20"/>
          <p:cNvSpPr/>
          <p:nvPr/>
        </p:nvSpPr>
        <p:spPr>
          <a:xfrm>
            <a:off x="4937760" y="1645920"/>
            <a:ext cx="3931920" cy="50292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Day charge ÷ day minutes → price sensitivity indicator</a:t>
            </a:r>
            <a:endParaRPr lang="en-US" sz="1000" dirty="0"/>
          </a:p>
        </p:txBody>
      </p:sp>
      <p:sp>
        <p:nvSpPr>
          <p:cNvPr id="23" name="Shape 21"/>
          <p:cNvSpPr/>
          <p:nvPr/>
        </p:nvSpPr>
        <p:spPr>
          <a:xfrm>
            <a:off x="4754880" y="2395728"/>
            <a:ext cx="4206240" cy="1024128"/>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24" name="Shape 22"/>
          <p:cNvSpPr/>
          <p:nvPr/>
        </p:nvSpPr>
        <p:spPr>
          <a:xfrm>
            <a:off x="4754880" y="2395728"/>
            <a:ext cx="64008" cy="1024128"/>
          </a:xfrm>
          <a:prstGeom prst="rect">
            <a:avLst/>
          </a:prstGeom>
          <a:solidFill>
            <a:srgbClr val="0891B2"/>
          </a:solidFill>
          <a:ln w="12700">
            <a:solidFill>
              <a:srgbClr val="0891B2"/>
            </a:solidFill>
            <a:prstDash val="solid"/>
          </a:ln>
        </p:spPr>
      </p:sp>
      <p:sp>
        <p:nvSpPr>
          <p:cNvPr id="25" name="Text 23"/>
          <p:cNvSpPr/>
          <p:nvPr/>
        </p:nvSpPr>
        <p:spPr>
          <a:xfrm>
            <a:off x="4937760" y="2487168"/>
            <a:ext cx="3977640" cy="347472"/>
          </a:xfrm>
          <a:prstGeom prst="rect">
            <a:avLst/>
          </a:prstGeom>
          <a:noFill/>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vmail_mismatch</a:t>
            </a:r>
            <a:endParaRPr lang="en-US" sz="1100" dirty="0"/>
          </a:p>
        </p:txBody>
      </p:sp>
      <p:sp>
        <p:nvSpPr>
          <p:cNvPr id="26" name="Text 24"/>
          <p:cNvSpPr/>
          <p:nvPr/>
        </p:nvSpPr>
        <p:spPr>
          <a:xfrm>
            <a:off x="4937760" y="2834640"/>
            <a:ext cx="3931920" cy="50292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Voicemail plan but 0 voicemail messages → plan dissatisfaction</a:t>
            </a:r>
            <a:endParaRPr lang="en-US" sz="1000" dirty="0"/>
          </a:p>
        </p:txBody>
      </p:sp>
      <p:sp>
        <p:nvSpPr>
          <p:cNvPr id="27" name="Shape 25"/>
          <p:cNvSpPr/>
          <p:nvPr/>
        </p:nvSpPr>
        <p:spPr>
          <a:xfrm>
            <a:off x="4754880" y="3584448"/>
            <a:ext cx="4206240" cy="1024128"/>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28" name="Shape 26"/>
          <p:cNvSpPr/>
          <p:nvPr/>
        </p:nvSpPr>
        <p:spPr>
          <a:xfrm>
            <a:off x="4754880" y="3584448"/>
            <a:ext cx="64008" cy="1024128"/>
          </a:xfrm>
          <a:prstGeom prst="rect">
            <a:avLst/>
          </a:prstGeom>
          <a:solidFill>
            <a:srgbClr val="0A3D52"/>
          </a:solidFill>
          <a:ln w="12700">
            <a:solidFill>
              <a:srgbClr val="0A3D52"/>
            </a:solidFill>
            <a:prstDash val="solid"/>
          </a:ln>
        </p:spPr>
      </p:sp>
      <p:sp>
        <p:nvSpPr>
          <p:cNvPr id="29" name="Text 27"/>
          <p:cNvSpPr/>
          <p:nvPr/>
        </p:nvSpPr>
        <p:spPr>
          <a:xfrm>
            <a:off x="4937760" y="3675888"/>
            <a:ext cx="3931920" cy="347472"/>
          </a:xfrm>
          <a:prstGeom prst="rect">
            <a:avLst/>
          </a:prstGeom>
          <a:noFill/>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peak_day / peak_eve / peak_night</a:t>
            </a:r>
            <a:endParaRPr lang="en-US" sz="1100" dirty="0"/>
          </a:p>
        </p:txBody>
      </p:sp>
      <p:sp>
        <p:nvSpPr>
          <p:cNvPr id="30" name="Text 28"/>
          <p:cNvSpPr/>
          <p:nvPr/>
        </p:nvSpPr>
        <p:spPr>
          <a:xfrm>
            <a:off x="4937760" y="4023360"/>
            <a:ext cx="3840480" cy="50292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Customer's dominant calling period — one-hot encoded behavioural segmentation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a:noFill/>
          </a:ln>
        </p:spPr>
      </p:sp>
      <p:sp>
        <p:nvSpPr>
          <p:cNvPr id="3" name="Shape 1"/>
          <p:cNvSpPr/>
          <p:nvPr/>
        </p:nvSpPr>
        <p:spPr>
          <a:xfrm>
            <a:off x="0" y="0"/>
            <a:ext cx="164592" cy="658368"/>
          </a:xfrm>
          <a:prstGeom prst="rect">
            <a:avLst/>
          </a:prstGeom>
          <a:solidFill>
            <a:srgbClr val="0891B2"/>
          </a:solidFill>
          <a:ln w="12700">
            <a:solidFill>
              <a:srgbClr val="0891B2"/>
            </a:solidFill>
            <a:prstDash val="solid"/>
          </a:ln>
        </p:spPr>
      </p:sp>
      <p:sp>
        <p:nvSpPr>
          <p:cNvPr id="4" name="Text 2"/>
          <p:cNvSpPr/>
          <p:nvPr/>
        </p:nvSpPr>
        <p:spPr>
          <a:xfrm>
            <a:off x="320040" y="45720"/>
            <a:ext cx="6858000" cy="566928"/>
          </a:xfrm>
          <a:prstGeom prst="rect">
            <a:avLst/>
          </a:prstGeom>
          <a:noFill/>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Quality Fixes</a:t>
            </a:r>
            <a:endParaRPr lang="en-US" sz="2200" dirty="0"/>
          </a:p>
        </p:txBody>
      </p:sp>
      <p:sp>
        <p:nvSpPr>
          <p:cNvPr id="5" name="Text 3"/>
          <p:cNvSpPr/>
          <p:nvPr/>
        </p:nvSpPr>
        <p:spPr>
          <a:xfrm>
            <a:off x="7315200" y="137160"/>
            <a:ext cx="1645920" cy="384048"/>
          </a:xfrm>
          <a:prstGeom prst="rect">
            <a:avLst/>
          </a:prstGeom>
          <a:noFill/>
        </p:spPr>
        <p:txBody>
          <a:bodyPr wrap="square" lIns="0" tIns="0" rIns="0" bIns="0" rtlCol="0" anchor="ctr"/>
          <a:lstStyle/>
          <a:p>
            <a:pPr marL="0" indent="0" algn="r">
              <a:buNone/>
            </a:pPr>
            <a:r>
              <a:rPr lang="en-US" sz="900" b="1" dirty="0">
                <a:solidFill>
                  <a:srgbClr val="02C39A"/>
                </a:solidFill>
                <a:latin typeface="Calibri" pitchFamily="34" charset="0"/>
                <a:ea typeface="Calibri" pitchFamily="34" charset="-122"/>
                <a:cs typeface="Calibri" pitchFamily="34" charset="-120"/>
              </a:rPr>
              <a:t>FEAT. ENGINEERING</a:t>
            </a:r>
            <a:endParaRPr lang="en-US" sz="900" dirty="0"/>
          </a:p>
        </p:txBody>
      </p:sp>
      <p:sp>
        <p:nvSpPr>
          <p:cNvPr id="6" name="Shape 4"/>
          <p:cNvSpPr/>
          <p:nvPr/>
        </p:nvSpPr>
        <p:spPr>
          <a:xfrm>
            <a:off x="274320" y="777240"/>
            <a:ext cx="4160520" cy="3474720"/>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7" name="Shape 5"/>
          <p:cNvSpPr/>
          <p:nvPr/>
        </p:nvSpPr>
        <p:spPr>
          <a:xfrm>
            <a:off x="274320" y="777240"/>
            <a:ext cx="64008" cy="3474720"/>
          </a:xfrm>
          <a:prstGeom prst="rect">
            <a:avLst/>
          </a:prstGeom>
          <a:solidFill>
            <a:srgbClr val="0891B2"/>
          </a:solidFill>
          <a:ln>
            <a:noFill/>
          </a:ln>
        </p:spPr>
      </p:sp>
      <p:sp>
        <p:nvSpPr>
          <p:cNvPr id="8" name="Text 6"/>
          <p:cNvSpPr/>
          <p:nvPr/>
        </p:nvSpPr>
        <p:spPr>
          <a:xfrm>
            <a:off x="502920" y="868680"/>
            <a:ext cx="3749040" cy="384048"/>
          </a:xfrm>
          <a:prstGeom prst="rect">
            <a:avLst/>
          </a:prstGeom>
          <a:noFill/>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Area Code — Categorical Fix</a:t>
            </a:r>
            <a:endParaRPr lang="en-US" sz="1300" dirty="0"/>
          </a:p>
        </p:txBody>
      </p:sp>
      <p:sp>
        <p:nvSpPr>
          <p:cNvPr id="9" name="Text 7"/>
          <p:cNvSpPr/>
          <p:nvPr/>
        </p:nvSpPr>
        <p:spPr>
          <a:xfrm>
            <a:off x="502920" y="1353312"/>
            <a:ext cx="3749040" cy="274320"/>
          </a:xfrm>
          <a:prstGeom prst="rect">
            <a:avLst/>
          </a:prstGeom>
          <a:noFill/>
        </p:spPr>
        <p:txBody>
          <a:bodyPr wrap="square" lIns="0" tIns="0" rIns="0" bIns="0" rtlCol="0" anchor="ctr"/>
          <a:lstStyle/>
          <a:p>
            <a:pPr marL="0" indent="0">
              <a:buNone/>
            </a:pPr>
            <a:r>
              <a:rPr lang="en-US" sz="1100" b="1" dirty="0">
                <a:solidFill>
                  <a:srgbClr val="E05050"/>
                </a:solidFill>
                <a:latin typeface="Calibri" pitchFamily="34" charset="0"/>
                <a:ea typeface="Calibri" pitchFamily="34" charset="-122"/>
                <a:cs typeface="Calibri" pitchFamily="34" charset="-120"/>
              </a:rPr>
              <a:t>Problem:</a:t>
            </a:r>
            <a:endParaRPr lang="en-US" sz="1100" dirty="0"/>
          </a:p>
        </p:txBody>
      </p:sp>
      <p:sp>
        <p:nvSpPr>
          <p:cNvPr id="10" name="Text 8"/>
          <p:cNvSpPr/>
          <p:nvPr/>
        </p:nvSpPr>
        <p:spPr>
          <a:xfrm>
            <a:off x="502920" y="1600200"/>
            <a:ext cx="3749040" cy="594360"/>
          </a:xfrm>
          <a:prstGeom prst="rect">
            <a:avLst/>
          </a:prstGeom>
          <a:noFill/>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Area codes (415, 408, 510) treated as numeric → model incorrectly infers 510 &gt; 415 &gt; 408</a:t>
            </a:r>
            <a:endParaRPr lang="en-US" sz="1100" dirty="0"/>
          </a:p>
        </p:txBody>
      </p:sp>
      <p:sp>
        <p:nvSpPr>
          <p:cNvPr id="11" name="Text 9"/>
          <p:cNvSpPr/>
          <p:nvPr/>
        </p:nvSpPr>
        <p:spPr>
          <a:xfrm>
            <a:off x="502920" y="2267712"/>
            <a:ext cx="3749040" cy="274320"/>
          </a:xfrm>
          <a:prstGeom prst="rect">
            <a:avLst/>
          </a:prstGeom>
          <a:noFill/>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Fix:</a:t>
            </a:r>
            <a:endParaRPr lang="en-US" sz="1100" dirty="0"/>
          </a:p>
        </p:txBody>
      </p:sp>
      <p:sp>
        <p:nvSpPr>
          <p:cNvPr id="12" name="Text 10"/>
          <p:cNvSpPr/>
          <p:nvPr/>
        </p:nvSpPr>
        <p:spPr>
          <a:xfrm>
            <a:off x="502920" y="2514600"/>
            <a:ext cx="3749040" cy="594360"/>
          </a:xfrm>
          <a:prstGeom prst="rect">
            <a:avLst/>
          </a:prstGeom>
          <a:noFill/>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One-hot encode into area_408, area_510</a:t>
            </a:r>
            <a:endParaRPr lang="en-US" sz="1100" dirty="0"/>
          </a:p>
          <a:p>
            <a:pPr marL="0" indent="0">
              <a:buNone/>
            </a:pPr>
            <a:r>
              <a:rPr lang="en-US" sz="1100" dirty="0">
                <a:solidFill>
                  <a:srgbClr val="1E2761"/>
                </a:solidFill>
                <a:latin typeface="Calibri" pitchFamily="34" charset="0"/>
                <a:ea typeface="Calibri" pitchFamily="34" charset="-122"/>
                <a:cs typeface="Calibri" pitchFamily="34" charset="-120"/>
              </a:rPr>
              <a:t>(drop_first=True avoids dummy trap)</a:t>
            </a:r>
            <a:endParaRPr lang="en-US" sz="1100" dirty="0"/>
          </a:p>
        </p:txBody>
      </p:sp>
      <p:sp>
        <p:nvSpPr>
          <p:cNvPr id="13" name="Shape 11"/>
          <p:cNvSpPr/>
          <p:nvPr/>
        </p:nvSpPr>
        <p:spPr>
          <a:xfrm>
            <a:off x="502920" y="3200400"/>
            <a:ext cx="3657600" cy="804672"/>
          </a:xfrm>
          <a:prstGeom prst="rect">
            <a:avLst/>
          </a:prstGeom>
          <a:solidFill>
            <a:srgbClr val="1E2761"/>
          </a:solidFill>
          <a:ln w="12700">
            <a:solidFill>
              <a:srgbClr val="1E2761"/>
            </a:solidFill>
            <a:prstDash val="solid"/>
          </a:ln>
        </p:spPr>
      </p:sp>
      <p:sp>
        <p:nvSpPr>
          <p:cNvPr id="14" name="Text 12"/>
          <p:cNvSpPr/>
          <p:nvPr/>
        </p:nvSpPr>
        <p:spPr>
          <a:xfrm>
            <a:off x="594360" y="3218688"/>
            <a:ext cx="3520440" cy="768096"/>
          </a:xfrm>
          <a:prstGeom prst="rect">
            <a:avLst/>
          </a:prstGeom>
          <a:noFill/>
        </p:spPr>
        <p:txBody>
          <a:bodyPr wrap="square" lIns="0" tIns="0" rIns="0" bIns="0" rtlCol="0" anchor="ctr"/>
          <a:lstStyle/>
          <a:p>
            <a:pPr marL="0" indent="0">
              <a:buNone/>
            </a:pPr>
            <a:r>
              <a:rPr lang="en-US" sz="900" dirty="0">
                <a:solidFill>
                  <a:srgbClr val="02C39A"/>
                </a:solidFill>
                <a:latin typeface="Consolas" pitchFamily="34" charset="0"/>
                <a:ea typeface="Consolas" pitchFamily="34" charset="-122"/>
                <a:cs typeface="Consolas" pitchFamily="34" charset="-120"/>
              </a:rPr>
              <a:t>df['Area code'] = df['Area code'].astype(str)</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pd.get_dummies(df, columns=['Area code'],</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 xml:space="preserve">               prefix='area', drop_first=True)</a:t>
            </a:r>
            <a:endParaRPr lang="en-US" sz="900" dirty="0"/>
          </a:p>
        </p:txBody>
      </p:sp>
      <p:sp>
        <p:nvSpPr>
          <p:cNvPr id="15" name="Shape 13"/>
          <p:cNvSpPr/>
          <p:nvPr/>
        </p:nvSpPr>
        <p:spPr>
          <a:xfrm>
            <a:off x="4709160" y="777240"/>
            <a:ext cx="4160520" cy="3474720"/>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16" name="Shape 14"/>
          <p:cNvSpPr/>
          <p:nvPr/>
        </p:nvSpPr>
        <p:spPr>
          <a:xfrm>
            <a:off x="4709160" y="777240"/>
            <a:ext cx="64008" cy="3474720"/>
          </a:xfrm>
          <a:prstGeom prst="rect">
            <a:avLst/>
          </a:prstGeom>
          <a:solidFill>
            <a:srgbClr val="0891B2"/>
          </a:solidFill>
          <a:ln w="12700">
            <a:solidFill>
              <a:srgbClr val="0891B2"/>
            </a:solidFill>
            <a:prstDash val="solid"/>
          </a:ln>
        </p:spPr>
      </p:sp>
      <p:sp>
        <p:nvSpPr>
          <p:cNvPr id="17" name="Text 15"/>
          <p:cNvSpPr/>
          <p:nvPr/>
        </p:nvSpPr>
        <p:spPr>
          <a:xfrm>
            <a:off x="4937760" y="868680"/>
            <a:ext cx="3749040" cy="384048"/>
          </a:xfrm>
          <a:prstGeom prst="rect">
            <a:avLst/>
          </a:prstGeom>
          <a:noFill/>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Correlated Feature Removal</a:t>
            </a:r>
            <a:endParaRPr lang="en-US" sz="1300" dirty="0"/>
          </a:p>
        </p:txBody>
      </p:sp>
      <p:sp>
        <p:nvSpPr>
          <p:cNvPr id="18" name="Text 16"/>
          <p:cNvSpPr/>
          <p:nvPr/>
        </p:nvSpPr>
        <p:spPr>
          <a:xfrm>
            <a:off x="4937760" y="1353312"/>
            <a:ext cx="3749040" cy="274320"/>
          </a:xfrm>
          <a:prstGeom prst="rect">
            <a:avLst/>
          </a:prstGeom>
          <a:noFill/>
        </p:spPr>
        <p:txBody>
          <a:bodyPr wrap="square" lIns="0" tIns="0" rIns="0" bIns="0" rtlCol="0" anchor="ctr"/>
          <a:lstStyle/>
          <a:p>
            <a:pPr marL="0" indent="0">
              <a:buNone/>
            </a:pPr>
            <a:r>
              <a:rPr lang="en-US" sz="1100" b="1" dirty="0">
                <a:solidFill>
                  <a:srgbClr val="E05050"/>
                </a:solidFill>
                <a:latin typeface="Calibri" pitchFamily="34" charset="0"/>
                <a:ea typeface="Calibri" pitchFamily="34" charset="-122"/>
                <a:cs typeface="Calibri" pitchFamily="34" charset="-120"/>
              </a:rPr>
              <a:t>Problem:</a:t>
            </a:r>
            <a:endParaRPr lang="en-US" sz="1100" dirty="0"/>
          </a:p>
        </p:txBody>
      </p:sp>
      <p:sp>
        <p:nvSpPr>
          <p:cNvPr id="19" name="Text 17"/>
          <p:cNvSpPr/>
          <p:nvPr/>
        </p:nvSpPr>
        <p:spPr>
          <a:xfrm>
            <a:off x="4937760" y="1600200"/>
            <a:ext cx="3749040" cy="685800"/>
          </a:xfrm>
          <a:prstGeom prst="rect">
            <a:avLst/>
          </a:prstGeom>
          <a:noFill/>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'Total X minutes' and 'Total X charge' are nearly perfectly correlated (r ≈ 1.0) — introducing multicollinearity in linear models.</a:t>
            </a:r>
            <a:endParaRPr lang="en-US" sz="1100" dirty="0"/>
          </a:p>
        </p:txBody>
      </p:sp>
      <p:sp>
        <p:nvSpPr>
          <p:cNvPr id="20" name="Text 18"/>
          <p:cNvSpPr/>
          <p:nvPr/>
        </p:nvSpPr>
        <p:spPr>
          <a:xfrm>
            <a:off x="4937760" y="2359152"/>
            <a:ext cx="3749040" cy="274320"/>
          </a:xfrm>
          <a:prstGeom prst="rect">
            <a:avLst/>
          </a:prstGeom>
          <a:noFill/>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Fix:</a:t>
            </a:r>
            <a:endParaRPr lang="en-US" sz="1100" dirty="0"/>
          </a:p>
        </p:txBody>
      </p:sp>
      <p:sp>
        <p:nvSpPr>
          <p:cNvPr id="21" name="Text 19"/>
          <p:cNvSpPr/>
          <p:nvPr/>
        </p:nvSpPr>
        <p:spPr>
          <a:xfrm>
            <a:off x="4937760" y="2606040"/>
            <a:ext cx="3749040" cy="548640"/>
          </a:xfrm>
          <a:prstGeom prst="rect">
            <a:avLst/>
          </a:prstGeom>
          <a:noFill/>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Drop one feature from each correlated pair (threshold r &gt; 0.95). Computed on training data only.</a:t>
            </a:r>
            <a:endParaRPr lang="en-US" sz="1100" dirty="0"/>
          </a:p>
        </p:txBody>
      </p:sp>
      <p:sp>
        <p:nvSpPr>
          <p:cNvPr id="22" name="Shape 20"/>
          <p:cNvSpPr/>
          <p:nvPr/>
        </p:nvSpPr>
        <p:spPr>
          <a:xfrm>
            <a:off x="4937760" y="3218688"/>
            <a:ext cx="3474720" cy="228600"/>
          </a:xfrm>
          <a:prstGeom prst="rect">
            <a:avLst/>
          </a:prstGeom>
          <a:solidFill>
            <a:srgbClr val="FDEAEA"/>
          </a:solidFill>
          <a:ln w="6350">
            <a:solidFill>
              <a:srgbClr val="0891B2"/>
            </a:solidFill>
            <a:prstDash val="solid"/>
          </a:ln>
        </p:spPr>
      </p:sp>
      <p:sp>
        <p:nvSpPr>
          <p:cNvPr id="23" name="Text 21"/>
          <p:cNvSpPr/>
          <p:nvPr/>
        </p:nvSpPr>
        <p:spPr>
          <a:xfrm>
            <a:off x="4983480" y="3218688"/>
            <a:ext cx="3383280" cy="228600"/>
          </a:xfrm>
          <a:prstGeom prst="rect">
            <a:avLst/>
          </a:prstGeom>
          <a:noFill/>
        </p:spPr>
        <p:txBody>
          <a:bodyPr wrap="square" lIns="0" tIns="0" rIns="0" bIns="0" rtlCol="0" anchor="ctr"/>
          <a:lstStyle/>
          <a:p>
            <a:pPr marL="0" indent="0">
              <a:buNone/>
            </a:pPr>
            <a:r>
              <a:rPr lang="en-US" sz="1000" dirty="0">
                <a:solidFill>
                  <a:srgbClr val="E05050"/>
                </a:solidFill>
                <a:latin typeface="Calibri" pitchFamily="34" charset="0"/>
                <a:ea typeface="Calibri" pitchFamily="34" charset="-122"/>
                <a:cs typeface="Calibri" pitchFamily="34" charset="-120"/>
              </a:rPr>
              <a:t>✕  Total day charge</a:t>
            </a:r>
            <a:endParaRPr lang="en-US" sz="1000" dirty="0"/>
          </a:p>
        </p:txBody>
      </p:sp>
      <p:sp>
        <p:nvSpPr>
          <p:cNvPr id="24" name="Shape 22"/>
          <p:cNvSpPr/>
          <p:nvPr/>
        </p:nvSpPr>
        <p:spPr>
          <a:xfrm>
            <a:off x="4937760" y="3493008"/>
            <a:ext cx="3474720" cy="228600"/>
          </a:xfrm>
          <a:prstGeom prst="rect">
            <a:avLst/>
          </a:prstGeom>
          <a:solidFill>
            <a:srgbClr val="FDEAEA"/>
          </a:solidFill>
          <a:ln w="6350">
            <a:solidFill>
              <a:srgbClr val="0891B2"/>
            </a:solidFill>
            <a:prstDash val="solid"/>
          </a:ln>
        </p:spPr>
      </p:sp>
      <p:sp>
        <p:nvSpPr>
          <p:cNvPr id="25" name="Text 23"/>
          <p:cNvSpPr/>
          <p:nvPr/>
        </p:nvSpPr>
        <p:spPr>
          <a:xfrm>
            <a:off x="4983480" y="3493008"/>
            <a:ext cx="3383280" cy="228600"/>
          </a:xfrm>
          <a:prstGeom prst="rect">
            <a:avLst/>
          </a:prstGeom>
          <a:noFill/>
        </p:spPr>
        <p:txBody>
          <a:bodyPr wrap="square" lIns="0" tIns="0" rIns="0" bIns="0" rtlCol="0" anchor="ctr"/>
          <a:lstStyle/>
          <a:p>
            <a:pPr marL="0" indent="0">
              <a:buNone/>
            </a:pPr>
            <a:r>
              <a:rPr lang="en-US" sz="1000" dirty="0">
                <a:solidFill>
                  <a:srgbClr val="E05050"/>
                </a:solidFill>
                <a:latin typeface="Calibri" pitchFamily="34" charset="0"/>
                <a:ea typeface="Calibri" pitchFamily="34" charset="-122"/>
                <a:cs typeface="Calibri" pitchFamily="34" charset="-120"/>
              </a:rPr>
              <a:t>✕  Total eve charge</a:t>
            </a:r>
            <a:endParaRPr lang="en-US" sz="1000" dirty="0"/>
          </a:p>
        </p:txBody>
      </p:sp>
      <p:sp>
        <p:nvSpPr>
          <p:cNvPr id="26" name="Shape 24"/>
          <p:cNvSpPr/>
          <p:nvPr/>
        </p:nvSpPr>
        <p:spPr>
          <a:xfrm>
            <a:off x="4937760" y="3767328"/>
            <a:ext cx="3474720" cy="228600"/>
          </a:xfrm>
          <a:prstGeom prst="rect">
            <a:avLst/>
          </a:prstGeom>
          <a:solidFill>
            <a:srgbClr val="FDEAEA"/>
          </a:solidFill>
          <a:ln w="6350">
            <a:solidFill>
              <a:srgbClr val="0891B2"/>
            </a:solidFill>
            <a:prstDash val="solid"/>
          </a:ln>
        </p:spPr>
      </p:sp>
      <p:sp>
        <p:nvSpPr>
          <p:cNvPr id="27" name="Text 25"/>
          <p:cNvSpPr/>
          <p:nvPr/>
        </p:nvSpPr>
        <p:spPr>
          <a:xfrm>
            <a:off x="4983480" y="3767328"/>
            <a:ext cx="3383280" cy="228600"/>
          </a:xfrm>
          <a:prstGeom prst="rect">
            <a:avLst/>
          </a:prstGeom>
          <a:noFill/>
        </p:spPr>
        <p:txBody>
          <a:bodyPr wrap="square" lIns="0" tIns="0" rIns="0" bIns="0" rtlCol="0" anchor="ctr"/>
          <a:lstStyle/>
          <a:p>
            <a:pPr marL="0" indent="0">
              <a:buNone/>
            </a:pPr>
            <a:r>
              <a:rPr lang="en-US" sz="1000" dirty="0">
                <a:solidFill>
                  <a:srgbClr val="E05050"/>
                </a:solidFill>
                <a:latin typeface="Calibri" pitchFamily="34" charset="0"/>
                <a:ea typeface="Calibri" pitchFamily="34" charset="-122"/>
                <a:cs typeface="Calibri" pitchFamily="34" charset="-120"/>
              </a:rPr>
              <a:t>✕  Total night charge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a:noFill/>
          </a:ln>
        </p:spPr>
      </p:sp>
      <p:sp>
        <p:nvSpPr>
          <p:cNvPr id="3" name="Shape 1"/>
          <p:cNvSpPr/>
          <p:nvPr/>
        </p:nvSpPr>
        <p:spPr>
          <a:xfrm>
            <a:off x="0" y="0"/>
            <a:ext cx="164592" cy="658368"/>
          </a:xfrm>
          <a:prstGeom prst="rect">
            <a:avLst/>
          </a:prstGeom>
          <a:solidFill>
            <a:srgbClr val="0891B2"/>
          </a:solidFill>
          <a:ln w="12700">
            <a:solidFill>
              <a:srgbClr val="0891B2"/>
            </a:solidFill>
            <a:prstDash val="solid"/>
          </a:ln>
        </p:spPr>
      </p:sp>
      <p:sp>
        <p:nvSpPr>
          <p:cNvPr id="4" name="Text 2"/>
          <p:cNvSpPr/>
          <p:nvPr/>
        </p:nvSpPr>
        <p:spPr>
          <a:xfrm>
            <a:off x="320040" y="45720"/>
            <a:ext cx="6858000" cy="566928"/>
          </a:xfrm>
          <a:prstGeom prst="rect">
            <a:avLst/>
          </a:prstGeom>
          <a:noFill/>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Handling Class Imbalance — SMOTE</a:t>
            </a:r>
            <a:endParaRPr lang="en-US" sz="2200" dirty="0"/>
          </a:p>
        </p:txBody>
      </p:sp>
      <p:sp>
        <p:nvSpPr>
          <p:cNvPr id="5" name="Text 3"/>
          <p:cNvSpPr/>
          <p:nvPr/>
        </p:nvSpPr>
        <p:spPr>
          <a:xfrm>
            <a:off x="7315200" y="137160"/>
            <a:ext cx="1645920" cy="384048"/>
          </a:xfrm>
          <a:prstGeom prst="rect">
            <a:avLst/>
          </a:prstGeom>
          <a:noFill/>
        </p:spPr>
        <p:txBody>
          <a:bodyPr wrap="square" lIns="0" tIns="0" rIns="0" bIns="0" rtlCol="0" anchor="ctr"/>
          <a:lstStyle/>
          <a:p>
            <a:pPr marL="0" indent="0" algn="r">
              <a:buNone/>
            </a:pPr>
            <a:r>
              <a:rPr lang="en-US" sz="900" b="1" dirty="0">
                <a:solidFill>
                  <a:srgbClr val="02C39A"/>
                </a:solidFill>
                <a:latin typeface="Calibri" pitchFamily="34" charset="0"/>
                <a:ea typeface="Calibri" pitchFamily="34" charset="-122"/>
                <a:cs typeface="Calibri" pitchFamily="34" charset="-120"/>
              </a:rPr>
              <a:t>FEAT. ENGINEERING</a:t>
            </a:r>
            <a:endParaRPr lang="en-US" sz="900" dirty="0"/>
          </a:p>
        </p:txBody>
      </p:sp>
      <p:sp>
        <p:nvSpPr>
          <p:cNvPr id="6" name="Text 4"/>
          <p:cNvSpPr/>
          <p:nvPr/>
        </p:nvSpPr>
        <p:spPr>
          <a:xfrm>
            <a:off x="320040" y="777240"/>
            <a:ext cx="8503920" cy="594360"/>
          </a:xfrm>
          <a:prstGeom prst="rect">
            <a:avLst/>
          </a:prstGeom>
          <a:noFill/>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The dataset has ~14% churn (minority class). Without correction, models learn to predict 'No Churn' and still achieve high accuracy — but miss real churners.</a:t>
            </a:r>
            <a:endParaRPr lang="en-US" sz="1200" dirty="0"/>
          </a:p>
        </p:txBody>
      </p:sp>
      <p:sp>
        <p:nvSpPr>
          <p:cNvPr id="7" name="Text 5"/>
          <p:cNvSpPr/>
          <p:nvPr/>
        </p:nvSpPr>
        <p:spPr>
          <a:xfrm>
            <a:off x="914400" y="1444752"/>
            <a:ext cx="2926080" cy="347472"/>
          </a:xfrm>
          <a:prstGeom prst="rect">
            <a:avLst/>
          </a:prstGeom>
          <a:noFill/>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Before SMOTE</a:t>
            </a:r>
            <a:endParaRPr lang="en-US" sz="1300" dirty="0"/>
          </a:p>
        </p:txBody>
      </p:sp>
      <p:sp>
        <p:nvSpPr>
          <p:cNvPr id="9" name="Text 6"/>
          <p:cNvSpPr/>
          <p:nvPr/>
        </p:nvSpPr>
        <p:spPr>
          <a:xfrm>
            <a:off x="4846320" y="1444752"/>
            <a:ext cx="3840480" cy="347472"/>
          </a:xfrm>
          <a:prstGeom prst="rect">
            <a:avLst/>
          </a:prstGeom>
          <a:noFill/>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After SMOTE (Training Set Only)</a:t>
            </a:r>
            <a:endParaRPr lang="en-US" sz="1300" dirty="0"/>
          </a:p>
        </p:txBody>
      </p:sp>
      <p:sp>
        <p:nvSpPr>
          <p:cNvPr id="11" name="Shape 7"/>
          <p:cNvSpPr/>
          <p:nvPr/>
        </p:nvSpPr>
        <p:spPr>
          <a:xfrm>
            <a:off x="4160520" y="2834640"/>
            <a:ext cx="548640" cy="347472"/>
          </a:xfrm>
          <a:prstGeom prst="rect">
            <a:avLst/>
          </a:prstGeom>
          <a:solidFill>
            <a:srgbClr val="0891B2"/>
          </a:solidFill>
          <a:ln w="12700">
            <a:solidFill>
              <a:srgbClr val="0891B2"/>
            </a:solidFill>
            <a:prstDash val="solid"/>
          </a:ln>
        </p:spPr>
      </p:sp>
      <p:sp>
        <p:nvSpPr>
          <p:cNvPr id="12" name="Text 8"/>
          <p:cNvSpPr/>
          <p:nvPr/>
        </p:nvSpPr>
        <p:spPr>
          <a:xfrm>
            <a:off x="4160520" y="2834640"/>
            <a:ext cx="548640" cy="347472"/>
          </a:xfrm>
          <a:prstGeom prst="rect">
            <a:avLst/>
          </a:prstGeom>
          <a:noFill/>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3" name="Shape 9"/>
          <p:cNvSpPr/>
          <p:nvPr/>
        </p:nvSpPr>
        <p:spPr>
          <a:xfrm>
            <a:off x="274320" y="4526280"/>
            <a:ext cx="8595360" cy="411480"/>
          </a:xfrm>
          <a:prstGeom prst="rect">
            <a:avLst/>
          </a:prstGeom>
          <a:solidFill>
            <a:srgbClr val="1E2761"/>
          </a:solidFill>
          <a:ln>
            <a:noFill/>
          </a:ln>
        </p:spPr>
      </p:sp>
      <p:sp>
        <p:nvSpPr>
          <p:cNvPr id="14" name="Text 10"/>
          <p:cNvSpPr/>
          <p:nvPr/>
        </p:nvSpPr>
        <p:spPr>
          <a:xfrm>
            <a:off x="411480" y="4544568"/>
            <a:ext cx="8321040" cy="365760"/>
          </a:xfrm>
          <a:prstGeom prst="rect">
            <a:avLst/>
          </a:prstGeom>
          <a:solidFill>
            <a:srgbClr val="1E2761"/>
          </a:solidFill>
          <a:ln>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SMOTE is applied to the TRAINING set only — the test set retains the real 14% churn distribution to ensure honest evaluation.</a:t>
            </a:r>
            <a:endParaRPr lang="en-US" sz="1000" dirty="0"/>
          </a:p>
        </p:txBody>
      </p:sp>
      <p:graphicFrame>
        <p:nvGraphicFramePr>
          <p:cNvPr id="15" name="Chart 0"/>
          <p:cNvGraphicFramePr/>
          <p:nvPr>
            <p:custDataLst>
              <p:tags r:id="rId3"/>
            </p:custDataLst>
          </p:nvPr>
        </p:nvGraphicFramePr>
        <p:xfrm>
          <a:off x="457200" y="1783080"/>
          <a:ext cx="3657600" cy="256032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6" name="Chart 1"/>
          <p:cNvGraphicFramePr/>
          <p:nvPr>
            <p:custDataLst>
              <p:tags r:id="rId4"/>
            </p:custDataLst>
          </p:nvPr>
        </p:nvGraphicFramePr>
        <p:xfrm>
          <a:off x="4754880" y="1783080"/>
          <a:ext cx="3657600" cy="256032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a:noFill/>
          </a:ln>
        </p:spPr>
      </p:sp>
      <p:sp>
        <p:nvSpPr>
          <p:cNvPr id="3" name="Shape 1"/>
          <p:cNvSpPr/>
          <p:nvPr/>
        </p:nvSpPr>
        <p:spPr>
          <a:xfrm>
            <a:off x="0" y="0"/>
            <a:ext cx="164592" cy="658368"/>
          </a:xfrm>
          <a:prstGeom prst="rect">
            <a:avLst/>
          </a:prstGeom>
          <a:solidFill>
            <a:srgbClr val="0891B2"/>
          </a:solidFill>
          <a:ln w="12700">
            <a:solidFill>
              <a:srgbClr val="0891B2"/>
            </a:solidFill>
            <a:prstDash val="solid"/>
          </a:ln>
        </p:spPr>
      </p:sp>
      <p:sp>
        <p:nvSpPr>
          <p:cNvPr id="4" name="Text 2"/>
          <p:cNvSpPr/>
          <p:nvPr/>
        </p:nvSpPr>
        <p:spPr>
          <a:xfrm>
            <a:off x="320040" y="45720"/>
            <a:ext cx="6858000" cy="566928"/>
          </a:xfrm>
          <a:prstGeom prst="rect">
            <a:avLst/>
          </a:prstGeom>
          <a:noFill/>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Logistic Regression — What &amp; Why</a:t>
            </a:r>
            <a:endParaRPr lang="en-US" sz="2200" dirty="0"/>
          </a:p>
        </p:txBody>
      </p:sp>
      <p:sp>
        <p:nvSpPr>
          <p:cNvPr id="5" name="Text 3"/>
          <p:cNvSpPr/>
          <p:nvPr/>
        </p:nvSpPr>
        <p:spPr>
          <a:xfrm>
            <a:off x="7315200" y="137160"/>
            <a:ext cx="1645920" cy="384048"/>
          </a:xfrm>
          <a:prstGeom prst="rect">
            <a:avLst/>
          </a:prstGeom>
          <a:noFill/>
        </p:spPr>
        <p:txBody>
          <a:bodyPr wrap="square" lIns="0" tIns="0" rIns="0" bIns="0" rtlCol="0" anchor="ctr"/>
          <a:lstStyle/>
          <a:p>
            <a:pPr marL="0" indent="0" algn="r">
              <a:buNone/>
            </a:pPr>
            <a:r>
              <a:rPr lang="en-US" sz="900" b="1" dirty="0">
                <a:solidFill>
                  <a:srgbClr val="02C39A"/>
                </a:solidFill>
                <a:latin typeface="Calibri" pitchFamily="34" charset="0"/>
                <a:ea typeface="Calibri" pitchFamily="34" charset="-122"/>
                <a:cs typeface="Calibri" pitchFamily="34" charset="-120"/>
              </a:rPr>
              <a:t>METHODOLOGY</a:t>
            </a:r>
            <a:endParaRPr lang="en-US" sz="900" dirty="0"/>
          </a:p>
        </p:txBody>
      </p:sp>
      <p:sp>
        <p:nvSpPr>
          <p:cNvPr id="6" name="Shape 4"/>
          <p:cNvSpPr/>
          <p:nvPr/>
        </p:nvSpPr>
        <p:spPr>
          <a:xfrm>
            <a:off x="274320" y="777240"/>
            <a:ext cx="4114800" cy="4114800"/>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7" name="Shape 5"/>
          <p:cNvSpPr/>
          <p:nvPr/>
        </p:nvSpPr>
        <p:spPr>
          <a:xfrm>
            <a:off x="274320" y="777240"/>
            <a:ext cx="64008" cy="4114800"/>
          </a:xfrm>
          <a:prstGeom prst="rect">
            <a:avLst/>
          </a:prstGeom>
          <a:solidFill>
            <a:srgbClr val="0891B2"/>
          </a:solidFill>
          <a:ln>
            <a:noFill/>
          </a:ln>
        </p:spPr>
      </p:sp>
      <p:sp>
        <p:nvSpPr>
          <p:cNvPr id="8" name="Text 6"/>
          <p:cNvSpPr/>
          <p:nvPr/>
        </p:nvSpPr>
        <p:spPr>
          <a:xfrm>
            <a:off x="502920" y="886968"/>
            <a:ext cx="3749040" cy="347472"/>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What is it?</a:t>
            </a:r>
            <a:endParaRPr lang="en-US" sz="1400" dirty="0"/>
          </a:p>
        </p:txBody>
      </p:sp>
      <p:sp>
        <p:nvSpPr>
          <p:cNvPr id="9" name="Text 7"/>
          <p:cNvSpPr/>
          <p:nvPr/>
        </p:nvSpPr>
        <p:spPr>
          <a:xfrm>
            <a:off x="502920" y="1298448"/>
            <a:ext cx="3749040" cy="3291840"/>
          </a:xfrm>
          <a:prstGeom prst="rect">
            <a:avLst/>
          </a:prstGeom>
          <a:noFill/>
        </p:spPr>
        <p:txBody>
          <a:bodyPr wrap="square" lIns="0" tIns="0" rIns="0" bIns="0" rtlCol="0" anchor="t"/>
          <a:lstStyle/>
          <a:p>
            <a:pPr marL="342900" indent="-342900">
              <a:spcAft>
                <a:spcPts val="800"/>
              </a:spcAft>
              <a:buSzPct val="100000"/>
              <a:buChar char="•"/>
            </a:pPr>
            <a:r>
              <a:rPr lang="en-US" sz="1100" dirty="0">
                <a:solidFill>
                  <a:srgbClr val="1E2761"/>
                </a:solidFill>
                <a:latin typeface="Calibri" pitchFamily="34" charset="0"/>
                <a:ea typeface="Calibri" pitchFamily="34" charset="-122"/>
                <a:cs typeface="Calibri" pitchFamily="34" charset="-120"/>
              </a:rPr>
              <a:t>A linear model that estimates the probability a customer churns using a sigmoid function</a:t>
            </a:r>
            <a:endParaRPr lang="en-US" sz="1100" dirty="0"/>
          </a:p>
          <a:p>
            <a:pPr marL="342900" indent="-342900">
              <a:spcAft>
                <a:spcPts val="800"/>
              </a:spcAft>
              <a:buSzPct val="100000"/>
              <a:buChar char="•"/>
            </a:pPr>
            <a:r>
              <a:rPr lang="en-US" sz="1100" dirty="0">
                <a:solidFill>
                  <a:srgbClr val="1E2761"/>
                </a:solidFill>
                <a:latin typeface="Calibri" pitchFamily="34" charset="0"/>
                <a:ea typeface="Calibri" pitchFamily="34" charset="-122"/>
                <a:cs typeface="Calibri" pitchFamily="34" charset="-120"/>
              </a:rPr>
              <a:t>Outputs a score between 0 and 1 — interpretable as churn probability</a:t>
            </a:r>
            <a:endParaRPr lang="en-US" sz="1100" dirty="0"/>
          </a:p>
          <a:p>
            <a:pPr marL="342900" indent="-342900">
              <a:spcAft>
                <a:spcPts val="800"/>
              </a:spcAft>
              <a:buSzPct val="100000"/>
              <a:buChar char="•"/>
            </a:pPr>
            <a:r>
              <a:rPr lang="en-US" sz="1100" dirty="0">
                <a:solidFill>
                  <a:srgbClr val="1E2761"/>
                </a:solidFill>
                <a:latin typeface="Calibri" pitchFamily="34" charset="0"/>
                <a:ea typeface="Calibri" pitchFamily="34" charset="-122"/>
                <a:cs typeface="Calibri" pitchFamily="34" charset="-120"/>
              </a:rPr>
              <a:t>Each feature gets a coefficient showing its direction and magnitude of impact</a:t>
            </a:r>
            <a:endParaRPr lang="en-US" sz="1100" dirty="0"/>
          </a:p>
          <a:p>
            <a:pPr marL="342900" indent="-342900">
              <a:spcAft>
                <a:spcPts val="800"/>
              </a:spcAft>
              <a:buSzPct val="100000"/>
              <a:buChar char="•"/>
            </a:pPr>
            <a:r>
              <a:rPr lang="en-US" sz="1100" dirty="0">
                <a:solidFill>
                  <a:srgbClr val="1E2761"/>
                </a:solidFill>
                <a:latin typeface="Calibri" pitchFamily="34" charset="0"/>
                <a:ea typeface="Calibri" pitchFamily="34" charset="-122"/>
                <a:cs typeface="Calibri" pitchFamily="34" charset="-120"/>
              </a:rPr>
              <a:t>Threshold (default 0.5) converts probability to binary prediction</a:t>
            </a:r>
            <a:endParaRPr lang="en-US" sz="1100" dirty="0"/>
          </a:p>
          <a:p>
            <a:pPr marL="0" indent="0">
              <a:buNone/>
            </a:pPr>
            <a:endParaRPr lang="en-US" sz="1100" dirty="0"/>
          </a:p>
        </p:txBody>
      </p:sp>
      <p:sp>
        <p:nvSpPr>
          <p:cNvPr id="10" name="Shape 8"/>
          <p:cNvSpPr/>
          <p:nvPr/>
        </p:nvSpPr>
        <p:spPr>
          <a:xfrm>
            <a:off x="4663440" y="777240"/>
            <a:ext cx="4114800" cy="4114800"/>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11" name="Shape 9"/>
          <p:cNvSpPr/>
          <p:nvPr/>
        </p:nvSpPr>
        <p:spPr>
          <a:xfrm>
            <a:off x="4663440" y="777240"/>
            <a:ext cx="64008" cy="4114800"/>
          </a:xfrm>
          <a:prstGeom prst="rect">
            <a:avLst/>
          </a:prstGeom>
          <a:solidFill>
            <a:srgbClr val="0891B2"/>
          </a:solidFill>
          <a:ln w="12700">
            <a:solidFill>
              <a:srgbClr val="0891B2"/>
            </a:solidFill>
            <a:prstDash val="solid"/>
          </a:ln>
        </p:spPr>
      </p:sp>
      <p:sp>
        <p:nvSpPr>
          <p:cNvPr id="12" name="Text 10"/>
          <p:cNvSpPr/>
          <p:nvPr/>
        </p:nvSpPr>
        <p:spPr>
          <a:xfrm>
            <a:off x="4892040" y="886968"/>
            <a:ext cx="3749040" cy="347472"/>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Why use it?</a:t>
            </a:r>
            <a:endParaRPr lang="en-US" sz="1400" dirty="0"/>
          </a:p>
        </p:txBody>
      </p:sp>
      <p:sp>
        <p:nvSpPr>
          <p:cNvPr id="13" name="Shape 11"/>
          <p:cNvSpPr/>
          <p:nvPr/>
        </p:nvSpPr>
        <p:spPr>
          <a:xfrm>
            <a:off x="4892040" y="1325880"/>
            <a:ext cx="3749040" cy="749808"/>
          </a:xfrm>
          <a:prstGeom prst="rect">
            <a:avLst/>
          </a:prstGeom>
          <a:solidFill>
            <a:srgbClr val="EEF2F7"/>
          </a:solidFill>
          <a:ln w="12700">
            <a:solidFill>
              <a:srgbClr val="D9F0EE"/>
            </a:solidFill>
            <a:prstDash val="solid"/>
          </a:ln>
        </p:spPr>
      </p:sp>
      <p:sp>
        <p:nvSpPr>
          <p:cNvPr id="14" name="Text 12"/>
          <p:cNvSpPr/>
          <p:nvPr/>
        </p:nvSpPr>
        <p:spPr>
          <a:xfrm>
            <a:off x="5029200" y="1371600"/>
            <a:ext cx="3474720" cy="274320"/>
          </a:xfrm>
          <a:prstGeom prst="rect">
            <a:avLst/>
          </a:prstGeom>
          <a:noFill/>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Interpretable</a:t>
            </a:r>
            <a:endParaRPr lang="en-US" sz="1100" dirty="0"/>
          </a:p>
        </p:txBody>
      </p:sp>
      <p:sp>
        <p:nvSpPr>
          <p:cNvPr id="15" name="Text 13"/>
          <p:cNvSpPr/>
          <p:nvPr/>
        </p:nvSpPr>
        <p:spPr>
          <a:xfrm>
            <a:off x="5029200" y="1645920"/>
            <a:ext cx="347472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Coefficients directly explain which features drive churn</a:t>
            </a:r>
            <a:endParaRPr lang="en-US" sz="1000" dirty="0"/>
          </a:p>
        </p:txBody>
      </p:sp>
      <p:sp>
        <p:nvSpPr>
          <p:cNvPr id="16" name="Shape 14"/>
          <p:cNvSpPr/>
          <p:nvPr/>
        </p:nvSpPr>
        <p:spPr>
          <a:xfrm>
            <a:off x="4892040" y="2194560"/>
            <a:ext cx="3749040" cy="749808"/>
          </a:xfrm>
          <a:prstGeom prst="rect">
            <a:avLst/>
          </a:prstGeom>
          <a:solidFill>
            <a:srgbClr val="EEF2F7"/>
          </a:solidFill>
          <a:ln w="12700">
            <a:solidFill>
              <a:srgbClr val="D9F0EE"/>
            </a:solidFill>
            <a:prstDash val="solid"/>
          </a:ln>
        </p:spPr>
      </p:sp>
      <p:sp>
        <p:nvSpPr>
          <p:cNvPr id="17" name="Text 15"/>
          <p:cNvSpPr/>
          <p:nvPr/>
        </p:nvSpPr>
        <p:spPr>
          <a:xfrm>
            <a:off x="5029200" y="2240280"/>
            <a:ext cx="3474720" cy="274320"/>
          </a:xfrm>
          <a:prstGeom prst="rect">
            <a:avLst/>
          </a:prstGeom>
          <a:noFill/>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Probabilistic</a:t>
            </a:r>
            <a:endParaRPr lang="en-US" sz="1100" dirty="0"/>
          </a:p>
        </p:txBody>
      </p:sp>
      <p:sp>
        <p:nvSpPr>
          <p:cNvPr id="18" name="Text 16"/>
          <p:cNvSpPr/>
          <p:nvPr/>
        </p:nvSpPr>
        <p:spPr>
          <a:xfrm>
            <a:off x="5029200" y="2514600"/>
            <a:ext cx="347472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Outputs churn probability — useful for risk scoring</a:t>
            </a:r>
            <a:endParaRPr lang="en-US" sz="1000" dirty="0"/>
          </a:p>
        </p:txBody>
      </p:sp>
      <p:sp>
        <p:nvSpPr>
          <p:cNvPr id="19" name="Shape 17"/>
          <p:cNvSpPr/>
          <p:nvPr/>
        </p:nvSpPr>
        <p:spPr>
          <a:xfrm>
            <a:off x="4892040" y="3063240"/>
            <a:ext cx="3749040" cy="749808"/>
          </a:xfrm>
          <a:prstGeom prst="rect">
            <a:avLst/>
          </a:prstGeom>
          <a:solidFill>
            <a:srgbClr val="EEF2F7"/>
          </a:solidFill>
          <a:ln w="12700">
            <a:solidFill>
              <a:srgbClr val="D9F0EE"/>
            </a:solidFill>
            <a:prstDash val="solid"/>
          </a:ln>
        </p:spPr>
      </p:sp>
      <p:sp>
        <p:nvSpPr>
          <p:cNvPr id="20" name="Text 18"/>
          <p:cNvSpPr/>
          <p:nvPr/>
        </p:nvSpPr>
        <p:spPr>
          <a:xfrm>
            <a:off x="5029200" y="3108960"/>
            <a:ext cx="3474720" cy="274320"/>
          </a:xfrm>
          <a:prstGeom prst="rect">
            <a:avLst/>
          </a:prstGeom>
          <a:noFill/>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Baseline</a:t>
            </a:r>
            <a:endParaRPr lang="en-US" sz="1100" dirty="0"/>
          </a:p>
        </p:txBody>
      </p:sp>
      <p:sp>
        <p:nvSpPr>
          <p:cNvPr id="21" name="Text 19"/>
          <p:cNvSpPr/>
          <p:nvPr/>
        </p:nvSpPr>
        <p:spPr>
          <a:xfrm>
            <a:off x="5029200" y="3383280"/>
            <a:ext cx="347472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Strong benchmark to compare against complex models</a:t>
            </a:r>
            <a:endParaRPr lang="en-US" sz="1000" dirty="0"/>
          </a:p>
        </p:txBody>
      </p:sp>
      <p:sp>
        <p:nvSpPr>
          <p:cNvPr id="22" name="Shape 20"/>
          <p:cNvSpPr/>
          <p:nvPr/>
        </p:nvSpPr>
        <p:spPr>
          <a:xfrm>
            <a:off x="4892040" y="3931920"/>
            <a:ext cx="3749040" cy="749808"/>
          </a:xfrm>
          <a:prstGeom prst="rect">
            <a:avLst/>
          </a:prstGeom>
          <a:solidFill>
            <a:srgbClr val="EEF2F7"/>
          </a:solidFill>
          <a:ln w="12700">
            <a:solidFill>
              <a:srgbClr val="D9F0EE"/>
            </a:solidFill>
            <a:prstDash val="solid"/>
          </a:ln>
        </p:spPr>
      </p:sp>
      <p:sp>
        <p:nvSpPr>
          <p:cNvPr id="23" name="Text 21"/>
          <p:cNvSpPr/>
          <p:nvPr/>
        </p:nvSpPr>
        <p:spPr>
          <a:xfrm>
            <a:off x="5029200" y="3977640"/>
            <a:ext cx="3474720" cy="274320"/>
          </a:xfrm>
          <a:prstGeom prst="rect">
            <a:avLst/>
          </a:prstGeom>
          <a:noFill/>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Regularisation</a:t>
            </a:r>
            <a:endParaRPr lang="en-US" sz="1100" dirty="0"/>
          </a:p>
        </p:txBody>
      </p:sp>
      <p:sp>
        <p:nvSpPr>
          <p:cNvPr id="24" name="Text 22"/>
          <p:cNvSpPr/>
          <p:nvPr/>
        </p:nvSpPr>
        <p:spPr>
          <a:xfrm>
            <a:off x="5029200" y="4251960"/>
            <a:ext cx="3474720" cy="347472"/>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L2 penalty handles multicollinearity in our features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a:noFill/>
          </a:ln>
        </p:spPr>
      </p:sp>
      <p:sp>
        <p:nvSpPr>
          <p:cNvPr id="3" name="Shape 1"/>
          <p:cNvSpPr/>
          <p:nvPr/>
        </p:nvSpPr>
        <p:spPr>
          <a:xfrm>
            <a:off x="0" y="0"/>
            <a:ext cx="164592" cy="658368"/>
          </a:xfrm>
          <a:prstGeom prst="rect">
            <a:avLst/>
          </a:prstGeom>
          <a:solidFill>
            <a:srgbClr val="0891B2"/>
          </a:solidFill>
          <a:ln w="12700">
            <a:solidFill>
              <a:srgbClr val="0891B2"/>
            </a:solidFill>
            <a:prstDash val="solid"/>
          </a:ln>
        </p:spPr>
      </p:sp>
      <p:sp>
        <p:nvSpPr>
          <p:cNvPr id="4" name="Text 2"/>
          <p:cNvSpPr/>
          <p:nvPr/>
        </p:nvSpPr>
        <p:spPr>
          <a:xfrm>
            <a:off x="320040" y="45720"/>
            <a:ext cx="6858000" cy="566928"/>
          </a:xfrm>
          <a:prstGeom prst="rect">
            <a:avLst/>
          </a:prstGeom>
          <a:noFill/>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Logistic Regression — Pipeline &amp; Parameters</a:t>
            </a:r>
            <a:endParaRPr lang="en-US" sz="2200" dirty="0"/>
          </a:p>
        </p:txBody>
      </p:sp>
      <p:sp>
        <p:nvSpPr>
          <p:cNvPr id="5" name="Text 3"/>
          <p:cNvSpPr/>
          <p:nvPr/>
        </p:nvSpPr>
        <p:spPr>
          <a:xfrm>
            <a:off x="7315200" y="137160"/>
            <a:ext cx="1645920" cy="384048"/>
          </a:xfrm>
          <a:prstGeom prst="rect">
            <a:avLst/>
          </a:prstGeom>
          <a:noFill/>
        </p:spPr>
        <p:txBody>
          <a:bodyPr wrap="square" lIns="0" tIns="0" rIns="0" bIns="0" rtlCol="0" anchor="ctr"/>
          <a:lstStyle/>
          <a:p>
            <a:pPr marL="0" indent="0" algn="r">
              <a:buNone/>
            </a:pPr>
            <a:r>
              <a:rPr lang="en-US" sz="900" b="1" dirty="0">
                <a:solidFill>
                  <a:srgbClr val="02C39A"/>
                </a:solidFill>
                <a:latin typeface="Calibri" pitchFamily="34" charset="0"/>
                <a:ea typeface="Calibri" pitchFamily="34" charset="-122"/>
                <a:cs typeface="Calibri" pitchFamily="34" charset="-120"/>
              </a:rPr>
              <a:t>METHODOLOGY</a:t>
            </a:r>
            <a:endParaRPr lang="en-US" sz="900" dirty="0"/>
          </a:p>
        </p:txBody>
      </p:sp>
      <p:sp>
        <p:nvSpPr>
          <p:cNvPr id="6" name="Shape 4"/>
          <p:cNvSpPr/>
          <p:nvPr/>
        </p:nvSpPr>
        <p:spPr>
          <a:xfrm>
            <a:off x="274320" y="804672"/>
            <a:ext cx="5303520" cy="2331720"/>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7" name="Shape 5"/>
          <p:cNvSpPr/>
          <p:nvPr/>
        </p:nvSpPr>
        <p:spPr>
          <a:xfrm>
            <a:off x="274320" y="804672"/>
            <a:ext cx="64008" cy="2331720"/>
          </a:xfrm>
          <a:prstGeom prst="rect">
            <a:avLst/>
          </a:prstGeom>
          <a:solidFill>
            <a:srgbClr val="0891B2"/>
          </a:solidFill>
          <a:ln>
            <a:noFill/>
          </a:ln>
        </p:spPr>
      </p:sp>
      <p:sp>
        <p:nvSpPr>
          <p:cNvPr id="8" name="Text 6"/>
          <p:cNvSpPr/>
          <p:nvPr/>
        </p:nvSpPr>
        <p:spPr>
          <a:xfrm>
            <a:off x="502920" y="896112"/>
            <a:ext cx="4846320" cy="347472"/>
          </a:xfrm>
          <a:prstGeom prst="rect">
            <a:avLst/>
          </a:prstGeom>
          <a:noFill/>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Model Configuration</a:t>
            </a:r>
            <a:endParaRPr lang="en-US" sz="1300" dirty="0"/>
          </a:p>
        </p:txBody>
      </p:sp>
      <p:sp>
        <p:nvSpPr>
          <p:cNvPr id="9" name="Shape 7"/>
          <p:cNvSpPr/>
          <p:nvPr/>
        </p:nvSpPr>
        <p:spPr>
          <a:xfrm>
            <a:off x="502920" y="1298448"/>
            <a:ext cx="4937760" cy="274320"/>
          </a:xfrm>
          <a:prstGeom prst="rect">
            <a:avLst/>
          </a:prstGeom>
          <a:solidFill>
            <a:srgbClr val="0891B2"/>
          </a:solidFill>
          <a:ln w="12700">
            <a:solidFill>
              <a:srgbClr val="0891B2"/>
            </a:solidFill>
            <a:prstDash val="solid"/>
          </a:ln>
        </p:spPr>
      </p:sp>
      <p:sp>
        <p:nvSpPr>
          <p:cNvPr id="10" name="Text 8"/>
          <p:cNvSpPr/>
          <p:nvPr/>
        </p:nvSpPr>
        <p:spPr>
          <a:xfrm>
            <a:off x="502920" y="1298448"/>
            <a:ext cx="1645920" cy="274320"/>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p>
        </p:txBody>
      </p:sp>
      <p:sp>
        <p:nvSpPr>
          <p:cNvPr id="11" name="Text 9"/>
          <p:cNvSpPr/>
          <p:nvPr/>
        </p:nvSpPr>
        <p:spPr>
          <a:xfrm>
            <a:off x="2148840" y="1298448"/>
            <a:ext cx="1645920" cy="274320"/>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Value</a:t>
            </a:r>
            <a:endParaRPr lang="en-US" sz="900" dirty="0"/>
          </a:p>
        </p:txBody>
      </p:sp>
      <p:sp>
        <p:nvSpPr>
          <p:cNvPr id="12" name="Text 10"/>
          <p:cNvSpPr/>
          <p:nvPr/>
        </p:nvSpPr>
        <p:spPr>
          <a:xfrm>
            <a:off x="3794760" y="1298448"/>
            <a:ext cx="1645920" cy="274320"/>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Reason</a:t>
            </a:r>
            <a:endParaRPr lang="en-US" sz="900" dirty="0"/>
          </a:p>
        </p:txBody>
      </p:sp>
      <p:sp>
        <p:nvSpPr>
          <p:cNvPr id="13" name="Shape 11"/>
          <p:cNvSpPr/>
          <p:nvPr/>
        </p:nvSpPr>
        <p:spPr>
          <a:xfrm>
            <a:off x="502920" y="1572768"/>
            <a:ext cx="4937760" cy="256032"/>
          </a:xfrm>
          <a:prstGeom prst="rect">
            <a:avLst/>
          </a:prstGeom>
          <a:solidFill>
            <a:srgbClr val="EEF2F7"/>
          </a:solidFill>
          <a:ln w="6350">
            <a:solidFill>
              <a:srgbClr val="E8F4F5"/>
            </a:solidFill>
            <a:prstDash val="solid"/>
          </a:ln>
        </p:spPr>
      </p:sp>
      <p:sp>
        <p:nvSpPr>
          <p:cNvPr id="14" name="Text 12"/>
          <p:cNvSpPr/>
          <p:nvPr/>
        </p:nvSpPr>
        <p:spPr>
          <a:xfrm>
            <a:off x="548640" y="1572768"/>
            <a:ext cx="1600200" cy="256032"/>
          </a:xfrm>
          <a:prstGeom prst="rect">
            <a:avLst/>
          </a:prstGeom>
          <a:noFill/>
        </p:spPr>
        <p:txBody>
          <a:bodyPr wrap="square" lIns="0" tIns="0" rIns="0" bIns="0"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max_iter</a:t>
            </a:r>
            <a:endParaRPr lang="en-US" sz="900" dirty="0"/>
          </a:p>
        </p:txBody>
      </p:sp>
      <p:sp>
        <p:nvSpPr>
          <p:cNvPr id="15" name="Text 13"/>
          <p:cNvSpPr/>
          <p:nvPr/>
        </p:nvSpPr>
        <p:spPr>
          <a:xfrm>
            <a:off x="2194560" y="1572768"/>
            <a:ext cx="1600200" cy="256032"/>
          </a:xfrm>
          <a:prstGeom prst="rect">
            <a:avLst/>
          </a:prstGeom>
          <a:noFill/>
        </p:spPr>
        <p:txBody>
          <a:bodyPr wrap="square" lIns="0" tIns="0" rIns="0" bIns="0" rtlCol="0" anchor="ctr"/>
          <a:lstStyle/>
          <a:p>
            <a:pPr marL="0" indent="0">
              <a:buNone/>
            </a:pPr>
            <a:r>
              <a:rPr lang="en-US" sz="900" dirty="0">
                <a:solidFill>
                  <a:srgbClr val="0891B2"/>
                </a:solidFill>
                <a:latin typeface="Consolas" pitchFamily="34" charset="0"/>
                <a:ea typeface="Consolas" pitchFamily="34" charset="-122"/>
                <a:cs typeface="Consolas" pitchFamily="34" charset="-120"/>
              </a:rPr>
              <a:t>1000</a:t>
            </a:r>
            <a:endParaRPr lang="en-US" sz="900" dirty="0"/>
          </a:p>
        </p:txBody>
      </p:sp>
      <p:sp>
        <p:nvSpPr>
          <p:cNvPr id="16" name="Text 14"/>
          <p:cNvSpPr/>
          <p:nvPr/>
        </p:nvSpPr>
        <p:spPr>
          <a:xfrm>
            <a:off x="3840480" y="1572768"/>
            <a:ext cx="1600200" cy="256032"/>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Ensures convergence on scaled data</a:t>
            </a:r>
            <a:endParaRPr lang="en-US" sz="900" dirty="0"/>
          </a:p>
        </p:txBody>
      </p:sp>
      <p:sp>
        <p:nvSpPr>
          <p:cNvPr id="17" name="Shape 15"/>
          <p:cNvSpPr/>
          <p:nvPr/>
        </p:nvSpPr>
        <p:spPr>
          <a:xfrm>
            <a:off x="502920" y="1828800"/>
            <a:ext cx="4937760" cy="256032"/>
          </a:xfrm>
          <a:prstGeom prst="rect">
            <a:avLst/>
          </a:prstGeom>
          <a:solidFill>
            <a:srgbClr val="FFFFFF"/>
          </a:solidFill>
          <a:ln w="6350">
            <a:solidFill>
              <a:srgbClr val="E8F4F5"/>
            </a:solidFill>
            <a:prstDash val="solid"/>
          </a:ln>
        </p:spPr>
      </p:sp>
      <p:sp>
        <p:nvSpPr>
          <p:cNvPr id="18" name="Text 16"/>
          <p:cNvSpPr/>
          <p:nvPr/>
        </p:nvSpPr>
        <p:spPr>
          <a:xfrm>
            <a:off x="548640" y="1828800"/>
            <a:ext cx="1600200" cy="256032"/>
          </a:xfrm>
          <a:prstGeom prst="rect">
            <a:avLst/>
          </a:prstGeom>
          <a:noFill/>
        </p:spPr>
        <p:txBody>
          <a:bodyPr wrap="square" lIns="0" tIns="0" rIns="0" bIns="0"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penalty</a:t>
            </a:r>
            <a:endParaRPr lang="en-US" sz="900" dirty="0"/>
          </a:p>
        </p:txBody>
      </p:sp>
      <p:sp>
        <p:nvSpPr>
          <p:cNvPr id="19" name="Text 17"/>
          <p:cNvSpPr/>
          <p:nvPr/>
        </p:nvSpPr>
        <p:spPr>
          <a:xfrm>
            <a:off x="2194560" y="1828800"/>
            <a:ext cx="1600200" cy="256032"/>
          </a:xfrm>
          <a:prstGeom prst="rect">
            <a:avLst/>
          </a:prstGeom>
          <a:noFill/>
        </p:spPr>
        <p:txBody>
          <a:bodyPr wrap="square" lIns="0" tIns="0" rIns="0" bIns="0" rtlCol="0" anchor="ctr"/>
          <a:lstStyle/>
          <a:p>
            <a:pPr marL="0" indent="0">
              <a:buNone/>
            </a:pPr>
            <a:r>
              <a:rPr lang="en-US" sz="900" dirty="0">
                <a:solidFill>
                  <a:srgbClr val="0891B2"/>
                </a:solidFill>
                <a:latin typeface="Consolas" pitchFamily="34" charset="0"/>
                <a:ea typeface="Consolas" pitchFamily="34" charset="-122"/>
                <a:cs typeface="Consolas" pitchFamily="34" charset="-120"/>
              </a:rPr>
              <a:t>'l2'</a:t>
            </a:r>
            <a:endParaRPr lang="en-US" sz="900" dirty="0"/>
          </a:p>
        </p:txBody>
      </p:sp>
      <p:sp>
        <p:nvSpPr>
          <p:cNvPr id="20" name="Text 18"/>
          <p:cNvSpPr/>
          <p:nvPr/>
        </p:nvSpPr>
        <p:spPr>
          <a:xfrm>
            <a:off x="3840480" y="1828800"/>
            <a:ext cx="1600200" cy="256032"/>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Ridge regularisation (default)</a:t>
            </a:r>
            <a:endParaRPr lang="en-US" sz="900" dirty="0"/>
          </a:p>
        </p:txBody>
      </p:sp>
      <p:sp>
        <p:nvSpPr>
          <p:cNvPr id="21" name="Shape 19"/>
          <p:cNvSpPr/>
          <p:nvPr/>
        </p:nvSpPr>
        <p:spPr>
          <a:xfrm>
            <a:off x="502920" y="2084832"/>
            <a:ext cx="4937760" cy="256032"/>
          </a:xfrm>
          <a:prstGeom prst="rect">
            <a:avLst/>
          </a:prstGeom>
          <a:solidFill>
            <a:srgbClr val="EEF2F7"/>
          </a:solidFill>
          <a:ln w="6350">
            <a:solidFill>
              <a:srgbClr val="E8F4F5"/>
            </a:solidFill>
            <a:prstDash val="solid"/>
          </a:ln>
        </p:spPr>
      </p:sp>
      <p:sp>
        <p:nvSpPr>
          <p:cNvPr id="22" name="Text 20"/>
          <p:cNvSpPr/>
          <p:nvPr/>
        </p:nvSpPr>
        <p:spPr>
          <a:xfrm>
            <a:off x="548640" y="2084832"/>
            <a:ext cx="1600200" cy="256032"/>
          </a:xfrm>
          <a:prstGeom prst="rect">
            <a:avLst/>
          </a:prstGeom>
          <a:noFill/>
        </p:spPr>
        <p:txBody>
          <a:bodyPr wrap="square" lIns="0" tIns="0" rIns="0" bIns="0"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solver</a:t>
            </a:r>
            <a:endParaRPr lang="en-US" sz="900" dirty="0"/>
          </a:p>
        </p:txBody>
      </p:sp>
      <p:sp>
        <p:nvSpPr>
          <p:cNvPr id="23" name="Text 21"/>
          <p:cNvSpPr/>
          <p:nvPr/>
        </p:nvSpPr>
        <p:spPr>
          <a:xfrm>
            <a:off x="2194560" y="2084832"/>
            <a:ext cx="1600200" cy="256032"/>
          </a:xfrm>
          <a:prstGeom prst="rect">
            <a:avLst/>
          </a:prstGeom>
          <a:noFill/>
        </p:spPr>
        <p:txBody>
          <a:bodyPr wrap="square" lIns="0" tIns="0" rIns="0" bIns="0" rtlCol="0" anchor="ctr"/>
          <a:lstStyle/>
          <a:p>
            <a:pPr marL="0" indent="0">
              <a:buNone/>
            </a:pPr>
            <a:r>
              <a:rPr lang="en-US" sz="900" dirty="0">
                <a:solidFill>
                  <a:srgbClr val="0891B2"/>
                </a:solidFill>
                <a:latin typeface="Consolas" pitchFamily="34" charset="0"/>
                <a:ea typeface="Consolas" pitchFamily="34" charset="-122"/>
                <a:cs typeface="Consolas" pitchFamily="34" charset="-120"/>
              </a:rPr>
              <a:t>'lbfgs'</a:t>
            </a:r>
            <a:endParaRPr lang="en-US" sz="900" dirty="0"/>
          </a:p>
        </p:txBody>
      </p:sp>
      <p:sp>
        <p:nvSpPr>
          <p:cNvPr id="24" name="Text 22"/>
          <p:cNvSpPr/>
          <p:nvPr/>
        </p:nvSpPr>
        <p:spPr>
          <a:xfrm>
            <a:off x="3840480" y="2084832"/>
            <a:ext cx="1600200" cy="256032"/>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Efficient for medium-sized datasets</a:t>
            </a:r>
            <a:endParaRPr lang="en-US" sz="900" dirty="0"/>
          </a:p>
        </p:txBody>
      </p:sp>
      <p:sp>
        <p:nvSpPr>
          <p:cNvPr id="25" name="Shape 23"/>
          <p:cNvSpPr/>
          <p:nvPr/>
        </p:nvSpPr>
        <p:spPr>
          <a:xfrm>
            <a:off x="502920" y="2340864"/>
            <a:ext cx="4937760" cy="256032"/>
          </a:xfrm>
          <a:prstGeom prst="rect">
            <a:avLst/>
          </a:prstGeom>
          <a:solidFill>
            <a:srgbClr val="FFFFFF"/>
          </a:solidFill>
          <a:ln w="6350">
            <a:solidFill>
              <a:srgbClr val="E8F4F5"/>
            </a:solidFill>
            <a:prstDash val="solid"/>
          </a:ln>
        </p:spPr>
      </p:sp>
      <p:sp>
        <p:nvSpPr>
          <p:cNvPr id="26" name="Text 24"/>
          <p:cNvSpPr/>
          <p:nvPr/>
        </p:nvSpPr>
        <p:spPr>
          <a:xfrm>
            <a:off x="548640" y="2340864"/>
            <a:ext cx="1600200" cy="256032"/>
          </a:xfrm>
          <a:prstGeom prst="rect">
            <a:avLst/>
          </a:prstGeom>
          <a:noFill/>
        </p:spPr>
        <p:txBody>
          <a:bodyPr wrap="square" lIns="0" tIns="0" rIns="0" bIns="0"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random_state</a:t>
            </a:r>
            <a:endParaRPr lang="en-US" sz="900" dirty="0"/>
          </a:p>
        </p:txBody>
      </p:sp>
      <p:sp>
        <p:nvSpPr>
          <p:cNvPr id="27" name="Text 25"/>
          <p:cNvSpPr/>
          <p:nvPr/>
        </p:nvSpPr>
        <p:spPr>
          <a:xfrm>
            <a:off x="2194560" y="2340864"/>
            <a:ext cx="1600200" cy="256032"/>
          </a:xfrm>
          <a:prstGeom prst="rect">
            <a:avLst/>
          </a:prstGeom>
          <a:noFill/>
        </p:spPr>
        <p:txBody>
          <a:bodyPr wrap="square" lIns="0" tIns="0" rIns="0" bIns="0" rtlCol="0" anchor="ctr"/>
          <a:lstStyle/>
          <a:p>
            <a:pPr marL="0" indent="0">
              <a:buNone/>
            </a:pPr>
            <a:r>
              <a:rPr lang="en-US" sz="900" dirty="0">
                <a:solidFill>
                  <a:srgbClr val="0891B2"/>
                </a:solidFill>
                <a:latin typeface="Consolas" pitchFamily="34" charset="0"/>
                <a:ea typeface="Consolas" pitchFamily="34" charset="-122"/>
                <a:cs typeface="Consolas" pitchFamily="34" charset="-120"/>
              </a:rPr>
              <a:t>42</a:t>
            </a:r>
            <a:endParaRPr lang="en-US" sz="900" dirty="0"/>
          </a:p>
        </p:txBody>
      </p:sp>
      <p:sp>
        <p:nvSpPr>
          <p:cNvPr id="28" name="Text 26"/>
          <p:cNvSpPr/>
          <p:nvPr/>
        </p:nvSpPr>
        <p:spPr>
          <a:xfrm>
            <a:off x="3840480" y="2340864"/>
            <a:ext cx="1600200" cy="256032"/>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Reproducibility</a:t>
            </a:r>
            <a:endParaRPr lang="en-US" sz="900" dirty="0"/>
          </a:p>
        </p:txBody>
      </p:sp>
      <p:sp>
        <p:nvSpPr>
          <p:cNvPr id="29" name="Shape 27"/>
          <p:cNvSpPr/>
          <p:nvPr/>
        </p:nvSpPr>
        <p:spPr>
          <a:xfrm>
            <a:off x="502920" y="2596896"/>
            <a:ext cx="4937760" cy="256032"/>
          </a:xfrm>
          <a:prstGeom prst="rect">
            <a:avLst/>
          </a:prstGeom>
          <a:solidFill>
            <a:srgbClr val="EEF2F7"/>
          </a:solidFill>
          <a:ln w="6350">
            <a:solidFill>
              <a:srgbClr val="E8F4F5"/>
            </a:solidFill>
            <a:prstDash val="solid"/>
          </a:ln>
        </p:spPr>
      </p:sp>
      <p:sp>
        <p:nvSpPr>
          <p:cNvPr id="30" name="Text 28"/>
          <p:cNvSpPr/>
          <p:nvPr/>
        </p:nvSpPr>
        <p:spPr>
          <a:xfrm>
            <a:off x="548640" y="2596896"/>
            <a:ext cx="1600200" cy="256032"/>
          </a:xfrm>
          <a:prstGeom prst="rect">
            <a:avLst/>
          </a:prstGeom>
          <a:noFill/>
        </p:spPr>
        <p:txBody>
          <a:bodyPr wrap="square" lIns="0" tIns="0" rIns="0" bIns="0"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class_weight</a:t>
            </a:r>
            <a:endParaRPr lang="en-US" sz="900" dirty="0"/>
          </a:p>
        </p:txBody>
      </p:sp>
      <p:sp>
        <p:nvSpPr>
          <p:cNvPr id="31" name="Text 29"/>
          <p:cNvSpPr/>
          <p:nvPr/>
        </p:nvSpPr>
        <p:spPr>
          <a:xfrm>
            <a:off x="2194560" y="2596896"/>
            <a:ext cx="1600200" cy="256032"/>
          </a:xfrm>
          <a:prstGeom prst="rect">
            <a:avLst/>
          </a:prstGeom>
          <a:noFill/>
        </p:spPr>
        <p:txBody>
          <a:bodyPr wrap="square" lIns="0" tIns="0" rIns="0" bIns="0" rtlCol="0" anchor="ctr"/>
          <a:lstStyle/>
          <a:p>
            <a:pPr marL="0" indent="0">
              <a:buNone/>
            </a:pPr>
            <a:r>
              <a:rPr lang="en-US" sz="900" dirty="0">
                <a:solidFill>
                  <a:srgbClr val="0891B2"/>
                </a:solidFill>
                <a:latin typeface="Consolas" pitchFamily="34" charset="0"/>
                <a:ea typeface="Consolas" pitchFamily="34" charset="-122"/>
                <a:cs typeface="Consolas" pitchFamily="34" charset="-120"/>
              </a:rPr>
              <a:t>balanced*</a:t>
            </a:r>
            <a:endParaRPr lang="en-US" sz="900" dirty="0"/>
          </a:p>
        </p:txBody>
      </p:sp>
      <p:sp>
        <p:nvSpPr>
          <p:cNvPr id="32" name="Text 30"/>
          <p:cNvSpPr/>
          <p:nvPr/>
        </p:nvSpPr>
        <p:spPr>
          <a:xfrm>
            <a:off x="3840480" y="2596896"/>
            <a:ext cx="1600200" cy="256032"/>
          </a:xfrm>
          <a:prstGeom prst="rect">
            <a:avLst/>
          </a:prstGeom>
          <a:noFill/>
        </p:spPr>
        <p:txBody>
          <a:bodyPr wrap="square" lIns="0" tIns="0" rIns="0" bIns="0" rtlCol="0" anchor="ctr"/>
          <a:lstStyle/>
          <a:p>
            <a:pPr marL="0" indent="0">
              <a:buNone/>
            </a:pPr>
            <a:r>
              <a:rPr lang="en-US" sz="900" dirty="0">
                <a:solidFill>
                  <a:srgbClr val="1E2761"/>
                </a:solidFill>
                <a:latin typeface="Calibri" pitchFamily="34" charset="0"/>
                <a:ea typeface="Calibri" pitchFamily="34" charset="-122"/>
                <a:cs typeface="Calibri" pitchFamily="34" charset="-120"/>
              </a:rPr>
              <a:t>Handles residual class imbalance</a:t>
            </a:r>
            <a:endParaRPr lang="en-US" sz="900" dirty="0"/>
          </a:p>
        </p:txBody>
      </p:sp>
      <p:sp>
        <p:nvSpPr>
          <p:cNvPr id="33" name="Text 31"/>
          <p:cNvSpPr/>
          <p:nvPr/>
        </p:nvSpPr>
        <p:spPr>
          <a:xfrm>
            <a:off x="502920" y="2871216"/>
            <a:ext cx="4937760" cy="228600"/>
          </a:xfrm>
          <a:prstGeom prst="rect">
            <a:avLst/>
          </a:prstGeom>
          <a:noFill/>
        </p:spPr>
        <p:txBody>
          <a:bodyPr wrap="square" lIns="0" tIns="0" rIns="0" bIns="0" rtlCol="0" anchor="ctr"/>
          <a:lstStyle/>
          <a:p>
            <a:pPr marL="0" indent="0">
              <a:buNone/>
            </a:pPr>
            <a:r>
              <a:rPr lang="en-US" sz="800" i="1" dirty="0">
                <a:solidFill>
                  <a:srgbClr val="1E2761"/>
                </a:solidFill>
                <a:latin typeface="Calibri" pitchFamily="34" charset="0"/>
                <a:ea typeface="Calibri" pitchFamily="34" charset="-122"/>
                <a:cs typeface="Calibri" pitchFamily="34" charset="-120"/>
              </a:rPr>
              <a:t>* Alternative to SMOTE; we use SMOTE upstream so default None is also valid</a:t>
            </a:r>
            <a:endParaRPr lang="en-US" sz="800" dirty="0"/>
          </a:p>
        </p:txBody>
      </p:sp>
      <p:sp>
        <p:nvSpPr>
          <p:cNvPr id="34" name="Shape 32"/>
          <p:cNvSpPr/>
          <p:nvPr/>
        </p:nvSpPr>
        <p:spPr>
          <a:xfrm>
            <a:off x="5852160" y="804672"/>
            <a:ext cx="3017520" cy="2331720"/>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35" name="Shape 33"/>
          <p:cNvSpPr/>
          <p:nvPr/>
        </p:nvSpPr>
        <p:spPr>
          <a:xfrm>
            <a:off x="5852160" y="804672"/>
            <a:ext cx="64008" cy="2331720"/>
          </a:xfrm>
          <a:prstGeom prst="rect">
            <a:avLst/>
          </a:prstGeom>
          <a:solidFill>
            <a:srgbClr val="0891B2"/>
          </a:solidFill>
          <a:ln w="12700">
            <a:solidFill>
              <a:srgbClr val="0891B2"/>
            </a:solidFill>
            <a:prstDash val="solid"/>
          </a:ln>
        </p:spPr>
      </p:sp>
      <p:sp>
        <p:nvSpPr>
          <p:cNvPr id="36" name="Text 34"/>
          <p:cNvSpPr/>
          <p:nvPr/>
        </p:nvSpPr>
        <p:spPr>
          <a:xfrm>
            <a:off x="6080760" y="896112"/>
            <a:ext cx="2560320" cy="347472"/>
          </a:xfrm>
          <a:prstGeom prst="rect">
            <a:avLst/>
          </a:prstGeom>
          <a:noFill/>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Pipeline Steps</a:t>
            </a:r>
            <a:endParaRPr lang="en-US" sz="1300" dirty="0"/>
          </a:p>
        </p:txBody>
      </p:sp>
      <p:sp>
        <p:nvSpPr>
          <p:cNvPr id="37" name="Shape 35"/>
          <p:cNvSpPr/>
          <p:nvPr/>
        </p:nvSpPr>
        <p:spPr>
          <a:xfrm>
            <a:off x="6080760" y="1316736"/>
            <a:ext cx="2651760" cy="292608"/>
          </a:xfrm>
          <a:prstGeom prst="rect">
            <a:avLst/>
          </a:prstGeom>
          <a:solidFill>
            <a:srgbClr val="D9F0EE"/>
          </a:solidFill>
          <a:ln w="12700">
            <a:solidFill>
              <a:srgbClr val="D5EDEB"/>
            </a:solidFill>
            <a:prstDash val="solid"/>
          </a:ln>
        </p:spPr>
      </p:sp>
      <p:sp>
        <p:nvSpPr>
          <p:cNvPr id="38" name="Text 36"/>
          <p:cNvSpPr/>
          <p:nvPr/>
        </p:nvSpPr>
        <p:spPr>
          <a:xfrm>
            <a:off x="6144768" y="1316736"/>
            <a:ext cx="2560320" cy="292608"/>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① Load churn_train.csv</a:t>
            </a:r>
            <a:endParaRPr lang="en-US" sz="1000" dirty="0"/>
          </a:p>
        </p:txBody>
      </p:sp>
      <p:sp>
        <p:nvSpPr>
          <p:cNvPr id="39" name="Shape 37"/>
          <p:cNvSpPr/>
          <p:nvPr/>
        </p:nvSpPr>
        <p:spPr>
          <a:xfrm>
            <a:off x="6080760" y="1664208"/>
            <a:ext cx="2651760" cy="292608"/>
          </a:xfrm>
          <a:prstGeom prst="rect">
            <a:avLst/>
          </a:prstGeom>
          <a:solidFill>
            <a:srgbClr val="FFFFFF"/>
          </a:solidFill>
          <a:ln w="12700">
            <a:solidFill>
              <a:srgbClr val="D5EDEB"/>
            </a:solidFill>
            <a:prstDash val="solid"/>
          </a:ln>
        </p:spPr>
      </p:sp>
      <p:sp>
        <p:nvSpPr>
          <p:cNvPr id="40" name="Text 38"/>
          <p:cNvSpPr/>
          <p:nvPr/>
        </p:nvSpPr>
        <p:spPr>
          <a:xfrm>
            <a:off x="6144768" y="1664208"/>
            <a:ext cx="2560320" cy="292608"/>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② Drop Churn target column</a:t>
            </a:r>
            <a:endParaRPr lang="en-US" sz="1000" dirty="0"/>
          </a:p>
        </p:txBody>
      </p:sp>
      <p:sp>
        <p:nvSpPr>
          <p:cNvPr id="41" name="Shape 39"/>
          <p:cNvSpPr/>
          <p:nvPr/>
        </p:nvSpPr>
        <p:spPr>
          <a:xfrm>
            <a:off x="6080760" y="2011680"/>
            <a:ext cx="2651760" cy="292608"/>
          </a:xfrm>
          <a:prstGeom prst="rect">
            <a:avLst/>
          </a:prstGeom>
          <a:solidFill>
            <a:srgbClr val="D9F0EE"/>
          </a:solidFill>
          <a:ln w="12700">
            <a:solidFill>
              <a:srgbClr val="D5EDEB"/>
            </a:solidFill>
            <a:prstDash val="solid"/>
          </a:ln>
        </p:spPr>
      </p:sp>
      <p:sp>
        <p:nvSpPr>
          <p:cNvPr id="42" name="Text 40"/>
          <p:cNvSpPr/>
          <p:nvPr/>
        </p:nvSpPr>
        <p:spPr>
          <a:xfrm>
            <a:off x="6144768" y="2011680"/>
            <a:ext cx="2560320" cy="292608"/>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③ Fit LogisticRegression</a:t>
            </a:r>
            <a:endParaRPr lang="en-US" sz="1000" dirty="0"/>
          </a:p>
        </p:txBody>
      </p:sp>
      <p:sp>
        <p:nvSpPr>
          <p:cNvPr id="43" name="Shape 41"/>
          <p:cNvSpPr/>
          <p:nvPr/>
        </p:nvSpPr>
        <p:spPr>
          <a:xfrm>
            <a:off x="6080760" y="2359152"/>
            <a:ext cx="2651760" cy="292608"/>
          </a:xfrm>
          <a:prstGeom prst="rect">
            <a:avLst/>
          </a:prstGeom>
          <a:solidFill>
            <a:srgbClr val="FFFFFF"/>
          </a:solidFill>
          <a:ln w="12700">
            <a:solidFill>
              <a:srgbClr val="D5EDEB"/>
            </a:solidFill>
            <a:prstDash val="solid"/>
          </a:ln>
        </p:spPr>
      </p:sp>
      <p:sp>
        <p:nvSpPr>
          <p:cNvPr id="44" name="Text 42"/>
          <p:cNvSpPr/>
          <p:nvPr/>
        </p:nvSpPr>
        <p:spPr>
          <a:xfrm>
            <a:off x="6144768" y="2359152"/>
            <a:ext cx="2560320" cy="292608"/>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④ 5-Fold CV → ROC-AUC score</a:t>
            </a:r>
            <a:endParaRPr lang="en-US" sz="1000" dirty="0"/>
          </a:p>
        </p:txBody>
      </p:sp>
      <p:sp>
        <p:nvSpPr>
          <p:cNvPr id="45" name="Shape 43"/>
          <p:cNvSpPr/>
          <p:nvPr/>
        </p:nvSpPr>
        <p:spPr>
          <a:xfrm>
            <a:off x="6080760" y="2706624"/>
            <a:ext cx="2651760" cy="292608"/>
          </a:xfrm>
          <a:prstGeom prst="rect">
            <a:avLst/>
          </a:prstGeom>
          <a:solidFill>
            <a:srgbClr val="D9F0EE"/>
          </a:solidFill>
          <a:ln w="12700">
            <a:solidFill>
              <a:srgbClr val="D5EDEB"/>
            </a:solidFill>
            <a:prstDash val="solid"/>
          </a:ln>
        </p:spPr>
      </p:sp>
      <p:sp>
        <p:nvSpPr>
          <p:cNvPr id="46" name="Text 44"/>
          <p:cNvSpPr/>
          <p:nvPr/>
        </p:nvSpPr>
        <p:spPr>
          <a:xfrm>
            <a:off x="6144768" y="2706624"/>
            <a:ext cx="2560320" cy="292608"/>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⑤ Save model to models/</a:t>
            </a:r>
            <a:endParaRPr lang="en-US" sz="1000" dirty="0"/>
          </a:p>
        </p:txBody>
      </p:sp>
      <p:sp>
        <p:nvSpPr>
          <p:cNvPr id="47" name="Shape 45"/>
          <p:cNvSpPr/>
          <p:nvPr/>
        </p:nvSpPr>
        <p:spPr>
          <a:xfrm>
            <a:off x="274320" y="3200400"/>
            <a:ext cx="8595360" cy="1737360"/>
          </a:xfrm>
          <a:prstGeom prst="rect">
            <a:avLst/>
          </a:prstGeom>
          <a:solidFill>
            <a:srgbClr val="1E2761"/>
          </a:solidFill>
          <a:ln w="12700">
            <a:solidFill>
              <a:srgbClr val="1E2761"/>
            </a:solidFill>
            <a:prstDash val="solid"/>
          </a:ln>
          <a:effectLst>
            <a:outerShdw blurRad="63500" dist="25400" dir="8100000" algn="bl" rotWithShape="0">
              <a:srgbClr val="000000">
                <a:alpha val="12000"/>
              </a:srgbClr>
            </a:outerShdw>
          </a:effectLst>
        </p:spPr>
      </p:sp>
      <p:sp>
        <p:nvSpPr>
          <p:cNvPr id="48" name="Text 46"/>
          <p:cNvSpPr/>
          <p:nvPr/>
        </p:nvSpPr>
        <p:spPr>
          <a:xfrm>
            <a:off x="457200" y="3291840"/>
            <a:ext cx="8229600" cy="320040"/>
          </a:xfrm>
          <a:prstGeom prst="rect">
            <a:avLst/>
          </a:prstGeom>
          <a:noFill/>
        </p:spPr>
        <p:txBody>
          <a:bodyPr wrap="square" lIns="0" tIns="0" rIns="0" bIns="0"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Evaluation Metrics Reported</a:t>
            </a:r>
            <a:endParaRPr lang="en-US" sz="1200" dirty="0"/>
          </a:p>
        </p:txBody>
      </p:sp>
      <p:sp>
        <p:nvSpPr>
          <p:cNvPr id="49" name="Text 47"/>
          <p:cNvSpPr/>
          <p:nvPr/>
        </p:nvSpPr>
        <p:spPr>
          <a:xfrm>
            <a:off x="457200" y="3675888"/>
            <a:ext cx="1554480" cy="292608"/>
          </a:xfrm>
          <a:prstGeom prst="rect">
            <a:avLst/>
          </a:prstGeom>
          <a:noFill/>
        </p:spPr>
        <p:txBody>
          <a:bodyPr wrap="square" lIns="0" tIns="0" rIns="0" bIns="0"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Accuracy</a:t>
            </a:r>
            <a:endParaRPr lang="en-US" sz="1100" dirty="0"/>
          </a:p>
        </p:txBody>
      </p:sp>
      <p:sp>
        <p:nvSpPr>
          <p:cNvPr id="50" name="Text 48"/>
          <p:cNvSpPr/>
          <p:nvPr/>
        </p:nvSpPr>
        <p:spPr>
          <a:xfrm>
            <a:off x="457200" y="3977640"/>
            <a:ext cx="1554480" cy="822960"/>
          </a:xfrm>
          <a:prstGeom prst="rect">
            <a:avLst/>
          </a:prstGeom>
          <a:noFill/>
        </p:spPr>
        <p:txBody>
          <a:bodyPr wrap="square" lIns="0" tIns="0" rIns="0" bIns="0" rtlCol="0" anchor="ctr"/>
          <a:lstStyle/>
          <a:p>
            <a:pPr marL="0" indent="0" algn="ctr">
              <a:buNone/>
            </a:pPr>
            <a:r>
              <a:rPr lang="en-US" sz="900" dirty="0">
                <a:solidFill>
                  <a:srgbClr val="AECFD4"/>
                </a:solidFill>
                <a:latin typeface="Calibri" pitchFamily="34" charset="0"/>
                <a:ea typeface="Calibri" pitchFamily="34" charset="-122"/>
                <a:cs typeface="Calibri" pitchFamily="34" charset="-120"/>
              </a:rPr>
              <a:t>Overall correct predictions</a:t>
            </a:r>
            <a:endParaRPr lang="en-US" sz="900" dirty="0"/>
          </a:p>
        </p:txBody>
      </p:sp>
      <p:sp>
        <p:nvSpPr>
          <p:cNvPr id="51" name="Text 49"/>
          <p:cNvSpPr/>
          <p:nvPr/>
        </p:nvSpPr>
        <p:spPr>
          <a:xfrm>
            <a:off x="2148840" y="3675888"/>
            <a:ext cx="1554480" cy="292608"/>
          </a:xfrm>
          <a:prstGeom prst="rect">
            <a:avLst/>
          </a:prstGeom>
          <a:noFill/>
        </p:spPr>
        <p:txBody>
          <a:bodyPr wrap="square" lIns="0" tIns="0" rIns="0" bIns="0"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Precision</a:t>
            </a:r>
            <a:endParaRPr lang="en-US" sz="1100" dirty="0"/>
          </a:p>
        </p:txBody>
      </p:sp>
      <p:sp>
        <p:nvSpPr>
          <p:cNvPr id="52" name="Text 50"/>
          <p:cNvSpPr/>
          <p:nvPr/>
        </p:nvSpPr>
        <p:spPr>
          <a:xfrm>
            <a:off x="2148840" y="3977640"/>
            <a:ext cx="1554480" cy="822960"/>
          </a:xfrm>
          <a:prstGeom prst="rect">
            <a:avLst/>
          </a:prstGeom>
          <a:noFill/>
        </p:spPr>
        <p:txBody>
          <a:bodyPr wrap="square" lIns="0" tIns="0" rIns="0" bIns="0" rtlCol="0" anchor="ctr"/>
          <a:lstStyle/>
          <a:p>
            <a:pPr marL="0" indent="0" algn="ctr">
              <a:buNone/>
            </a:pPr>
            <a:r>
              <a:rPr lang="en-US" sz="900" dirty="0">
                <a:solidFill>
                  <a:srgbClr val="AECFD4"/>
                </a:solidFill>
                <a:latin typeface="Calibri" pitchFamily="34" charset="0"/>
                <a:ea typeface="Calibri" pitchFamily="34" charset="-122"/>
                <a:cs typeface="Calibri" pitchFamily="34" charset="-120"/>
              </a:rPr>
              <a:t>Of predicted churners,</a:t>
            </a:r>
            <a:endParaRPr lang="en-US" sz="900" dirty="0"/>
          </a:p>
          <a:p>
            <a:pPr marL="0" indent="0" algn="ctr">
              <a:buNone/>
            </a:pPr>
            <a:r>
              <a:rPr lang="en-US" sz="900" dirty="0">
                <a:solidFill>
                  <a:srgbClr val="AECFD4"/>
                </a:solidFill>
                <a:latin typeface="Calibri" pitchFamily="34" charset="0"/>
                <a:ea typeface="Calibri" pitchFamily="34" charset="-122"/>
                <a:cs typeface="Calibri" pitchFamily="34" charset="-120"/>
              </a:rPr>
              <a:t>how many actually churned</a:t>
            </a:r>
            <a:endParaRPr lang="en-US" sz="900" dirty="0"/>
          </a:p>
        </p:txBody>
      </p:sp>
      <p:sp>
        <p:nvSpPr>
          <p:cNvPr id="53" name="Text 51"/>
          <p:cNvSpPr/>
          <p:nvPr/>
        </p:nvSpPr>
        <p:spPr>
          <a:xfrm>
            <a:off x="3840480" y="3675888"/>
            <a:ext cx="1554480" cy="292608"/>
          </a:xfrm>
          <a:prstGeom prst="rect">
            <a:avLst/>
          </a:prstGeom>
          <a:noFill/>
        </p:spPr>
        <p:txBody>
          <a:bodyPr wrap="square" lIns="0" tIns="0" rIns="0" bIns="0"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Recall</a:t>
            </a:r>
            <a:endParaRPr lang="en-US" sz="1100" dirty="0"/>
          </a:p>
        </p:txBody>
      </p:sp>
      <p:sp>
        <p:nvSpPr>
          <p:cNvPr id="54" name="Text 52"/>
          <p:cNvSpPr/>
          <p:nvPr/>
        </p:nvSpPr>
        <p:spPr>
          <a:xfrm>
            <a:off x="3840480" y="3977640"/>
            <a:ext cx="1554480" cy="822960"/>
          </a:xfrm>
          <a:prstGeom prst="rect">
            <a:avLst/>
          </a:prstGeom>
          <a:noFill/>
        </p:spPr>
        <p:txBody>
          <a:bodyPr wrap="square" lIns="0" tIns="0" rIns="0" bIns="0" rtlCol="0" anchor="ctr"/>
          <a:lstStyle/>
          <a:p>
            <a:pPr marL="0" indent="0" algn="ctr">
              <a:buNone/>
            </a:pPr>
            <a:r>
              <a:rPr lang="en-US" sz="900" dirty="0">
                <a:solidFill>
                  <a:srgbClr val="AECFD4"/>
                </a:solidFill>
                <a:latin typeface="Calibri" pitchFamily="34" charset="0"/>
                <a:ea typeface="Calibri" pitchFamily="34" charset="-122"/>
                <a:cs typeface="Calibri" pitchFamily="34" charset="-120"/>
              </a:rPr>
              <a:t>Of actual churners,</a:t>
            </a:r>
            <a:endParaRPr lang="en-US" sz="900" dirty="0"/>
          </a:p>
          <a:p>
            <a:pPr marL="0" indent="0" algn="ctr">
              <a:buNone/>
            </a:pPr>
            <a:r>
              <a:rPr lang="en-US" sz="900" dirty="0">
                <a:solidFill>
                  <a:srgbClr val="AECFD4"/>
                </a:solidFill>
                <a:latin typeface="Calibri" pitchFamily="34" charset="0"/>
                <a:ea typeface="Calibri" pitchFamily="34" charset="-122"/>
                <a:cs typeface="Calibri" pitchFamily="34" charset="-120"/>
              </a:rPr>
              <a:t>how many were caught</a:t>
            </a:r>
            <a:endParaRPr lang="en-US" sz="900" dirty="0"/>
          </a:p>
        </p:txBody>
      </p:sp>
      <p:sp>
        <p:nvSpPr>
          <p:cNvPr id="55" name="Text 53"/>
          <p:cNvSpPr/>
          <p:nvPr/>
        </p:nvSpPr>
        <p:spPr>
          <a:xfrm>
            <a:off x="5532120" y="3675888"/>
            <a:ext cx="1554480" cy="292608"/>
          </a:xfrm>
          <a:prstGeom prst="rect">
            <a:avLst/>
          </a:prstGeom>
          <a:noFill/>
        </p:spPr>
        <p:txBody>
          <a:bodyPr wrap="square" lIns="0" tIns="0" rIns="0" bIns="0"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F1 Score</a:t>
            </a:r>
            <a:endParaRPr lang="en-US" sz="1100" dirty="0"/>
          </a:p>
        </p:txBody>
      </p:sp>
      <p:sp>
        <p:nvSpPr>
          <p:cNvPr id="56" name="Text 54"/>
          <p:cNvSpPr/>
          <p:nvPr/>
        </p:nvSpPr>
        <p:spPr>
          <a:xfrm>
            <a:off x="5532120" y="3977640"/>
            <a:ext cx="1554480" cy="822960"/>
          </a:xfrm>
          <a:prstGeom prst="rect">
            <a:avLst/>
          </a:prstGeom>
          <a:noFill/>
        </p:spPr>
        <p:txBody>
          <a:bodyPr wrap="square" lIns="0" tIns="0" rIns="0" bIns="0" rtlCol="0" anchor="ctr"/>
          <a:lstStyle/>
          <a:p>
            <a:pPr marL="0" indent="0" algn="ctr">
              <a:buNone/>
            </a:pPr>
            <a:r>
              <a:rPr lang="en-US" sz="900" dirty="0">
                <a:solidFill>
                  <a:srgbClr val="AECFD4"/>
                </a:solidFill>
                <a:latin typeface="Calibri" pitchFamily="34" charset="0"/>
                <a:ea typeface="Calibri" pitchFamily="34" charset="-122"/>
                <a:cs typeface="Calibri" pitchFamily="34" charset="-120"/>
              </a:rPr>
              <a:t>Harmonic mean of</a:t>
            </a:r>
            <a:endParaRPr lang="en-US" sz="900" dirty="0"/>
          </a:p>
          <a:p>
            <a:pPr marL="0" indent="0" algn="ctr">
              <a:buNone/>
            </a:pPr>
            <a:r>
              <a:rPr lang="en-US" sz="900" dirty="0">
                <a:solidFill>
                  <a:srgbClr val="AECFD4"/>
                </a:solidFill>
                <a:latin typeface="Calibri" pitchFamily="34" charset="0"/>
                <a:ea typeface="Calibri" pitchFamily="34" charset="-122"/>
                <a:cs typeface="Calibri" pitchFamily="34" charset="-120"/>
              </a:rPr>
              <a:t>Precision &amp; Recall</a:t>
            </a:r>
            <a:endParaRPr lang="en-US" sz="900" dirty="0"/>
          </a:p>
        </p:txBody>
      </p:sp>
      <p:sp>
        <p:nvSpPr>
          <p:cNvPr id="57" name="Text 55"/>
          <p:cNvSpPr/>
          <p:nvPr/>
        </p:nvSpPr>
        <p:spPr>
          <a:xfrm>
            <a:off x="7223760" y="3675888"/>
            <a:ext cx="1554480" cy="292608"/>
          </a:xfrm>
          <a:prstGeom prst="rect">
            <a:avLst/>
          </a:prstGeom>
          <a:noFill/>
        </p:spPr>
        <p:txBody>
          <a:bodyPr wrap="square" lIns="0" tIns="0" rIns="0" bIns="0"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ROC-AUC</a:t>
            </a:r>
            <a:endParaRPr lang="en-US" sz="1100" dirty="0"/>
          </a:p>
        </p:txBody>
      </p:sp>
      <p:sp>
        <p:nvSpPr>
          <p:cNvPr id="58" name="Text 56"/>
          <p:cNvSpPr/>
          <p:nvPr/>
        </p:nvSpPr>
        <p:spPr>
          <a:xfrm>
            <a:off x="7223760" y="3977640"/>
            <a:ext cx="1554480" cy="822960"/>
          </a:xfrm>
          <a:prstGeom prst="rect">
            <a:avLst/>
          </a:prstGeom>
          <a:noFill/>
        </p:spPr>
        <p:txBody>
          <a:bodyPr wrap="square" lIns="0" tIns="0" rIns="0" bIns="0" rtlCol="0" anchor="ctr"/>
          <a:lstStyle/>
          <a:p>
            <a:pPr marL="0" indent="0" algn="ctr">
              <a:buNone/>
            </a:pPr>
            <a:r>
              <a:rPr lang="en-US" sz="900" dirty="0">
                <a:solidFill>
                  <a:srgbClr val="AECFD4"/>
                </a:solidFill>
                <a:latin typeface="Calibri" pitchFamily="34" charset="0"/>
                <a:ea typeface="Calibri" pitchFamily="34" charset="-122"/>
                <a:cs typeface="Calibri" pitchFamily="34" charset="-120"/>
              </a:rPr>
              <a:t>Ranking quality across</a:t>
            </a:r>
            <a:endParaRPr lang="en-US" sz="900" dirty="0"/>
          </a:p>
          <a:p>
            <a:pPr marL="0" indent="0" algn="ctr">
              <a:buNone/>
            </a:pPr>
            <a:r>
              <a:rPr lang="en-US" sz="900" dirty="0">
                <a:solidFill>
                  <a:srgbClr val="AECFD4"/>
                </a:solidFill>
                <a:latin typeface="Calibri" pitchFamily="34" charset="0"/>
                <a:ea typeface="Calibri" pitchFamily="34" charset="-122"/>
                <a:cs typeface="Calibri" pitchFamily="34" charset="-120"/>
              </a:rPr>
              <a:t>all thresholds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891B2"/>
          </a:solidFill>
          <a:ln>
            <a:noFill/>
          </a:ln>
        </p:spPr>
        <p:txBody>
          <a:bodyPr/>
          <a:lstStyle/>
          <a:p>
            <a:endParaRPr lang="en-US"/>
          </a:p>
        </p:txBody>
      </p:sp>
      <p:sp>
        <p:nvSpPr>
          <p:cNvPr id="3" name="Text 1"/>
          <p:cNvSpPr/>
          <p:nvPr/>
        </p:nvSpPr>
        <p:spPr>
          <a:xfrm>
            <a:off x="457200" y="1097280"/>
            <a:ext cx="8229600" cy="1005840"/>
          </a:xfrm>
          <a:prstGeom prst="rect">
            <a:avLst/>
          </a:prstGeom>
          <a:noFill/>
        </p:spPr>
        <p:txBody>
          <a:bodyPr wrap="square" lIns="0" tIns="0" rIns="0" bIns="0" rtlCol="0" anchor="ctr"/>
          <a:lstStyle/>
          <a:p>
            <a:pPr marL="0" indent="0" algn="ctr">
              <a:buNone/>
            </a:pPr>
            <a:r>
              <a:rPr lang="en-US" sz="5400" b="1" dirty="0">
                <a:solidFill>
                  <a:srgbClr val="1E2761"/>
                </a:solidFill>
                <a:latin typeface="Calibri" pitchFamily="34" charset="0"/>
                <a:ea typeface="Calibri" pitchFamily="34" charset="-122"/>
                <a:cs typeface="Calibri" pitchFamily="34" charset="-120"/>
              </a:rPr>
              <a:t>Neural Network</a:t>
            </a:r>
            <a:endParaRPr lang="en-US" sz="5400" dirty="0"/>
          </a:p>
        </p:txBody>
      </p:sp>
      <p:sp>
        <p:nvSpPr>
          <p:cNvPr id="4" name="Text 2"/>
          <p:cNvSpPr/>
          <p:nvPr/>
        </p:nvSpPr>
        <p:spPr>
          <a:xfrm>
            <a:off x="457200" y="2103120"/>
            <a:ext cx="8229600" cy="640080"/>
          </a:xfrm>
          <a:prstGeom prst="rect">
            <a:avLst/>
          </a:prstGeom>
          <a:noFill/>
        </p:spPr>
        <p:txBody>
          <a:bodyPr wrap="square" lIns="0" tIns="0" rIns="0" bIns="0" rtlCol="0" anchor="ctr"/>
          <a:lstStyle/>
          <a:p>
            <a:pPr marL="0" indent="0" algn="ctr">
              <a:buNone/>
            </a:pPr>
            <a:r>
              <a:rPr lang="en-US" sz="2600" dirty="0">
                <a:solidFill>
                  <a:srgbClr val="FFFFFF"/>
                </a:solidFill>
                <a:latin typeface="Calibri" pitchFamily="34" charset="0"/>
                <a:ea typeface="Calibri" pitchFamily="34" charset="-122"/>
                <a:cs typeface="Calibri" pitchFamily="34" charset="-120"/>
              </a:rPr>
              <a:t>Customer Churn Prediction</a:t>
            </a:r>
            <a:endParaRPr lang="en-US" sz="2600" dirty="0"/>
          </a:p>
        </p:txBody>
      </p:sp>
      <p:sp>
        <p:nvSpPr>
          <p:cNvPr id="5" name="Shape 3"/>
          <p:cNvSpPr/>
          <p:nvPr/>
        </p:nvSpPr>
        <p:spPr>
          <a:xfrm>
            <a:off x="3200400" y="2834640"/>
            <a:ext cx="2743200" cy="36576"/>
          </a:xfrm>
          <a:prstGeom prst="rect">
            <a:avLst/>
          </a:prstGeom>
          <a:solidFill>
            <a:srgbClr val="0891B2"/>
          </a:solidFill>
          <a:ln w="12700">
            <a:solidFill>
              <a:srgbClr val="0891B2"/>
            </a:solidFill>
            <a:prstDash val="solid"/>
          </a:ln>
        </p:spPr>
        <p:txBody>
          <a:bodyPr/>
          <a:lstStyle/>
          <a:p>
            <a:endParaRPr lang="en-US"/>
          </a:p>
        </p:txBody>
      </p:sp>
      <p:sp>
        <p:nvSpPr>
          <p:cNvPr id="6" name="Text 4"/>
          <p:cNvSpPr/>
          <p:nvPr/>
        </p:nvSpPr>
        <p:spPr>
          <a:xfrm>
            <a:off x="457200" y="3017520"/>
            <a:ext cx="8229600" cy="457200"/>
          </a:xfrm>
          <a:prstGeom prst="rect">
            <a:avLst/>
          </a:prstGeom>
          <a:noFill/>
        </p:spPr>
        <p:txBody>
          <a:bodyPr wrap="square" lIns="0" tIns="0" rIns="0" bIns="0" rtlCol="0" anchor="ctr"/>
          <a:lstStyle/>
          <a:p>
            <a:pPr marL="0" indent="0" algn="ctr">
              <a:buNone/>
            </a:pPr>
            <a:endParaRPr lang="en-US" sz="1400" dirty="0"/>
          </a:p>
        </p:txBody>
      </p:sp>
      <p:sp>
        <p:nvSpPr>
          <p:cNvPr id="7" name="Text 5"/>
          <p:cNvSpPr/>
          <p:nvPr/>
        </p:nvSpPr>
        <p:spPr>
          <a:xfrm>
            <a:off x="457200" y="4206240"/>
            <a:ext cx="8229600" cy="365760"/>
          </a:xfrm>
          <a:prstGeom prst="rect">
            <a:avLst/>
          </a:prstGeom>
          <a:solidFill>
            <a:srgbClr val="1E2761"/>
          </a:solidFill>
          <a:ln>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Architecture: 3-Layer MLP   |   Regularisation: Dropout + BatchNorm   |   Optimiser: Adam</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229600" cy="640080"/>
          </a:xfrm>
          <a:prstGeom prst="rect">
            <a:avLst/>
          </a:prstGeom>
          <a:solidFill>
            <a:srgbClr val="1E2761"/>
          </a:solidFill>
          <a:ln>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How Does a Neural Network Work?</a:t>
            </a:r>
            <a:endParaRPr lang="en-US" sz="2600" dirty="0"/>
          </a:p>
        </p:txBody>
      </p:sp>
      <p:sp>
        <p:nvSpPr>
          <p:cNvPr id="4" name="Shape 2"/>
          <p:cNvSpPr/>
          <p:nvPr/>
        </p:nvSpPr>
        <p:spPr>
          <a:xfrm>
            <a:off x="274320" y="1005840"/>
            <a:ext cx="2743200" cy="35661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1005840"/>
            <a:ext cx="2743200" cy="73152"/>
          </a:xfrm>
          <a:prstGeom prst="rect">
            <a:avLst/>
          </a:prstGeom>
          <a:solidFill>
            <a:srgbClr val="0891B2"/>
          </a:solidFill>
          <a:ln w="12700">
            <a:solidFill>
              <a:srgbClr val="0891B2"/>
            </a:solidFill>
            <a:prstDash val="solid"/>
          </a:ln>
        </p:spPr>
        <p:txBody>
          <a:bodyPr/>
          <a:lstStyle/>
          <a:p>
            <a:endParaRPr lang="en-US"/>
          </a:p>
        </p:txBody>
      </p:sp>
      <p:sp>
        <p:nvSpPr>
          <p:cNvPr id="6" name="Text 4"/>
          <p:cNvSpPr/>
          <p:nvPr/>
        </p:nvSpPr>
        <p:spPr>
          <a:xfrm>
            <a:off x="411480" y="1170432"/>
            <a:ext cx="2468880" cy="457200"/>
          </a:xfrm>
          <a:prstGeom prst="rect">
            <a:avLst/>
          </a:prstGeom>
          <a:noFill/>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1. Input Layer</a:t>
            </a:r>
            <a:endParaRPr lang="en-US" sz="1500" dirty="0"/>
          </a:p>
        </p:txBody>
      </p:sp>
      <p:sp>
        <p:nvSpPr>
          <p:cNvPr id="7" name="Text 5"/>
          <p:cNvSpPr/>
          <p:nvPr/>
        </p:nvSpPr>
        <p:spPr>
          <a:xfrm>
            <a:off x="411480" y="1737360"/>
            <a:ext cx="2468880" cy="2651760"/>
          </a:xfrm>
          <a:prstGeom prst="rect">
            <a:avLst/>
          </a:prstGeom>
          <a:noFill/>
        </p:spPr>
        <p:txBody>
          <a:bodyPr wrap="square" lIns="0" tIns="0" rIns="0" bIns="0" rtlCol="0" anchor="t"/>
          <a:lstStyle/>
          <a:p>
            <a:pPr marL="0" indent="0">
              <a:buNone/>
            </a:pPr>
            <a:r>
              <a:rPr lang="en-US" sz="1200" dirty="0">
                <a:solidFill>
                  <a:srgbClr val="1E2761"/>
                </a:solidFill>
                <a:latin typeface="Calibri" pitchFamily="34" charset="0"/>
                <a:ea typeface="Calibri" pitchFamily="34" charset="-122"/>
                <a:cs typeface="Calibri" pitchFamily="34" charset="-120"/>
              </a:rPr>
              <a:t>Receives all engineered features (total minutes, charges, service calls, plan flags). Each node represents one feature passed into the network.</a:t>
            </a:r>
            <a:endParaRPr lang="en-US" sz="1200" dirty="0"/>
          </a:p>
        </p:txBody>
      </p:sp>
      <p:sp>
        <p:nvSpPr>
          <p:cNvPr id="8" name="Shape 6"/>
          <p:cNvSpPr/>
          <p:nvPr/>
        </p:nvSpPr>
        <p:spPr>
          <a:xfrm>
            <a:off x="3200400" y="1005840"/>
            <a:ext cx="2743200" cy="35661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3200400" y="1005840"/>
            <a:ext cx="2743200" cy="73152"/>
          </a:xfrm>
          <a:prstGeom prst="rect">
            <a:avLst/>
          </a:prstGeom>
          <a:solidFill>
            <a:srgbClr val="0891B2"/>
          </a:solidFill>
          <a:ln w="12700">
            <a:solidFill>
              <a:srgbClr val="0891B2"/>
            </a:solidFill>
            <a:prstDash val="solid"/>
          </a:ln>
        </p:spPr>
        <p:txBody>
          <a:bodyPr/>
          <a:lstStyle/>
          <a:p>
            <a:endParaRPr lang="en-US"/>
          </a:p>
        </p:txBody>
      </p:sp>
      <p:sp>
        <p:nvSpPr>
          <p:cNvPr id="10" name="Text 8"/>
          <p:cNvSpPr/>
          <p:nvPr/>
        </p:nvSpPr>
        <p:spPr>
          <a:xfrm>
            <a:off x="3337560" y="1170432"/>
            <a:ext cx="2468880" cy="457200"/>
          </a:xfrm>
          <a:prstGeom prst="rect">
            <a:avLst/>
          </a:prstGeom>
          <a:noFill/>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2. Hidden Layers</a:t>
            </a:r>
            <a:endParaRPr lang="en-US" sz="1500" dirty="0"/>
          </a:p>
        </p:txBody>
      </p:sp>
      <p:sp>
        <p:nvSpPr>
          <p:cNvPr id="11" name="Text 9"/>
          <p:cNvSpPr/>
          <p:nvPr/>
        </p:nvSpPr>
        <p:spPr>
          <a:xfrm>
            <a:off x="3337560" y="1737360"/>
            <a:ext cx="2468880" cy="2651760"/>
          </a:xfrm>
          <a:prstGeom prst="rect">
            <a:avLst/>
          </a:prstGeom>
          <a:noFill/>
        </p:spPr>
        <p:txBody>
          <a:bodyPr wrap="square" lIns="0" tIns="0" rIns="0" bIns="0" rtlCol="0" anchor="t"/>
          <a:lstStyle/>
          <a:p>
            <a:pPr marL="0" indent="0">
              <a:buNone/>
            </a:pPr>
            <a:r>
              <a:rPr lang="en-US" sz="1200" dirty="0">
                <a:solidFill>
                  <a:srgbClr val="1E2761"/>
                </a:solidFill>
                <a:latin typeface="Calibri" pitchFamily="34" charset="0"/>
                <a:ea typeface="Calibri" pitchFamily="34" charset="-122"/>
                <a:cs typeface="Calibri" pitchFamily="34" charset="-120"/>
              </a:rPr>
              <a:t>Three dense layers (64 to 32 to 16 neurons) learn complex non-linear patterns. BatchNorm stabilises learning; Dropout prevents overfitting.</a:t>
            </a:r>
            <a:endParaRPr lang="en-US" sz="1200" dirty="0"/>
          </a:p>
        </p:txBody>
      </p:sp>
      <p:sp>
        <p:nvSpPr>
          <p:cNvPr id="12" name="Shape 10"/>
          <p:cNvSpPr/>
          <p:nvPr/>
        </p:nvSpPr>
        <p:spPr>
          <a:xfrm>
            <a:off x="6126480" y="1005840"/>
            <a:ext cx="2743200" cy="35661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6126480" y="1005840"/>
            <a:ext cx="2743200" cy="73152"/>
          </a:xfrm>
          <a:prstGeom prst="rect">
            <a:avLst/>
          </a:prstGeom>
          <a:solidFill>
            <a:srgbClr val="0891B2"/>
          </a:solidFill>
          <a:ln w="12700">
            <a:solidFill>
              <a:srgbClr val="0891B2"/>
            </a:solidFill>
            <a:prstDash val="solid"/>
          </a:ln>
        </p:spPr>
        <p:txBody>
          <a:bodyPr/>
          <a:lstStyle/>
          <a:p>
            <a:endParaRPr lang="en-US"/>
          </a:p>
        </p:txBody>
      </p:sp>
      <p:sp>
        <p:nvSpPr>
          <p:cNvPr id="14" name="Text 12"/>
          <p:cNvSpPr/>
          <p:nvPr/>
        </p:nvSpPr>
        <p:spPr>
          <a:xfrm>
            <a:off x="6263640" y="1170432"/>
            <a:ext cx="2468880" cy="457200"/>
          </a:xfrm>
          <a:prstGeom prst="rect">
            <a:avLst/>
          </a:prstGeom>
          <a:noFill/>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3. Output Layer</a:t>
            </a:r>
            <a:endParaRPr lang="en-US" sz="1500" dirty="0"/>
          </a:p>
        </p:txBody>
      </p:sp>
      <p:sp>
        <p:nvSpPr>
          <p:cNvPr id="15" name="Text 13"/>
          <p:cNvSpPr/>
          <p:nvPr/>
        </p:nvSpPr>
        <p:spPr>
          <a:xfrm>
            <a:off x="6263640" y="1737360"/>
            <a:ext cx="2468880" cy="2651760"/>
          </a:xfrm>
          <a:prstGeom prst="rect">
            <a:avLst/>
          </a:prstGeom>
          <a:noFill/>
        </p:spPr>
        <p:txBody>
          <a:bodyPr wrap="square" lIns="0" tIns="0" rIns="0" bIns="0" rtlCol="0" anchor="t"/>
          <a:lstStyle/>
          <a:p>
            <a:pPr marL="0" indent="0">
              <a:buNone/>
            </a:pPr>
            <a:r>
              <a:rPr lang="en-US" sz="1200" dirty="0">
                <a:solidFill>
                  <a:srgbClr val="1E2761"/>
                </a:solidFill>
                <a:latin typeface="Calibri" pitchFamily="34" charset="0"/>
                <a:ea typeface="Calibri" pitchFamily="34" charset="-122"/>
                <a:cs typeface="Calibri" pitchFamily="34" charset="-120"/>
              </a:rPr>
              <a:t>A single sigmoid neuron outputs a churn probability (0 to 1). A threshold of 0.5 converts this to a binary Yes/No churn prediction.</a:t>
            </a:r>
            <a:endParaRPr lang="en-US" sz="1200" dirty="0"/>
          </a:p>
        </p:txBody>
      </p:sp>
      <p:sp>
        <p:nvSpPr>
          <p:cNvPr id="16" name="Text 14"/>
          <p:cNvSpPr/>
          <p:nvPr/>
        </p:nvSpPr>
        <p:spPr>
          <a:xfrm>
            <a:off x="457200" y="4663440"/>
            <a:ext cx="8229600" cy="320040"/>
          </a:xfrm>
          <a:prstGeom prst="rect">
            <a:avLst/>
          </a:prstGeom>
          <a:solidFill>
            <a:srgbClr val="1E2761"/>
          </a:solidFill>
          <a:ln>
            <a:noFill/>
          </a:ln>
        </p:spPr>
        <p:txBody>
          <a:bodyPr wrap="square" lIns="0" tIns="0" rIns="0" bIns="0"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Input Features  -&gt;  Dense(64)  -&gt;  Dense(32)  -&gt;  Dense(16)  -&gt;  Sigmoid Output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229600" cy="64008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Why These Parameters?</a:t>
            </a:r>
            <a:endParaRPr lang="en-US" sz="2800" dirty="0"/>
          </a:p>
        </p:txBody>
      </p:sp>
      <p:sp>
        <p:nvSpPr>
          <p:cNvPr id="4" name="Shape 2"/>
          <p:cNvSpPr/>
          <p:nvPr/>
        </p:nvSpPr>
        <p:spPr>
          <a:xfrm>
            <a:off x="274320" y="960120"/>
            <a:ext cx="8595360" cy="8412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960120"/>
            <a:ext cx="64008" cy="841248"/>
          </a:xfrm>
          <a:prstGeom prst="rect">
            <a:avLst/>
          </a:prstGeom>
          <a:solidFill>
            <a:srgbClr val="0891B2"/>
          </a:solidFill>
          <a:ln w="12700">
            <a:solidFill>
              <a:srgbClr val="0891B2"/>
            </a:solidFill>
            <a:prstDash val="solid"/>
          </a:ln>
        </p:spPr>
        <p:txBody>
          <a:bodyPr/>
          <a:lstStyle/>
          <a:p>
            <a:endParaRPr lang="en-US"/>
          </a:p>
        </p:txBody>
      </p:sp>
      <p:sp>
        <p:nvSpPr>
          <p:cNvPr id="6" name="Text 4"/>
          <p:cNvSpPr/>
          <p:nvPr/>
        </p:nvSpPr>
        <p:spPr>
          <a:xfrm>
            <a:off x="502920" y="1033272"/>
            <a:ext cx="4114800" cy="320040"/>
          </a:xfrm>
          <a:prstGeom prst="rect">
            <a:avLst/>
          </a:prstGeom>
          <a:noFill/>
        </p:spPr>
        <p:txBody>
          <a:bodyPr wrap="square" lIns="0" tIns="0" rIns="0" bIns="0" rtlCol="0" anchor="ctr"/>
          <a:lstStyle/>
          <a:p>
            <a:pPr marL="0" indent="0">
              <a:buNone/>
            </a:pPr>
            <a:r>
              <a:rPr lang="en-US" sz="1250" b="1" dirty="0">
                <a:solidFill>
                  <a:srgbClr val="1E2761"/>
                </a:solidFill>
                <a:latin typeface="Consolas" pitchFamily="34" charset="0"/>
                <a:ea typeface="Consolas" pitchFamily="34" charset="-122"/>
                <a:cs typeface="Consolas" pitchFamily="34" charset="-120"/>
              </a:rPr>
              <a:t>Layers: 64 -&gt; 32 -&gt; 16 neurons</a:t>
            </a:r>
            <a:endParaRPr lang="en-US" sz="1250" dirty="0"/>
          </a:p>
        </p:txBody>
      </p:sp>
      <p:sp>
        <p:nvSpPr>
          <p:cNvPr id="7" name="Text 5"/>
          <p:cNvSpPr/>
          <p:nvPr/>
        </p:nvSpPr>
        <p:spPr>
          <a:xfrm>
            <a:off x="502920" y="1399032"/>
            <a:ext cx="8138160" cy="347472"/>
          </a:xfrm>
          <a:prstGeom prst="rect">
            <a:avLst/>
          </a:prstGeom>
          <a:noFill/>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Funnel architecture progressively compresses features, forcing the network to learn increasingly abstract representations of churn behaviour.</a:t>
            </a:r>
            <a:endParaRPr lang="en-US" sz="1150" dirty="0"/>
          </a:p>
        </p:txBody>
      </p:sp>
      <p:sp>
        <p:nvSpPr>
          <p:cNvPr id="8" name="Shape 6"/>
          <p:cNvSpPr/>
          <p:nvPr/>
        </p:nvSpPr>
        <p:spPr>
          <a:xfrm>
            <a:off x="274320" y="1965960"/>
            <a:ext cx="8595360" cy="8412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274320" y="1965960"/>
            <a:ext cx="64008" cy="841248"/>
          </a:xfrm>
          <a:prstGeom prst="rect">
            <a:avLst/>
          </a:prstGeom>
          <a:solidFill>
            <a:srgbClr val="0891B2"/>
          </a:solidFill>
          <a:ln w="12700">
            <a:solidFill>
              <a:srgbClr val="0891B2"/>
            </a:solidFill>
            <a:prstDash val="solid"/>
          </a:ln>
        </p:spPr>
        <p:txBody>
          <a:bodyPr/>
          <a:lstStyle/>
          <a:p>
            <a:endParaRPr lang="en-US"/>
          </a:p>
        </p:txBody>
      </p:sp>
      <p:sp>
        <p:nvSpPr>
          <p:cNvPr id="10" name="Text 8"/>
          <p:cNvSpPr/>
          <p:nvPr/>
        </p:nvSpPr>
        <p:spPr>
          <a:xfrm>
            <a:off x="502920" y="2039112"/>
            <a:ext cx="4114800" cy="320040"/>
          </a:xfrm>
          <a:prstGeom prst="rect">
            <a:avLst/>
          </a:prstGeom>
          <a:noFill/>
        </p:spPr>
        <p:txBody>
          <a:bodyPr wrap="square" lIns="0" tIns="0" rIns="0" bIns="0" rtlCol="0" anchor="ctr"/>
          <a:lstStyle/>
          <a:p>
            <a:pPr marL="0" indent="0">
              <a:buNone/>
            </a:pPr>
            <a:r>
              <a:rPr lang="en-US" sz="1250" b="1" dirty="0">
                <a:solidFill>
                  <a:srgbClr val="1E2761"/>
                </a:solidFill>
                <a:latin typeface="Consolas" pitchFamily="34" charset="0"/>
                <a:ea typeface="Consolas" pitchFamily="34" charset="-122"/>
                <a:cs typeface="Consolas" pitchFamily="34" charset="-120"/>
              </a:rPr>
              <a:t>Dropout(0.3)</a:t>
            </a:r>
            <a:endParaRPr lang="en-US" sz="1250" dirty="0"/>
          </a:p>
        </p:txBody>
      </p:sp>
      <p:sp>
        <p:nvSpPr>
          <p:cNvPr id="11" name="Text 9"/>
          <p:cNvSpPr/>
          <p:nvPr/>
        </p:nvSpPr>
        <p:spPr>
          <a:xfrm>
            <a:off x="502920" y="2404872"/>
            <a:ext cx="8138160" cy="347472"/>
          </a:xfrm>
          <a:prstGeom prst="rect">
            <a:avLst/>
          </a:prstGeom>
          <a:noFill/>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Randomly drops 30% of neurons during training. This prevents the model from memorising training data and ensures it generalises to unseen customers.</a:t>
            </a:r>
            <a:endParaRPr lang="en-US" sz="1150" dirty="0"/>
          </a:p>
        </p:txBody>
      </p:sp>
      <p:sp>
        <p:nvSpPr>
          <p:cNvPr id="12" name="Shape 10"/>
          <p:cNvSpPr/>
          <p:nvPr/>
        </p:nvSpPr>
        <p:spPr>
          <a:xfrm>
            <a:off x="274320" y="2971800"/>
            <a:ext cx="8595360" cy="8412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74320" y="2971800"/>
            <a:ext cx="64008" cy="841248"/>
          </a:xfrm>
          <a:prstGeom prst="rect">
            <a:avLst/>
          </a:prstGeom>
          <a:solidFill>
            <a:srgbClr val="0891B2"/>
          </a:solidFill>
          <a:ln w="12700">
            <a:solidFill>
              <a:srgbClr val="0891B2"/>
            </a:solidFill>
            <a:prstDash val="solid"/>
          </a:ln>
        </p:spPr>
        <p:txBody>
          <a:bodyPr/>
          <a:lstStyle/>
          <a:p>
            <a:endParaRPr lang="en-US"/>
          </a:p>
        </p:txBody>
      </p:sp>
      <p:sp>
        <p:nvSpPr>
          <p:cNvPr id="14" name="Text 12"/>
          <p:cNvSpPr/>
          <p:nvPr/>
        </p:nvSpPr>
        <p:spPr>
          <a:xfrm>
            <a:off x="502920" y="3044952"/>
            <a:ext cx="4114800" cy="320040"/>
          </a:xfrm>
          <a:prstGeom prst="rect">
            <a:avLst/>
          </a:prstGeom>
          <a:noFill/>
        </p:spPr>
        <p:txBody>
          <a:bodyPr wrap="square" lIns="0" tIns="0" rIns="0" bIns="0" rtlCol="0" anchor="ctr"/>
          <a:lstStyle/>
          <a:p>
            <a:pPr marL="0" indent="0">
              <a:buNone/>
            </a:pPr>
            <a:r>
              <a:rPr lang="en-US" sz="1250" b="1" dirty="0">
                <a:solidFill>
                  <a:srgbClr val="1E2761"/>
                </a:solidFill>
                <a:latin typeface="Consolas" pitchFamily="34" charset="0"/>
                <a:ea typeface="Consolas" pitchFamily="34" charset="-122"/>
                <a:cs typeface="Consolas" pitchFamily="34" charset="-120"/>
              </a:rPr>
              <a:t>BatchNormalization</a:t>
            </a:r>
            <a:endParaRPr lang="en-US" sz="1250" dirty="0"/>
          </a:p>
        </p:txBody>
      </p:sp>
      <p:sp>
        <p:nvSpPr>
          <p:cNvPr id="15" name="Text 13"/>
          <p:cNvSpPr/>
          <p:nvPr/>
        </p:nvSpPr>
        <p:spPr>
          <a:xfrm>
            <a:off x="502920" y="3410712"/>
            <a:ext cx="8138160" cy="347472"/>
          </a:xfrm>
          <a:prstGeom prst="rect">
            <a:avLst/>
          </a:prstGeom>
          <a:noFill/>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Normalises layer outputs during training, stabilising gradients and allowing faster convergence — especially useful with imbalanced churn data.</a:t>
            </a:r>
            <a:endParaRPr lang="en-US" sz="1150" dirty="0"/>
          </a:p>
        </p:txBody>
      </p:sp>
      <p:sp>
        <p:nvSpPr>
          <p:cNvPr id="16" name="Shape 14"/>
          <p:cNvSpPr/>
          <p:nvPr/>
        </p:nvSpPr>
        <p:spPr>
          <a:xfrm>
            <a:off x="274320" y="3977640"/>
            <a:ext cx="8595360" cy="841248"/>
          </a:xfrm>
          <a:prstGeom prst="rect">
            <a:avLst/>
          </a:prstGeom>
          <a:solidFill>
            <a:srgbClr val="1E2761"/>
          </a:solidFill>
          <a:ln>
            <a:noFill/>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274320" y="3977640"/>
            <a:ext cx="64008" cy="841248"/>
          </a:xfrm>
          <a:prstGeom prst="rect">
            <a:avLst/>
          </a:prstGeom>
          <a:solidFill>
            <a:srgbClr val="0891B2"/>
          </a:solidFill>
          <a:ln w="12700">
            <a:solidFill>
              <a:srgbClr val="0891B2"/>
            </a:solidFill>
            <a:prstDash val="solid"/>
          </a:ln>
        </p:spPr>
        <p:txBody>
          <a:bodyPr/>
          <a:lstStyle/>
          <a:p>
            <a:endParaRPr lang="en-US"/>
          </a:p>
        </p:txBody>
      </p:sp>
      <p:sp>
        <p:nvSpPr>
          <p:cNvPr id="18" name="Text 16"/>
          <p:cNvSpPr/>
          <p:nvPr/>
        </p:nvSpPr>
        <p:spPr>
          <a:xfrm>
            <a:off x="502920" y="4050792"/>
            <a:ext cx="4114800" cy="320040"/>
          </a:xfrm>
          <a:prstGeom prst="rect">
            <a:avLst/>
          </a:prstGeom>
          <a:noFill/>
        </p:spPr>
        <p:txBody>
          <a:bodyPr wrap="square" lIns="0" tIns="0" rIns="0" bIns="0" rtlCol="0" anchor="ctr"/>
          <a:lstStyle/>
          <a:p>
            <a:pPr marL="0" indent="0">
              <a:buNone/>
            </a:pPr>
            <a:r>
              <a:rPr lang="en-US" sz="1250" b="1" dirty="0">
                <a:solidFill>
                  <a:srgbClr val="1E2761"/>
                </a:solidFill>
                <a:latin typeface="Consolas" pitchFamily="34" charset="0"/>
                <a:ea typeface="Consolas" pitchFamily="34" charset="-122"/>
                <a:cs typeface="Consolas" pitchFamily="34" charset="-120"/>
              </a:rPr>
              <a:t>Adam(lr=0.001)  |  EarlyStopping(patience=10)</a:t>
            </a:r>
            <a:endParaRPr lang="en-US" sz="1250" dirty="0"/>
          </a:p>
        </p:txBody>
      </p:sp>
      <p:sp>
        <p:nvSpPr>
          <p:cNvPr id="19" name="Text 17"/>
          <p:cNvSpPr/>
          <p:nvPr/>
        </p:nvSpPr>
        <p:spPr>
          <a:xfrm>
            <a:off x="502920" y="4416552"/>
            <a:ext cx="8138160" cy="347472"/>
          </a:xfrm>
          <a:prstGeom prst="rect">
            <a:avLst/>
          </a:prstGeom>
          <a:solidFill>
            <a:srgbClr val="1E2761"/>
          </a:solidFill>
          <a:ln>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Adam adapts learning rates per parameter. Early stopping halts training when validation loss stops improving, preventing overfitting automatically.</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412480" cy="640080"/>
          </a:xfrm>
          <a:prstGeom prst="rect">
            <a:avLst/>
          </a:prstGeom>
          <a:solidFill>
            <a:srgbClr val="1E2761"/>
          </a:solidFill>
          <a:ln>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Model Architecture — keras.Sequential</a:t>
            </a:r>
            <a:endParaRPr lang="en-US" sz="2600" dirty="0"/>
          </a:p>
        </p:txBody>
      </p:sp>
      <p:sp>
        <p:nvSpPr>
          <p:cNvPr id="4" name="Shape 2"/>
          <p:cNvSpPr/>
          <p:nvPr/>
        </p:nvSpPr>
        <p:spPr>
          <a:xfrm>
            <a:off x="274320" y="960120"/>
            <a:ext cx="4754880" cy="3977640"/>
          </a:xfrm>
          <a:prstGeom prst="rect">
            <a:avLst/>
          </a:prstGeom>
          <a:solidFill>
            <a:srgbClr val="0F1E33"/>
          </a:solidFill>
          <a:ln w="12700">
            <a:solidFill>
              <a:srgbClr val="2D4A6B"/>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960120"/>
            <a:ext cx="54864" cy="3977640"/>
          </a:xfrm>
          <a:prstGeom prst="rect">
            <a:avLst/>
          </a:prstGeom>
          <a:solidFill>
            <a:srgbClr val="0891B2"/>
          </a:solidFill>
          <a:ln>
            <a:noFill/>
          </a:ln>
        </p:spPr>
        <p:txBody>
          <a:bodyPr/>
          <a:lstStyle/>
          <a:p>
            <a:endParaRPr lang="en-US"/>
          </a:p>
        </p:txBody>
      </p:sp>
      <p:sp>
        <p:nvSpPr>
          <p:cNvPr id="6" name="Text 4"/>
          <p:cNvSpPr/>
          <p:nvPr/>
        </p:nvSpPr>
        <p:spPr>
          <a:xfrm>
            <a:off x="438912" y="1069848"/>
            <a:ext cx="4498848" cy="3758184"/>
          </a:xfrm>
          <a:prstGeom prst="rect">
            <a:avLst/>
          </a:prstGeom>
          <a:noFill/>
        </p:spPr>
        <p:txBody>
          <a:bodyPr wrap="square" lIns="0" tIns="0" rIns="0" bIns="0" rtlCol="0" anchor="t"/>
          <a:lstStyle/>
          <a:p>
            <a:pPr marL="0" indent="0">
              <a:buNone/>
            </a:pPr>
            <a:r>
              <a:rPr lang="en-US" sz="1150" b="1" dirty="0">
                <a:solidFill>
                  <a:srgbClr val="1E2761"/>
                </a:solidFill>
                <a:latin typeface="Consolas" pitchFamily="34" charset="0"/>
                <a:ea typeface="Consolas" pitchFamily="34" charset="-122"/>
                <a:cs typeface="Consolas" pitchFamily="34" charset="-120"/>
              </a:rPr>
              <a:t>input_dim</a:t>
            </a:r>
            <a:r>
              <a:rPr lang="en-US" sz="1150" dirty="0">
                <a:solidFill>
                  <a:srgbClr val="E2E8F0"/>
                </a:solidFill>
                <a:latin typeface="Consolas" pitchFamily="34" charset="0"/>
                <a:ea typeface="Consolas" pitchFamily="34" charset="-122"/>
                <a:cs typeface="Consolas" pitchFamily="34" charset="-120"/>
              </a:rPr>
              <a:t xml:space="preserve"> = X_train_nn.shape[1]
</a:t>
            </a:r>
            <a:r>
              <a:rPr lang="en-US" sz="1150" b="1" dirty="0">
                <a:solidFill>
                  <a:srgbClr val="1E2761"/>
                </a:solidFill>
                <a:latin typeface="Consolas" pitchFamily="34" charset="0"/>
                <a:ea typeface="Consolas" pitchFamily="34" charset="-122"/>
                <a:cs typeface="Consolas" pitchFamily="34" charset="-120"/>
              </a:rPr>
              <a:t>model</a:t>
            </a:r>
            <a:r>
              <a:rPr lang="en-US" sz="1150" dirty="0">
                <a:solidFill>
                  <a:srgbClr val="E2E8F0"/>
                </a:solidFill>
                <a:latin typeface="Consolas" pitchFamily="34" charset="0"/>
                <a:ea typeface="Consolas" pitchFamily="34" charset="-122"/>
                <a:cs typeface="Consolas" pitchFamily="34" charset="-120"/>
              </a:rPr>
              <a:t xml:space="preserve"> = keras.Sequential([
</a:t>
            </a:r>
            <a:r>
              <a:rPr lang="en-US" sz="1150" dirty="0">
                <a:solidFill>
                  <a:srgbClr val="86EFAC"/>
                </a:solidFill>
                <a:latin typeface="Consolas" pitchFamily="34" charset="0"/>
                <a:ea typeface="Consolas" pitchFamily="34" charset="-122"/>
                <a:cs typeface="Consolas" pitchFamily="34" charset="-120"/>
              </a:rPr>
              <a:t xml:space="preserve">  layers.Input(shape=(input_dim,)),
</a:t>
            </a:r>
            <a:r>
              <a:rPr lang="en-US" sz="1150" dirty="0">
                <a:solidFill>
                  <a:srgbClr val="E2E8F0"/>
                </a:solidFill>
                <a:latin typeface="Consolas" pitchFamily="34" charset="0"/>
                <a:ea typeface="Consolas" pitchFamily="34" charset="-122"/>
                <a:cs typeface="Consolas" pitchFamily="34" charset="-120"/>
              </a:rPr>
              <a:t xml:space="preserve">  layers.Dense(</a:t>
            </a:r>
            <a:r>
              <a:rPr lang="en-US" sz="1150" dirty="0">
                <a:solidFill>
                  <a:srgbClr val="FCD34D"/>
                </a:solidFill>
                <a:latin typeface="Consolas" pitchFamily="34" charset="0"/>
                <a:ea typeface="Consolas" pitchFamily="34" charset="-122"/>
                <a:cs typeface="Consolas" pitchFamily="34" charset="-120"/>
              </a:rPr>
              <a:t>64</a:t>
            </a:r>
            <a:r>
              <a:rPr lang="en-US" sz="1150" dirty="0">
                <a:solidFill>
                  <a:srgbClr val="E2E8F0"/>
                </a:solidFill>
                <a:latin typeface="Consolas" pitchFamily="34" charset="0"/>
                <a:ea typeface="Consolas" pitchFamily="34" charset="-122"/>
                <a:cs typeface="Consolas" pitchFamily="34" charset="-120"/>
              </a:rPr>
              <a:t>, activation=</a:t>
            </a:r>
            <a:r>
              <a:rPr lang="en-US" sz="1150" dirty="0">
                <a:solidFill>
                  <a:srgbClr val="FCA5A5"/>
                </a:solidFill>
                <a:latin typeface="Consolas" pitchFamily="34" charset="0"/>
                <a:ea typeface="Consolas" pitchFamily="34" charset="-122"/>
                <a:cs typeface="Consolas" pitchFamily="34" charset="-120"/>
              </a:rPr>
              <a:t>'relu'</a:t>
            </a:r>
            <a:r>
              <a:rPr lang="en-US" sz="1150" dirty="0">
                <a:solidFill>
                  <a:srgbClr val="E2E8F0"/>
                </a:solidFill>
                <a:latin typeface="Consolas" pitchFamily="34" charset="0"/>
                <a:ea typeface="Consolas" pitchFamily="34" charset="-122"/>
                <a:cs typeface="Consolas" pitchFamily="34" charset="-120"/>
              </a:rPr>
              <a:t>),
</a:t>
            </a:r>
            <a:r>
              <a:rPr lang="en-US" sz="1150" dirty="0">
                <a:solidFill>
                  <a:srgbClr val="C4B5FD"/>
                </a:solidFill>
                <a:latin typeface="Consolas" pitchFamily="34" charset="0"/>
                <a:ea typeface="Consolas" pitchFamily="34" charset="-122"/>
                <a:cs typeface="Consolas" pitchFamily="34" charset="-120"/>
              </a:rPr>
              <a:t xml:space="preserve">  layers.BatchNormalization(),
</a:t>
            </a:r>
            <a:r>
              <a:rPr lang="en-US" sz="1150" dirty="0">
                <a:solidFill>
                  <a:srgbClr val="E2E8F0"/>
                </a:solidFill>
                <a:latin typeface="Consolas" pitchFamily="34" charset="0"/>
                <a:ea typeface="Consolas" pitchFamily="34" charset="-122"/>
                <a:cs typeface="Consolas" pitchFamily="34" charset="-120"/>
              </a:rPr>
              <a:t xml:space="preserve">  layers.Dropout(</a:t>
            </a:r>
            <a:r>
              <a:rPr lang="en-US" sz="1150" dirty="0">
                <a:solidFill>
                  <a:srgbClr val="FCD34D"/>
                </a:solidFill>
                <a:latin typeface="Consolas" pitchFamily="34" charset="0"/>
                <a:ea typeface="Consolas" pitchFamily="34" charset="-122"/>
                <a:cs typeface="Consolas" pitchFamily="34" charset="-120"/>
              </a:rPr>
              <a:t>0.3</a:t>
            </a:r>
            <a:r>
              <a:rPr lang="en-US" sz="1150" dirty="0">
                <a:solidFill>
                  <a:srgbClr val="E2E8F0"/>
                </a:solidFill>
                <a:latin typeface="Consolas" pitchFamily="34" charset="0"/>
                <a:ea typeface="Consolas" pitchFamily="34" charset="-122"/>
                <a:cs typeface="Consolas" pitchFamily="34" charset="-120"/>
              </a:rPr>
              <a:t>),
  layers.Dense(</a:t>
            </a:r>
            <a:r>
              <a:rPr lang="en-US" sz="1150" dirty="0">
                <a:solidFill>
                  <a:srgbClr val="FCD34D"/>
                </a:solidFill>
                <a:latin typeface="Consolas" pitchFamily="34" charset="0"/>
                <a:ea typeface="Consolas" pitchFamily="34" charset="-122"/>
                <a:cs typeface="Consolas" pitchFamily="34" charset="-120"/>
              </a:rPr>
              <a:t>32</a:t>
            </a:r>
            <a:r>
              <a:rPr lang="en-US" sz="1150" dirty="0">
                <a:solidFill>
                  <a:srgbClr val="E2E8F0"/>
                </a:solidFill>
                <a:latin typeface="Consolas" pitchFamily="34" charset="0"/>
                <a:ea typeface="Consolas" pitchFamily="34" charset="-122"/>
                <a:cs typeface="Consolas" pitchFamily="34" charset="-120"/>
              </a:rPr>
              <a:t>, activation=</a:t>
            </a:r>
            <a:r>
              <a:rPr lang="en-US" sz="1150" dirty="0">
                <a:solidFill>
                  <a:srgbClr val="FCA5A5"/>
                </a:solidFill>
                <a:latin typeface="Consolas" pitchFamily="34" charset="0"/>
                <a:ea typeface="Consolas" pitchFamily="34" charset="-122"/>
                <a:cs typeface="Consolas" pitchFamily="34" charset="-120"/>
              </a:rPr>
              <a:t>'relu'</a:t>
            </a:r>
            <a:r>
              <a:rPr lang="en-US" sz="1150" dirty="0">
                <a:solidFill>
                  <a:srgbClr val="E2E8F0"/>
                </a:solidFill>
                <a:latin typeface="Consolas" pitchFamily="34" charset="0"/>
                <a:ea typeface="Consolas" pitchFamily="34" charset="-122"/>
                <a:cs typeface="Consolas" pitchFamily="34" charset="-120"/>
              </a:rPr>
              <a:t>),
</a:t>
            </a:r>
            <a:r>
              <a:rPr lang="en-US" sz="1150" dirty="0">
                <a:solidFill>
                  <a:srgbClr val="C4B5FD"/>
                </a:solidFill>
                <a:latin typeface="Consolas" pitchFamily="34" charset="0"/>
                <a:ea typeface="Consolas" pitchFamily="34" charset="-122"/>
                <a:cs typeface="Consolas" pitchFamily="34" charset="-120"/>
              </a:rPr>
              <a:t xml:space="preserve">  layers.BatchNormalization(),
</a:t>
            </a:r>
            <a:r>
              <a:rPr lang="en-US" sz="1150" dirty="0">
                <a:solidFill>
                  <a:srgbClr val="E2E8F0"/>
                </a:solidFill>
                <a:latin typeface="Consolas" pitchFamily="34" charset="0"/>
                <a:ea typeface="Consolas" pitchFamily="34" charset="-122"/>
                <a:cs typeface="Consolas" pitchFamily="34" charset="-120"/>
              </a:rPr>
              <a:t xml:space="preserve">  layers.Dropout(</a:t>
            </a:r>
            <a:r>
              <a:rPr lang="en-US" sz="1150" dirty="0">
                <a:solidFill>
                  <a:srgbClr val="FCD34D"/>
                </a:solidFill>
                <a:latin typeface="Consolas" pitchFamily="34" charset="0"/>
                <a:ea typeface="Consolas" pitchFamily="34" charset="-122"/>
                <a:cs typeface="Consolas" pitchFamily="34" charset="-120"/>
              </a:rPr>
              <a:t>0.3</a:t>
            </a:r>
            <a:r>
              <a:rPr lang="en-US" sz="1150" dirty="0">
                <a:solidFill>
                  <a:srgbClr val="E2E8F0"/>
                </a:solidFill>
                <a:latin typeface="Consolas" pitchFamily="34" charset="0"/>
                <a:ea typeface="Consolas" pitchFamily="34" charset="-122"/>
                <a:cs typeface="Consolas" pitchFamily="34" charset="-120"/>
              </a:rPr>
              <a:t>),
  layers.Dense(</a:t>
            </a:r>
            <a:r>
              <a:rPr lang="en-US" sz="1150" dirty="0">
                <a:solidFill>
                  <a:srgbClr val="FCD34D"/>
                </a:solidFill>
                <a:latin typeface="Consolas" pitchFamily="34" charset="0"/>
                <a:ea typeface="Consolas" pitchFamily="34" charset="-122"/>
                <a:cs typeface="Consolas" pitchFamily="34" charset="-120"/>
              </a:rPr>
              <a:t>16</a:t>
            </a:r>
            <a:r>
              <a:rPr lang="en-US" sz="1150" dirty="0">
                <a:solidFill>
                  <a:srgbClr val="E2E8F0"/>
                </a:solidFill>
                <a:latin typeface="Consolas" pitchFamily="34" charset="0"/>
                <a:ea typeface="Consolas" pitchFamily="34" charset="-122"/>
                <a:cs typeface="Consolas" pitchFamily="34" charset="-120"/>
              </a:rPr>
              <a:t>, activation=</a:t>
            </a:r>
            <a:r>
              <a:rPr lang="en-US" sz="1150" dirty="0">
                <a:solidFill>
                  <a:srgbClr val="FCA5A5"/>
                </a:solidFill>
                <a:latin typeface="Consolas" pitchFamily="34" charset="0"/>
                <a:ea typeface="Consolas" pitchFamily="34" charset="-122"/>
                <a:cs typeface="Consolas" pitchFamily="34" charset="-120"/>
              </a:rPr>
              <a:t>'relu'</a:t>
            </a:r>
            <a:r>
              <a:rPr lang="en-US" sz="1150" dirty="0">
                <a:solidFill>
                  <a:srgbClr val="E2E8F0"/>
                </a:solidFill>
                <a:latin typeface="Consolas" pitchFamily="34" charset="0"/>
                <a:ea typeface="Consolas" pitchFamily="34" charset="-122"/>
                <a:cs typeface="Consolas" pitchFamily="34" charset="-120"/>
              </a:rPr>
              <a:t>),
  layers.Dense(</a:t>
            </a:r>
            <a:r>
              <a:rPr lang="en-US" sz="1150" dirty="0">
                <a:solidFill>
                  <a:srgbClr val="FCD34D"/>
                </a:solidFill>
                <a:latin typeface="Consolas" pitchFamily="34" charset="0"/>
                <a:ea typeface="Consolas" pitchFamily="34" charset="-122"/>
                <a:cs typeface="Consolas" pitchFamily="34" charset="-120"/>
              </a:rPr>
              <a:t>1</a:t>
            </a:r>
            <a:r>
              <a:rPr lang="en-US" sz="1150" dirty="0">
                <a:solidFill>
                  <a:srgbClr val="E2E8F0"/>
                </a:solidFill>
                <a:latin typeface="Consolas" pitchFamily="34" charset="0"/>
                <a:ea typeface="Consolas" pitchFamily="34" charset="-122"/>
                <a:cs typeface="Consolas" pitchFamily="34" charset="-120"/>
              </a:rPr>
              <a:t>, activation=</a:t>
            </a:r>
            <a:r>
              <a:rPr lang="en-US" sz="1150" dirty="0">
                <a:solidFill>
                  <a:srgbClr val="FCA5A5"/>
                </a:solidFill>
                <a:latin typeface="Consolas" pitchFamily="34" charset="0"/>
                <a:ea typeface="Consolas" pitchFamily="34" charset="-122"/>
                <a:cs typeface="Consolas" pitchFamily="34" charset="-120"/>
              </a:rPr>
              <a:t>'sigmoid'</a:t>
            </a:r>
            <a:r>
              <a:rPr lang="en-US" sz="1150" dirty="0">
                <a:solidFill>
                  <a:srgbClr val="E2E8F0"/>
                </a:solidFill>
                <a:latin typeface="Consolas" pitchFamily="34" charset="0"/>
                <a:ea typeface="Consolas" pitchFamily="34" charset="-122"/>
                <a:cs typeface="Consolas" pitchFamily="34" charset="-120"/>
              </a:rPr>
              <a:t>)</a:t>
            </a:r>
            <a:endParaRPr lang="en-US" sz="1150" dirty="0"/>
          </a:p>
        </p:txBody>
      </p:sp>
      <p:sp>
        <p:nvSpPr>
          <p:cNvPr id="7" name="Shape 5"/>
          <p:cNvSpPr/>
          <p:nvPr/>
        </p:nvSpPr>
        <p:spPr>
          <a:xfrm>
            <a:off x="5303520" y="960120"/>
            <a:ext cx="3566160" cy="10058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5303520" y="960120"/>
            <a:ext cx="3566160" cy="64008"/>
          </a:xfrm>
          <a:prstGeom prst="rect">
            <a:avLst/>
          </a:prstGeom>
          <a:solidFill>
            <a:srgbClr val="0891B2"/>
          </a:solidFill>
          <a:ln w="12700">
            <a:solidFill>
              <a:srgbClr val="0891B2"/>
            </a:solidFill>
            <a:prstDash val="solid"/>
          </a:ln>
        </p:spPr>
        <p:txBody>
          <a:bodyPr/>
          <a:lstStyle/>
          <a:p>
            <a:endParaRPr lang="en-US"/>
          </a:p>
        </p:txBody>
      </p:sp>
      <p:sp>
        <p:nvSpPr>
          <p:cNvPr id="9" name="Text 7"/>
          <p:cNvSpPr/>
          <p:nvPr/>
        </p:nvSpPr>
        <p:spPr>
          <a:xfrm>
            <a:off x="5440680" y="1097280"/>
            <a:ext cx="3291840" cy="347472"/>
          </a:xfrm>
          <a:prstGeom prst="rect">
            <a:avLst/>
          </a:prstGeom>
          <a:noFill/>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Funnel Architecture: 64 → 32 → 16</a:t>
            </a:r>
            <a:endParaRPr lang="en-US" sz="1250" dirty="0"/>
          </a:p>
        </p:txBody>
      </p:sp>
      <p:sp>
        <p:nvSpPr>
          <p:cNvPr id="10" name="Text 8"/>
          <p:cNvSpPr/>
          <p:nvPr/>
        </p:nvSpPr>
        <p:spPr>
          <a:xfrm>
            <a:off x="5440680" y="1490472"/>
            <a:ext cx="3291840" cy="347472"/>
          </a:xfrm>
          <a:prstGeom prst="rect">
            <a:avLst/>
          </a:prstGeom>
          <a:noFill/>
        </p:spPr>
        <p:txBody>
          <a:bodyPr wrap="square" lIns="0" tIns="0" rIns="0" bIns="0" rtlCol="0" anchor="t"/>
          <a:lstStyle/>
          <a:p>
            <a:pPr marL="0" indent="0">
              <a:buNone/>
            </a:pPr>
            <a:r>
              <a:rPr lang="en-US" sz="1100" dirty="0">
                <a:solidFill>
                  <a:srgbClr val="1E2761"/>
                </a:solidFill>
                <a:latin typeface="Calibri" pitchFamily="34" charset="0"/>
                <a:ea typeface="Calibri" pitchFamily="34" charset="-122"/>
                <a:cs typeface="Calibri" pitchFamily="34" charset="-120"/>
              </a:rPr>
              <a:t>Progressively compresses features so the network learns abstract churn patterns at each level.</a:t>
            </a:r>
            <a:endParaRPr lang="en-US" sz="1100" dirty="0"/>
          </a:p>
        </p:txBody>
      </p:sp>
      <p:sp>
        <p:nvSpPr>
          <p:cNvPr id="11" name="Shape 9"/>
          <p:cNvSpPr/>
          <p:nvPr/>
        </p:nvSpPr>
        <p:spPr>
          <a:xfrm>
            <a:off x="5303520" y="2057400"/>
            <a:ext cx="3566160" cy="10058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5303520" y="2057400"/>
            <a:ext cx="3566160" cy="64008"/>
          </a:xfrm>
          <a:prstGeom prst="rect">
            <a:avLst/>
          </a:prstGeom>
          <a:solidFill>
            <a:srgbClr val="0891B2"/>
          </a:solidFill>
          <a:ln w="12700">
            <a:solidFill>
              <a:srgbClr val="0891B2"/>
            </a:solidFill>
            <a:prstDash val="solid"/>
          </a:ln>
        </p:spPr>
        <p:txBody>
          <a:bodyPr/>
          <a:lstStyle/>
          <a:p>
            <a:endParaRPr lang="en-US"/>
          </a:p>
        </p:txBody>
      </p:sp>
      <p:sp>
        <p:nvSpPr>
          <p:cNvPr id="13" name="Text 11"/>
          <p:cNvSpPr/>
          <p:nvPr/>
        </p:nvSpPr>
        <p:spPr>
          <a:xfrm>
            <a:off x="5440680" y="2194560"/>
            <a:ext cx="3291840" cy="347472"/>
          </a:xfrm>
          <a:prstGeom prst="rect">
            <a:avLst/>
          </a:prstGeom>
          <a:noFill/>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BatchNorm + Dropout(0.3)</a:t>
            </a:r>
            <a:endParaRPr lang="en-US" sz="1250" dirty="0"/>
          </a:p>
        </p:txBody>
      </p:sp>
      <p:sp>
        <p:nvSpPr>
          <p:cNvPr id="14" name="Text 12"/>
          <p:cNvSpPr/>
          <p:nvPr/>
        </p:nvSpPr>
        <p:spPr>
          <a:xfrm>
            <a:off x="5440680" y="2587752"/>
            <a:ext cx="3291840" cy="347472"/>
          </a:xfrm>
          <a:prstGeom prst="rect">
            <a:avLst/>
          </a:prstGeom>
          <a:noFill/>
        </p:spPr>
        <p:txBody>
          <a:bodyPr wrap="square" lIns="0" tIns="0" rIns="0" bIns="0" rtlCol="0" anchor="t"/>
          <a:lstStyle/>
          <a:p>
            <a:pPr marL="0" indent="0">
              <a:buNone/>
            </a:pPr>
            <a:r>
              <a:rPr lang="en-US" sz="1100" dirty="0">
                <a:solidFill>
                  <a:srgbClr val="1E2761"/>
                </a:solidFill>
                <a:latin typeface="Calibri" pitchFamily="34" charset="0"/>
                <a:ea typeface="Calibri" pitchFamily="34" charset="-122"/>
                <a:cs typeface="Calibri" pitchFamily="34" charset="-120"/>
              </a:rPr>
              <a:t>BatchNorm stabilises training; Dropout randomly disables 30% of neurons to prevent overfitting.</a:t>
            </a:r>
            <a:endParaRPr lang="en-US" sz="1100" dirty="0"/>
          </a:p>
        </p:txBody>
      </p:sp>
      <p:sp>
        <p:nvSpPr>
          <p:cNvPr id="15" name="Shape 13"/>
          <p:cNvSpPr/>
          <p:nvPr/>
        </p:nvSpPr>
        <p:spPr>
          <a:xfrm>
            <a:off x="5303520" y="3154680"/>
            <a:ext cx="3566160" cy="914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5303520" y="3154680"/>
            <a:ext cx="3566160" cy="64008"/>
          </a:xfrm>
          <a:prstGeom prst="rect">
            <a:avLst/>
          </a:prstGeom>
          <a:solidFill>
            <a:srgbClr val="0891B2"/>
          </a:solidFill>
          <a:ln w="12700">
            <a:solidFill>
              <a:srgbClr val="0891B2"/>
            </a:solidFill>
            <a:prstDash val="solid"/>
          </a:ln>
        </p:spPr>
        <p:txBody>
          <a:bodyPr/>
          <a:lstStyle/>
          <a:p>
            <a:endParaRPr lang="en-US"/>
          </a:p>
        </p:txBody>
      </p:sp>
      <p:sp>
        <p:nvSpPr>
          <p:cNvPr id="17" name="Text 15"/>
          <p:cNvSpPr/>
          <p:nvPr/>
        </p:nvSpPr>
        <p:spPr>
          <a:xfrm>
            <a:off x="5440680" y="3291840"/>
            <a:ext cx="3291840" cy="347472"/>
          </a:xfrm>
          <a:prstGeom prst="rect">
            <a:avLst/>
          </a:prstGeom>
          <a:noFill/>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Sigmoid Output</a:t>
            </a:r>
            <a:endParaRPr lang="en-US" sz="1250" dirty="0"/>
          </a:p>
        </p:txBody>
      </p:sp>
      <p:sp>
        <p:nvSpPr>
          <p:cNvPr id="18" name="Text 16"/>
          <p:cNvSpPr/>
          <p:nvPr/>
        </p:nvSpPr>
        <p:spPr>
          <a:xfrm>
            <a:off x="5440680" y="3685032"/>
            <a:ext cx="3291840" cy="256032"/>
          </a:xfrm>
          <a:prstGeom prst="rect">
            <a:avLst/>
          </a:prstGeom>
          <a:noFill/>
        </p:spPr>
        <p:txBody>
          <a:bodyPr wrap="square" lIns="0" tIns="0" rIns="0" bIns="0" rtlCol="0" anchor="t"/>
          <a:lstStyle/>
          <a:p>
            <a:pPr marL="0" indent="0">
              <a:buNone/>
            </a:pPr>
            <a:r>
              <a:rPr lang="en-US" sz="1100" dirty="0">
                <a:solidFill>
                  <a:srgbClr val="1E2761"/>
                </a:solidFill>
                <a:latin typeface="Calibri" pitchFamily="34" charset="0"/>
                <a:ea typeface="Calibri" pitchFamily="34" charset="-122"/>
                <a:cs typeface="Calibri" pitchFamily="34" charset="-120"/>
              </a:rPr>
              <a:t>Outputs a probability (0–1). Values above 0.5 are flagged as churn.</a:t>
            </a:r>
            <a:endParaRPr lang="en-US" sz="1100" dirty="0"/>
          </a:p>
        </p:txBody>
      </p:sp>
      <p:sp>
        <p:nvSpPr>
          <p:cNvPr id="19" name="Shape 17"/>
          <p:cNvSpPr/>
          <p:nvPr/>
        </p:nvSpPr>
        <p:spPr>
          <a:xfrm>
            <a:off x="5303520" y="4160520"/>
            <a:ext cx="3566160" cy="8915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5303520" y="4160520"/>
            <a:ext cx="3566160" cy="64008"/>
          </a:xfrm>
          <a:prstGeom prst="rect">
            <a:avLst/>
          </a:prstGeom>
          <a:solidFill>
            <a:srgbClr val="0891B2"/>
          </a:solidFill>
          <a:ln w="12700">
            <a:solidFill>
              <a:srgbClr val="0891B2"/>
            </a:solidFill>
            <a:prstDash val="solid"/>
          </a:ln>
        </p:spPr>
        <p:txBody>
          <a:bodyPr/>
          <a:lstStyle/>
          <a:p>
            <a:endParaRPr lang="en-US"/>
          </a:p>
        </p:txBody>
      </p:sp>
      <p:sp>
        <p:nvSpPr>
          <p:cNvPr id="21" name="Text 19"/>
          <p:cNvSpPr/>
          <p:nvPr/>
        </p:nvSpPr>
        <p:spPr>
          <a:xfrm>
            <a:off x="5440680" y="4297680"/>
            <a:ext cx="3291840" cy="347472"/>
          </a:xfrm>
          <a:prstGeom prst="rect">
            <a:avLst/>
          </a:prstGeom>
          <a:noFill/>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model.summary()</a:t>
            </a:r>
            <a:endParaRPr lang="en-US" sz="1250" dirty="0"/>
          </a:p>
        </p:txBody>
      </p:sp>
      <p:sp>
        <p:nvSpPr>
          <p:cNvPr id="22" name="Text 20"/>
          <p:cNvSpPr/>
          <p:nvPr/>
        </p:nvSpPr>
        <p:spPr>
          <a:xfrm>
            <a:off x="5440680" y="4690872"/>
            <a:ext cx="3291840" cy="73152"/>
          </a:xfrm>
          <a:prstGeom prst="rect">
            <a:avLst/>
          </a:prstGeom>
          <a:noFill/>
        </p:spPr>
        <p:txBody>
          <a:bodyPr wrap="square" lIns="0" tIns="0" rIns="0" bIns="0" rtlCol="0" anchor="t"/>
          <a:lstStyle/>
          <a:p>
            <a:pPr marL="0" indent="0">
              <a:buNone/>
            </a:pPr>
            <a:r>
              <a:rPr lang="en-US" sz="1100" dirty="0">
                <a:solidFill>
                  <a:srgbClr val="1E2761"/>
                </a:solidFill>
                <a:latin typeface="Calibri" pitchFamily="34" charset="0"/>
                <a:ea typeface="Calibri" pitchFamily="34" charset="-122"/>
                <a:cs typeface="Calibri" pitchFamily="34" charset="-120"/>
              </a:rPr>
              <a:t>Prints layer shapes and parameter counts to verify architecture.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412480" cy="640080"/>
          </a:xfrm>
          <a:prstGeom prst="rect">
            <a:avLst/>
          </a:prstGeom>
          <a:solidFill>
            <a:srgbClr val="1E2761"/>
          </a:solidFill>
          <a:ln>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Compiling the Model</a:t>
            </a:r>
            <a:endParaRPr lang="en-US" sz="2600" dirty="0"/>
          </a:p>
        </p:txBody>
      </p:sp>
      <p:sp>
        <p:nvSpPr>
          <p:cNvPr id="4" name="Shape 2"/>
          <p:cNvSpPr/>
          <p:nvPr/>
        </p:nvSpPr>
        <p:spPr>
          <a:xfrm>
            <a:off x="274320" y="960120"/>
            <a:ext cx="8595360" cy="1828800"/>
          </a:xfrm>
          <a:prstGeom prst="rect">
            <a:avLst/>
          </a:prstGeom>
          <a:solidFill>
            <a:srgbClr val="0F1E33"/>
          </a:solidFill>
          <a:ln w="12700">
            <a:solidFill>
              <a:srgbClr val="2D4A6B"/>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960120"/>
            <a:ext cx="54864" cy="1828800"/>
          </a:xfrm>
          <a:prstGeom prst="rect">
            <a:avLst/>
          </a:prstGeom>
          <a:solidFill>
            <a:srgbClr val="0891B2"/>
          </a:solidFill>
          <a:ln>
            <a:noFill/>
          </a:ln>
        </p:spPr>
        <p:txBody>
          <a:bodyPr/>
          <a:lstStyle/>
          <a:p>
            <a:endParaRPr lang="en-US"/>
          </a:p>
        </p:txBody>
      </p:sp>
      <p:sp>
        <p:nvSpPr>
          <p:cNvPr id="6" name="Text 4"/>
          <p:cNvSpPr/>
          <p:nvPr/>
        </p:nvSpPr>
        <p:spPr>
          <a:xfrm>
            <a:off x="438912" y="1069848"/>
            <a:ext cx="8339328" cy="1609344"/>
          </a:xfrm>
          <a:prstGeom prst="rect">
            <a:avLst/>
          </a:prstGeom>
          <a:noFill/>
        </p:spPr>
        <p:txBody>
          <a:bodyPr wrap="square" lIns="0" tIns="0" rIns="0" bIns="0" rtlCol="0" anchor="t"/>
          <a:lstStyle/>
          <a:p>
            <a:pPr marL="0" indent="0">
              <a:buNone/>
            </a:pPr>
            <a:r>
              <a:rPr lang="en-US" sz="1150" b="1" dirty="0">
                <a:solidFill>
                  <a:srgbClr val="1E2761"/>
                </a:solidFill>
                <a:latin typeface="Consolas" pitchFamily="34" charset="0"/>
                <a:ea typeface="Consolas" pitchFamily="34" charset="-122"/>
                <a:cs typeface="Consolas" pitchFamily="34" charset="-120"/>
              </a:rPr>
              <a:t>model.compile(
</a:t>
            </a:r>
            <a:r>
              <a:rPr lang="en-US" sz="1150" dirty="0">
                <a:solidFill>
                  <a:srgbClr val="E2E8F0"/>
                </a:solidFill>
                <a:latin typeface="Consolas" pitchFamily="34" charset="0"/>
                <a:ea typeface="Consolas" pitchFamily="34" charset="-122"/>
                <a:cs typeface="Consolas" pitchFamily="34" charset="-120"/>
              </a:rPr>
              <a:t xml:space="preserve">  optimizer = keras.optimizers.</a:t>
            </a:r>
            <a:r>
              <a:rPr lang="en-US" sz="1150" dirty="0">
                <a:solidFill>
                  <a:srgbClr val="86EFAC"/>
                </a:solidFill>
                <a:latin typeface="Consolas" pitchFamily="34" charset="0"/>
                <a:ea typeface="Consolas" pitchFamily="34" charset="-122"/>
                <a:cs typeface="Consolas" pitchFamily="34" charset="-120"/>
              </a:rPr>
              <a:t>Adam</a:t>
            </a:r>
            <a:r>
              <a:rPr lang="en-US" sz="1150" dirty="0">
                <a:solidFill>
                  <a:srgbClr val="E2E8F0"/>
                </a:solidFill>
                <a:latin typeface="Consolas" pitchFamily="34" charset="0"/>
                <a:ea typeface="Consolas" pitchFamily="34" charset="-122"/>
                <a:cs typeface="Consolas" pitchFamily="34" charset="-120"/>
              </a:rPr>
              <a:t>(learning_rate=</a:t>
            </a:r>
            <a:r>
              <a:rPr lang="en-US" sz="1150" dirty="0">
                <a:solidFill>
                  <a:srgbClr val="FCD34D"/>
                </a:solidFill>
                <a:latin typeface="Consolas" pitchFamily="34" charset="0"/>
                <a:ea typeface="Consolas" pitchFamily="34" charset="-122"/>
                <a:cs typeface="Consolas" pitchFamily="34" charset="-120"/>
              </a:rPr>
              <a:t>0.001</a:t>
            </a:r>
            <a:r>
              <a:rPr lang="en-US" sz="1150" dirty="0">
                <a:solidFill>
                  <a:srgbClr val="E2E8F0"/>
                </a:solidFill>
                <a:latin typeface="Consolas" pitchFamily="34" charset="0"/>
                <a:ea typeface="Consolas" pitchFamily="34" charset="-122"/>
                <a:cs typeface="Consolas" pitchFamily="34" charset="-120"/>
              </a:rPr>
              <a:t xml:space="preserve">),
  loss             = </a:t>
            </a:r>
            <a:r>
              <a:rPr lang="en-US" sz="1150" dirty="0">
                <a:solidFill>
                  <a:srgbClr val="FCA5A5"/>
                </a:solidFill>
                <a:latin typeface="Consolas" pitchFamily="34" charset="0"/>
                <a:ea typeface="Consolas" pitchFamily="34" charset="-122"/>
                <a:cs typeface="Consolas" pitchFamily="34" charset="-120"/>
              </a:rPr>
              <a:t>'binary_crossentropy'</a:t>
            </a:r>
            <a:r>
              <a:rPr lang="en-US" sz="1150" dirty="0">
                <a:solidFill>
                  <a:srgbClr val="E2E8F0"/>
                </a:solidFill>
                <a:latin typeface="Consolas" pitchFamily="34" charset="0"/>
                <a:ea typeface="Consolas" pitchFamily="34" charset="-122"/>
                <a:cs typeface="Consolas" pitchFamily="34" charset="-120"/>
              </a:rPr>
              <a:t>,
  metrics          = [</a:t>
            </a:r>
            <a:r>
              <a:rPr lang="en-US" sz="1150" dirty="0">
                <a:solidFill>
                  <a:srgbClr val="FCA5A5"/>
                </a:solidFill>
                <a:latin typeface="Consolas" pitchFamily="34" charset="0"/>
                <a:ea typeface="Consolas" pitchFamily="34" charset="-122"/>
                <a:cs typeface="Consolas" pitchFamily="34" charset="-120"/>
              </a:rPr>
              <a:t>'accuracy'</a:t>
            </a:r>
            <a:r>
              <a:rPr lang="en-US" sz="1150" dirty="0">
                <a:solidFill>
                  <a:srgbClr val="E2E8F0"/>
                </a:solidFill>
                <a:latin typeface="Consolas" pitchFamily="34" charset="0"/>
                <a:ea typeface="Consolas" pitchFamily="34" charset="-122"/>
                <a:cs typeface="Consolas" pitchFamily="34" charset="-120"/>
              </a:rPr>
              <a:t>, keras.metrics.</a:t>
            </a:r>
            <a:r>
              <a:rPr lang="en-US" sz="1150" dirty="0">
                <a:solidFill>
                  <a:srgbClr val="86EFAC"/>
                </a:solidFill>
                <a:latin typeface="Consolas" pitchFamily="34" charset="0"/>
                <a:ea typeface="Consolas" pitchFamily="34" charset="-122"/>
                <a:cs typeface="Consolas" pitchFamily="34" charset="-120"/>
              </a:rPr>
              <a:t>AUC</a:t>
            </a:r>
            <a:r>
              <a:rPr lang="en-US" sz="1150" dirty="0">
                <a:solidFill>
                  <a:srgbClr val="E2E8F0"/>
                </a:solidFill>
                <a:latin typeface="Consolas" pitchFamily="34" charset="0"/>
                <a:ea typeface="Consolas" pitchFamily="34" charset="-122"/>
                <a:cs typeface="Consolas" pitchFamily="34" charset="-120"/>
              </a:rPr>
              <a:t>(name=</a:t>
            </a:r>
            <a:r>
              <a:rPr lang="en-US" sz="1150" dirty="0">
                <a:solidFill>
                  <a:srgbClr val="FCA5A5"/>
                </a:solidFill>
                <a:latin typeface="Consolas" pitchFamily="34" charset="0"/>
                <a:ea typeface="Consolas" pitchFamily="34" charset="-122"/>
                <a:cs typeface="Consolas" pitchFamily="34" charset="-120"/>
              </a:rPr>
              <a:t>'auc'</a:t>
            </a:r>
            <a:r>
              <a:rPr lang="en-US" sz="1150" dirty="0">
                <a:solidFill>
                  <a:srgbClr val="E2E8F0"/>
                </a:solidFill>
                <a:latin typeface="Consolas" pitchFamily="34" charset="0"/>
                <a:ea typeface="Consolas" pitchFamily="34" charset="-122"/>
                <a:cs typeface="Consolas" pitchFamily="34" charset="-120"/>
              </a:rPr>
              <a:t>)]</a:t>
            </a:r>
            <a:endParaRPr lang="en-US" sz="1150" dirty="0"/>
          </a:p>
          <a:p>
            <a:pPr marL="0" indent="0">
              <a:buNone/>
            </a:pPr>
            <a:r>
              <a:rPr lang="en-US" sz="1150" dirty="0">
                <a:solidFill>
                  <a:srgbClr val="E2E8F0"/>
                </a:solidFill>
                <a:latin typeface="Consolas" pitchFamily="34" charset="0"/>
                <a:ea typeface="Consolas" pitchFamily="34" charset="-122"/>
                <a:cs typeface="Consolas" pitchFamily="34" charset="-120"/>
              </a:rPr>
              <a:t>)</a:t>
            </a:r>
            <a:endParaRPr lang="en-US" sz="1150" dirty="0"/>
          </a:p>
        </p:txBody>
      </p:sp>
      <p:sp>
        <p:nvSpPr>
          <p:cNvPr id="7" name="Shape 5"/>
          <p:cNvSpPr/>
          <p:nvPr/>
        </p:nvSpPr>
        <p:spPr>
          <a:xfrm>
            <a:off x="274320" y="2926080"/>
            <a:ext cx="2834640" cy="19659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274320" y="2926080"/>
            <a:ext cx="2834640" cy="64008"/>
          </a:xfrm>
          <a:prstGeom prst="rect">
            <a:avLst/>
          </a:prstGeom>
          <a:solidFill>
            <a:srgbClr val="0891B2"/>
          </a:solidFill>
          <a:ln w="12700">
            <a:solidFill>
              <a:srgbClr val="0891B2"/>
            </a:solidFill>
            <a:prstDash val="solid"/>
          </a:ln>
        </p:spPr>
        <p:txBody>
          <a:bodyPr/>
          <a:lstStyle/>
          <a:p>
            <a:endParaRPr lang="en-US"/>
          </a:p>
        </p:txBody>
      </p:sp>
      <p:sp>
        <p:nvSpPr>
          <p:cNvPr id="9" name="Text 7"/>
          <p:cNvSpPr/>
          <p:nvPr/>
        </p:nvSpPr>
        <p:spPr>
          <a:xfrm>
            <a:off x="411480" y="3063240"/>
            <a:ext cx="2560320" cy="347472"/>
          </a:xfrm>
          <a:prstGeom prst="rect">
            <a:avLst/>
          </a:prstGeom>
          <a:noFill/>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Adam(lr=0.001)</a:t>
            </a:r>
            <a:endParaRPr lang="en-US" sz="1250" dirty="0"/>
          </a:p>
        </p:txBody>
      </p:sp>
      <p:sp>
        <p:nvSpPr>
          <p:cNvPr id="10" name="Text 8"/>
          <p:cNvSpPr/>
          <p:nvPr/>
        </p:nvSpPr>
        <p:spPr>
          <a:xfrm>
            <a:off x="411480" y="3456432"/>
            <a:ext cx="2560320" cy="1307592"/>
          </a:xfrm>
          <a:prstGeom prst="rect">
            <a:avLst/>
          </a:prstGeom>
          <a:noFill/>
        </p:spPr>
        <p:txBody>
          <a:bodyPr wrap="square" lIns="0" tIns="0" rIns="0" bIns="0" rtlCol="0" anchor="t"/>
          <a:lstStyle/>
          <a:p>
            <a:pPr marL="0" indent="0">
              <a:buNone/>
            </a:pPr>
            <a:r>
              <a:rPr lang="en-US" sz="1100" dirty="0">
                <a:solidFill>
                  <a:srgbClr val="1E2761"/>
                </a:solidFill>
                <a:latin typeface="Calibri" pitchFamily="34" charset="0"/>
                <a:ea typeface="Calibri" pitchFamily="34" charset="-122"/>
                <a:cs typeface="Calibri" pitchFamily="34" charset="-120"/>
              </a:rPr>
              <a:t>Adaptive optimiser that adjusts learning rates per parameter. 0.001 is the standard starting point — fast convergence without overshooting.</a:t>
            </a:r>
            <a:endParaRPr lang="en-US" sz="1100" dirty="0"/>
          </a:p>
        </p:txBody>
      </p:sp>
      <p:sp>
        <p:nvSpPr>
          <p:cNvPr id="11" name="Shape 9"/>
          <p:cNvSpPr/>
          <p:nvPr/>
        </p:nvSpPr>
        <p:spPr>
          <a:xfrm>
            <a:off x="3246120" y="2926080"/>
            <a:ext cx="2834640" cy="19659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246120" y="2926080"/>
            <a:ext cx="2834640" cy="64008"/>
          </a:xfrm>
          <a:prstGeom prst="rect">
            <a:avLst/>
          </a:prstGeom>
          <a:solidFill>
            <a:srgbClr val="0891B2"/>
          </a:solidFill>
          <a:ln w="12700">
            <a:solidFill>
              <a:srgbClr val="0891B2"/>
            </a:solidFill>
            <a:prstDash val="solid"/>
          </a:ln>
        </p:spPr>
        <p:txBody>
          <a:bodyPr/>
          <a:lstStyle/>
          <a:p>
            <a:endParaRPr lang="en-US"/>
          </a:p>
        </p:txBody>
      </p:sp>
      <p:sp>
        <p:nvSpPr>
          <p:cNvPr id="13" name="Text 11"/>
          <p:cNvSpPr/>
          <p:nvPr/>
        </p:nvSpPr>
        <p:spPr>
          <a:xfrm>
            <a:off x="3383280" y="3063240"/>
            <a:ext cx="2560320" cy="347472"/>
          </a:xfrm>
          <a:prstGeom prst="rect">
            <a:avLst/>
          </a:prstGeom>
          <a:noFill/>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binary_crossentropy</a:t>
            </a:r>
            <a:endParaRPr lang="en-US" sz="1250" dirty="0"/>
          </a:p>
        </p:txBody>
      </p:sp>
      <p:sp>
        <p:nvSpPr>
          <p:cNvPr id="14" name="Text 12"/>
          <p:cNvSpPr/>
          <p:nvPr/>
        </p:nvSpPr>
        <p:spPr>
          <a:xfrm>
            <a:off x="3383280" y="3456432"/>
            <a:ext cx="2560320" cy="1307592"/>
          </a:xfrm>
          <a:prstGeom prst="rect">
            <a:avLst/>
          </a:prstGeom>
          <a:noFill/>
        </p:spPr>
        <p:txBody>
          <a:bodyPr wrap="square" lIns="0" tIns="0" rIns="0" bIns="0" rtlCol="0" anchor="t"/>
          <a:lstStyle/>
          <a:p>
            <a:pPr marL="0" indent="0">
              <a:buNone/>
            </a:pPr>
            <a:r>
              <a:rPr lang="en-US" sz="1100" dirty="0">
                <a:solidFill>
                  <a:srgbClr val="1E2761"/>
                </a:solidFill>
                <a:latin typeface="Calibri" pitchFamily="34" charset="0"/>
                <a:ea typeface="Calibri" pitchFamily="34" charset="-122"/>
                <a:cs typeface="Calibri" pitchFamily="34" charset="-120"/>
              </a:rPr>
              <a:t>The correct loss function for binary classification. Penalises confident wrong predictions heavily — ideal for churn Yes/No output.</a:t>
            </a:r>
            <a:endParaRPr lang="en-US" sz="1100" dirty="0"/>
          </a:p>
        </p:txBody>
      </p:sp>
      <p:sp>
        <p:nvSpPr>
          <p:cNvPr id="15" name="Shape 13"/>
          <p:cNvSpPr/>
          <p:nvPr/>
        </p:nvSpPr>
        <p:spPr>
          <a:xfrm>
            <a:off x="6217920" y="2926080"/>
            <a:ext cx="2651760" cy="19659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6217920" y="2926080"/>
            <a:ext cx="2651760" cy="64008"/>
          </a:xfrm>
          <a:prstGeom prst="rect">
            <a:avLst/>
          </a:prstGeom>
          <a:solidFill>
            <a:srgbClr val="0891B2"/>
          </a:solidFill>
          <a:ln w="12700">
            <a:solidFill>
              <a:srgbClr val="0891B2"/>
            </a:solidFill>
            <a:prstDash val="solid"/>
          </a:ln>
        </p:spPr>
        <p:txBody>
          <a:bodyPr/>
          <a:lstStyle/>
          <a:p>
            <a:endParaRPr lang="en-US"/>
          </a:p>
        </p:txBody>
      </p:sp>
      <p:sp>
        <p:nvSpPr>
          <p:cNvPr id="17" name="Text 15"/>
          <p:cNvSpPr/>
          <p:nvPr/>
        </p:nvSpPr>
        <p:spPr>
          <a:xfrm>
            <a:off x="6355080" y="3063240"/>
            <a:ext cx="2377440" cy="347472"/>
          </a:xfrm>
          <a:prstGeom prst="rect">
            <a:avLst/>
          </a:prstGeom>
          <a:noFill/>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AUC Metric</a:t>
            </a:r>
            <a:endParaRPr lang="en-US" sz="1250" dirty="0"/>
          </a:p>
        </p:txBody>
      </p:sp>
      <p:sp>
        <p:nvSpPr>
          <p:cNvPr id="18" name="Text 16"/>
          <p:cNvSpPr/>
          <p:nvPr/>
        </p:nvSpPr>
        <p:spPr>
          <a:xfrm>
            <a:off x="6355080" y="3456432"/>
            <a:ext cx="2377440" cy="1307592"/>
          </a:xfrm>
          <a:prstGeom prst="rect">
            <a:avLst/>
          </a:prstGeom>
          <a:noFill/>
        </p:spPr>
        <p:txBody>
          <a:bodyPr wrap="square" lIns="0" tIns="0" rIns="0" bIns="0" rtlCol="0" anchor="t"/>
          <a:lstStyle/>
          <a:p>
            <a:pPr marL="0" indent="0">
              <a:buNone/>
            </a:pPr>
            <a:r>
              <a:rPr lang="en-US" sz="1100" dirty="0">
                <a:solidFill>
                  <a:srgbClr val="1E2761"/>
                </a:solidFill>
                <a:latin typeface="Calibri" pitchFamily="34" charset="0"/>
                <a:ea typeface="Calibri" pitchFamily="34" charset="-122"/>
                <a:cs typeface="Calibri" pitchFamily="34" charset="-120"/>
              </a:rPr>
              <a:t>Area Under the ROC Curve. Measures how well the model separates churners from non-churners across all thresholds.</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412480" cy="640080"/>
          </a:xfrm>
          <a:prstGeom prst="rect">
            <a:avLst/>
          </a:prstGeom>
          <a:solidFill>
            <a:srgbClr val="1E2761"/>
          </a:solidFill>
          <a:ln>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Training the Model</a:t>
            </a:r>
            <a:endParaRPr lang="en-US" sz="2600" dirty="0"/>
          </a:p>
        </p:txBody>
      </p:sp>
      <p:sp>
        <p:nvSpPr>
          <p:cNvPr id="4" name="Shape 2"/>
          <p:cNvSpPr/>
          <p:nvPr/>
        </p:nvSpPr>
        <p:spPr>
          <a:xfrm>
            <a:off x="274320" y="960120"/>
            <a:ext cx="4754880" cy="3291840"/>
          </a:xfrm>
          <a:prstGeom prst="rect">
            <a:avLst/>
          </a:prstGeom>
          <a:solidFill>
            <a:srgbClr val="0F1E33"/>
          </a:solidFill>
          <a:ln w="12700">
            <a:solidFill>
              <a:srgbClr val="2D4A6B"/>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960120"/>
            <a:ext cx="54864" cy="3291840"/>
          </a:xfrm>
          <a:prstGeom prst="rect">
            <a:avLst/>
          </a:prstGeom>
          <a:solidFill>
            <a:srgbClr val="0891B2"/>
          </a:solidFill>
          <a:ln>
            <a:noFill/>
          </a:ln>
        </p:spPr>
        <p:txBody>
          <a:bodyPr/>
          <a:lstStyle/>
          <a:p>
            <a:endParaRPr lang="en-US"/>
          </a:p>
        </p:txBody>
      </p:sp>
      <p:sp>
        <p:nvSpPr>
          <p:cNvPr id="6" name="Text 4"/>
          <p:cNvSpPr/>
          <p:nvPr/>
        </p:nvSpPr>
        <p:spPr>
          <a:xfrm>
            <a:off x="438912" y="1069848"/>
            <a:ext cx="4498848" cy="3072384"/>
          </a:xfrm>
          <a:prstGeom prst="rect">
            <a:avLst/>
          </a:prstGeom>
          <a:noFill/>
        </p:spPr>
        <p:txBody>
          <a:bodyPr wrap="square" lIns="0" tIns="0" rIns="0" bIns="0" rtlCol="0" anchor="t"/>
          <a:lstStyle/>
          <a:p>
            <a:pPr marL="0" indent="0">
              <a:buNone/>
            </a:pPr>
            <a:r>
              <a:rPr lang="en-US" sz="1150" b="1" dirty="0">
                <a:solidFill>
                  <a:srgbClr val="1E2761"/>
                </a:solidFill>
                <a:latin typeface="Consolas" pitchFamily="34" charset="0"/>
                <a:ea typeface="Consolas" pitchFamily="34" charset="-122"/>
                <a:cs typeface="Consolas" pitchFamily="34" charset="-120"/>
              </a:rPr>
              <a:t>early_stop</a:t>
            </a:r>
            <a:r>
              <a:rPr lang="en-US" sz="1150" dirty="0">
                <a:solidFill>
                  <a:srgbClr val="E2E8F0"/>
                </a:solidFill>
                <a:latin typeface="Consolas" pitchFamily="34" charset="0"/>
                <a:ea typeface="Consolas" pitchFamily="34" charset="-122"/>
                <a:cs typeface="Consolas" pitchFamily="34" charset="-120"/>
              </a:rPr>
              <a:t xml:space="preserve"> = keras.callbacks.</a:t>
            </a:r>
            <a:r>
              <a:rPr lang="en-US" sz="1150" dirty="0">
                <a:solidFill>
                  <a:srgbClr val="86EFAC"/>
                </a:solidFill>
                <a:latin typeface="Consolas" pitchFamily="34" charset="0"/>
                <a:ea typeface="Consolas" pitchFamily="34" charset="-122"/>
                <a:cs typeface="Consolas" pitchFamily="34" charset="-120"/>
              </a:rPr>
              <a:t>EarlyStopping</a:t>
            </a:r>
            <a:r>
              <a:rPr lang="en-US" sz="1150" dirty="0">
                <a:solidFill>
                  <a:srgbClr val="E2E8F0"/>
                </a:solidFill>
                <a:latin typeface="Consolas" pitchFamily="34" charset="0"/>
                <a:ea typeface="Consolas" pitchFamily="34" charset="-122"/>
                <a:cs typeface="Consolas" pitchFamily="34" charset="-120"/>
              </a:rPr>
              <a:t>(
  monitor=</a:t>
            </a:r>
            <a:r>
              <a:rPr lang="en-US" sz="1150" dirty="0">
                <a:solidFill>
                  <a:srgbClr val="FCA5A5"/>
                </a:solidFill>
                <a:latin typeface="Consolas" pitchFamily="34" charset="0"/>
                <a:ea typeface="Consolas" pitchFamily="34" charset="-122"/>
                <a:cs typeface="Consolas" pitchFamily="34" charset="-120"/>
              </a:rPr>
              <a:t>'val_loss'</a:t>
            </a:r>
            <a:r>
              <a:rPr lang="en-US" sz="1150" dirty="0">
                <a:solidFill>
                  <a:srgbClr val="E2E8F0"/>
                </a:solidFill>
                <a:latin typeface="Consolas" pitchFamily="34" charset="0"/>
                <a:ea typeface="Consolas" pitchFamily="34" charset="-122"/>
                <a:cs typeface="Consolas" pitchFamily="34" charset="-120"/>
              </a:rPr>
              <a:t>,
  patience=</a:t>
            </a:r>
            <a:r>
              <a:rPr lang="en-US" sz="1150" dirty="0">
                <a:solidFill>
                  <a:srgbClr val="FCD34D"/>
                </a:solidFill>
                <a:latin typeface="Consolas" pitchFamily="34" charset="0"/>
                <a:ea typeface="Consolas" pitchFamily="34" charset="-122"/>
                <a:cs typeface="Consolas" pitchFamily="34" charset="-120"/>
              </a:rPr>
              <a:t>10</a:t>
            </a:r>
            <a:r>
              <a:rPr lang="en-US" sz="1150" dirty="0">
                <a:solidFill>
                  <a:srgbClr val="E2E8F0"/>
                </a:solidFill>
                <a:latin typeface="Consolas" pitchFamily="34" charset="0"/>
                <a:ea typeface="Consolas" pitchFamily="34" charset="-122"/>
                <a:cs typeface="Consolas" pitchFamily="34" charset="-120"/>
              </a:rPr>
              <a:t>,
  restore_best_weights=</a:t>
            </a:r>
            <a:r>
              <a:rPr lang="en-US" sz="1150" dirty="0">
                <a:solidFill>
                  <a:srgbClr val="FCD34D"/>
                </a:solidFill>
                <a:latin typeface="Consolas" pitchFamily="34" charset="0"/>
                <a:ea typeface="Consolas" pitchFamily="34" charset="-122"/>
                <a:cs typeface="Consolas" pitchFamily="34" charset="-120"/>
              </a:rPr>
              <a:t>True
</a:t>
            </a:r>
            <a:r>
              <a:rPr lang="en-US" sz="1150" dirty="0">
                <a:solidFill>
                  <a:srgbClr val="E2E8F0"/>
                </a:solidFill>
                <a:latin typeface="Consolas" pitchFamily="34" charset="0"/>
                <a:ea typeface="Consolas" pitchFamily="34" charset="-122"/>
                <a:cs typeface="Consolas" pitchFamily="34" charset="-120"/>
              </a:rPr>
              <a:t>)
</a:t>
            </a:r>
            <a:r>
              <a:rPr lang="en-US" sz="1150" b="1" dirty="0">
                <a:solidFill>
                  <a:srgbClr val="1E2761"/>
                </a:solidFill>
                <a:latin typeface="Consolas" pitchFamily="34" charset="0"/>
                <a:ea typeface="Consolas" pitchFamily="34" charset="-122"/>
                <a:cs typeface="Consolas" pitchFamily="34" charset="-120"/>
              </a:rPr>
              <a:t>history</a:t>
            </a:r>
            <a:r>
              <a:rPr lang="en-US" sz="1150" dirty="0">
                <a:solidFill>
                  <a:srgbClr val="E2E8F0"/>
                </a:solidFill>
                <a:latin typeface="Consolas" pitchFamily="34" charset="0"/>
                <a:ea typeface="Consolas" pitchFamily="34" charset="-122"/>
                <a:cs typeface="Consolas" pitchFamily="34" charset="-120"/>
              </a:rPr>
              <a:t xml:space="preserve"> = model.</a:t>
            </a:r>
            <a:r>
              <a:rPr lang="en-US" sz="1150" dirty="0">
                <a:solidFill>
                  <a:srgbClr val="86EFAC"/>
                </a:solidFill>
                <a:latin typeface="Consolas" pitchFamily="34" charset="0"/>
                <a:ea typeface="Consolas" pitchFamily="34" charset="-122"/>
                <a:cs typeface="Consolas" pitchFamily="34" charset="-120"/>
              </a:rPr>
              <a:t>fit</a:t>
            </a:r>
            <a:r>
              <a:rPr lang="en-US" sz="1150" dirty="0">
                <a:solidFill>
                  <a:srgbClr val="E2E8F0"/>
                </a:solidFill>
                <a:latin typeface="Consolas" pitchFamily="34" charset="0"/>
                <a:ea typeface="Consolas" pitchFamily="34" charset="-122"/>
                <a:cs typeface="Consolas" pitchFamily="34" charset="-120"/>
              </a:rPr>
              <a:t>(
  X_train_nn, y_train_nn,
  epochs=</a:t>
            </a:r>
            <a:r>
              <a:rPr lang="en-US" sz="1150" dirty="0">
                <a:solidFill>
                  <a:srgbClr val="FCD34D"/>
                </a:solidFill>
                <a:latin typeface="Consolas" pitchFamily="34" charset="0"/>
                <a:ea typeface="Consolas" pitchFamily="34" charset="-122"/>
                <a:cs typeface="Consolas" pitchFamily="34" charset="-120"/>
              </a:rPr>
              <a:t>100</a:t>
            </a:r>
            <a:r>
              <a:rPr lang="en-US" sz="1150" dirty="0">
                <a:solidFill>
                  <a:srgbClr val="E2E8F0"/>
                </a:solidFill>
                <a:latin typeface="Consolas" pitchFamily="34" charset="0"/>
                <a:ea typeface="Consolas" pitchFamily="34" charset="-122"/>
                <a:cs typeface="Consolas" pitchFamily="34" charset="-120"/>
              </a:rPr>
              <a:t>,
  batch_size=</a:t>
            </a:r>
            <a:r>
              <a:rPr lang="en-US" sz="1150" dirty="0">
                <a:solidFill>
                  <a:srgbClr val="FCD34D"/>
                </a:solidFill>
                <a:latin typeface="Consolas" pitchFamily="34" charset="0"/>
                <a:ea typeface="Consolas" pitchFamily="34" charset="-122"/>
                <a:cs typeface="Consolas" pitchFamily="34" charset="-120"/>
              </a:rPr>
              <a:t>32</a:t>
            </a:r>
            <a:r>
              <a:rPr lang="en-US" sz="1150" dirty="0">
                <a:solidFill>
                  <a:srgbClr val="E2E8F0"/>
                </a:solidFill>
                <a:latin typeface="Consolas" pitchFamily="34" charset="0"/>
                <a:ea typeface="Consolas" pitchFamily="34" charset="-122"/>
                <a:cs typeface="Consolas" pitchFamily="34" charset="-120"/>
              </a:rPr>
              <a:t>,
  validation_split=</a:t>
            </a:r>
            <a:r>
              <a:rPr lang="en-US" sz="1150" dirty="0">
                <a:solidFill>
                  <a:srgbClr val="FCD34D"/>
                </a:solidFill>
                <a:latin typeface="Consolas" pitchFamily="34" charset="0"/>
                <a:ea typeface="Consolas" pitchFamily="34" charset="-122"/>
                <a:cs typeface="Consolas" pitchFamily="34" charset="-120"/>
              </a:rPr>
              <a:t>0.2</a:t>
            </a:r>
            <a:r>
              <a:rPr lang="en-US" sz="1150" dirty="0">
                <a:solidFill>
                  <a:srgbClr val="E2E8F0"/>
                </a:solidFill>
                <a:latin typeface="Consolas" pitchFamily="34" charset="0"/>
                <a:ea typeface="Consolas" pitchFamily="34" charset="-122"/>
                <a:cs typeface="Consolas" pitchFamily="34" charset="-120"/>
              </a:rPr>
              <a:t>,
</a:t>
            </a:r>
            <a:r>
              <a:rPr lang="en-US" sz="1150" dirty="0">
                <a:solidFill>
                  <a:srgbClr val="C4B5FD"/>
                </a:solidFill>
                <a:latin typeface="Consolas" pitchFamily="34" charset="0"/>
                <a:ea typeface="Consolas" pitchFamily="34" charset="-122"/>
                <a:cs typeface="Consolas" pitchFamily="34" charset="-120"/>
              </a:rPr>
              <a:t xml:space="preserve">  class_weight=class_weight_dict,
</a:t>
            </a:r>
            <a:r>
              <a:rPr lang="en-US" sz="1150" dirty="0">
                <a:solidFill>
                  <a:srgbClr val="E2E8F0"/>
                </a:solidFill>
                <a:latin typeface="Consolas" pitchFamily="34" charset="0"/>
                <a:ea typeface="Consolas" pitchFamily="34" charset="-122"/>
                <a:cs typeface="Consolas" pitchFamily="34" charset="-120"/>
              </a:rPr>
              <a:t xml:space="preserve">  callbacks=[early_stop]</a:t>
            </a:r>
            <a:endParaRPr lang="en-US" sz="1150" dirty="0"/>
          </a:p>
          <a:p>
            <a:pPr marL="0" indent="0">
              <a:buNone/>
            </a:pPr>
            <a:r>
              <a:rPr lang="en-US" sz="1150" dirty="0">
                <a:solidFill>
                  <a:srgbClr val="E2E8F0"/>
                </a:solidFill>
                <a:latin typeface="Consolas" pitchFamily="34" charset="0"/>
                <a:ea typeface="Consolas" pitchFamily="34" charset="-122"/>
                <a:cs typeface="Consolas" pitchFamily="34" charset="-120"/>
              </a:rPr>
              <a:t>)</a:t>
            </a:r>
            <a:endParaRPr lang="en-US" sz="1150" dirty="0"/>
          </a:p>
        </p:txBody>
      </p:sp>
      <p:sp>
        <p:nvSpPr>
          <p:cNvPr id="7" name="Shape 5"/>
          <p:cNvSpPr/>
          <p:nvPr/>
        </p:nvSpPr>
        <p:spPr>
          <a:xfrm>
            <a:off x="5303520" y="960120"/>
            <a:ext cx="3566160" cy="9601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5303520" y="960120"/>
            <a:ext cx="3566160" cy="64008"/>
          </a:xfrm>
          <a:prstGeom prst="rect">
            <a:avLst/>
          </a:prstGeom>
          <a:solidFill>
            <a:srgbClr val="0891B2"/>
          </a:solidFill>
          <a:ln w="12700">
            <a:solidFill>
              <a:srgbClr val="0891B2"/>
            </a:solidFill>
            <a:prstDash val="solid"/>
          </a:ln>
        </p:spPr>
        <p:txBody>
          <a:bodyPr/>
          <a:lstStyle/>
          <a:p>
            <a:endParaRPr lang="en-US"/>
          </a:p>
        </p:txBody>
      </p:sp>
      <p:sp>
        <p:nvSpPr>
          <p:cNvPr id="9" name="Text 7"/>
          <p:cNvSpPr/>
          <p:nvPr/>
        </p:nvSpPr>
        <p:spPr>
          <a:xfrm>
            <a:off x="5440680" y="1097280"/>
            <a:ext cx="3291840" cy="347472"/>
          </a:xfrm>
          <a:prstGeom prst="rect">
            <a:avLst/>
          </a:prstGeom>
          <a:noFill/>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EarlyStopping(patience=10)</a:t>
            </a:r>
            <a:endParaRPr lang="en-US" sz="1250" dirty="0"/>
          </a:p>
        </p:txBody>
      </p:sp>
      <p:sp>
        <p:nvSpPr>
          <p:cNvPr id="10" name="Text 8"/>
          <p:cNvSpPr/>
          <p:nvPr/>
        </p:nvSpPr>
        <p:spPr>
          <a:xfrm>
            <a:off x="5440680" y="1490472"/>
            <a:ext cx="3291840" cy="301752"/>
          </a:xfrm>
          <a:prstGeom prst="rect">
            <a:avLst/>
          </a:prstGeom>
          <a:noFill/>
        </p:spPr>
        <p:txBody>
          <a:bodyPr wrap="square" lIns="0" tIns="0" rIns="0" bIns="0" rtlCol="0" anchor="t"/>
          <a:lstStyle/>
          <a:p>
            <a:pPr marL="0" indent="0">
              <a:buNone/>
            </a:pPr>
            <a:r>
              <a:rPr lang="en-US" sz="1100" dirty="0">
                <a:solidFill>
                  <a:srgbClr val="1E2761"/>
                </a:solidFill>
                <a:latin typeface="Calibri" pitchFamily="34" charset="0"/>
                <a:ea typeface="Calibri" pitchFamily="34" charset="-122"/>
                <a:cs typeface="Calibri" pitchFamily="34" charset="-120"/>
              </a:rPr>
              <a:t>Stops training if val_loss doesn't improve for 10 epochs. Restores the best weights automatically.</a:t>
            </a:r>
            <a:endParaRPr lang="en-US" sz="1100" dirty="0"/>
          </a:p>
        </p:txBody>
      </p:sp>
      <p:sp>
        <p:nvSpPr>
          <p:cNvPr id="11" name="Shape 9"/>
          <p:cNvSpPr/>
          <p:nvPr/>
        </p:nvSpPr>
        <p:spPr>
          <a:xfrm>
            <a:off x="5303520" y="2011680"/>
            <a:ext cx="3566160" cy="9601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5303520" y="2011680"/>
            <a:ext cx="3566160" cy="64008"/>
          </a:xfrm>
          <a:prstGeom prst="rect">
            <a:avLst/>
          </a:prstGeom>
          <a:solidFill>
            <a:srgbClr val="0891B2"/>
          </a:solidFill>
          <a:ln w="12700">
            <a:solidFill>
              <a:srgbClr val="0891B2"/>
            </a:solidFill>
            <a:prstDash val="solid"/>
          </a:ln>
        </p:spPr>
        <p:txBody>
          <a:bodyPr/>
          <a:lstStyle/>
          <a:p>
            <a:endParaRPr lang="en-US"/>
          </a:p>
        </p:txBody>
      </p:sp>
      <p:sp>
        <p:nvSpPr>
          <p:cNvPr id="13" name="Text 11"/>
          <p:cNvSpPr/>
          <p:nvPr/>
        </p:nvSpPr>
        <p:spPr>
          <a:xfrm>
            <a:off x="5440680" y="2148840"/>
            <a:ext cx="3291840" cy="347472"/>
          </a:xfrm>
          <a:prstGeom prst="rect">
            <a:avLst/>
          </a:prstGeom>
          <a:noFill/>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epochs=100, batch_size=32</a:t>
            </a:r>
            <a:endParaRPr lang="en-US" sz="1250" dirty="0"/>
          </a:p>
        </p:txBody>
      </p:sp>
      <p:sp>
        <p:nvSpPr>
          <p:cNvPr id="14" name="Text 12"/>
          <p:cNvSpPr/>
          <p:nvPr/>
        </p:nvSpPr>
        <p:spPr>
          <a:xfrm>
            <a:off x="5440680" y="2542032"/>
            <a:ext cx="3291840" cy="301752"/>
          </a:xfrm>
          <a:prstGeom prst="rect">
            <a:avLst/>
          </a:prstGeom>
          <a:noFill/>
        </p:spPr>
        <p:txBody>
          <a:bodyPr wrap="square" lIns="0" tIns="0" rIns="0" bIns="0" rtlCol="0" anchor="t"/>
          <a:lstStyle/>
          <a:p>
            <a:pPr marL="0" indent="0">
              <a:buNone/>
            </a:pPr>
            <a:r>
              <a:rPr lang="en-US" sz="1100" dirty="0">
                <a:solidFill>
                  <a:srgbClr val="1E2761"/>
                </a:solidFill>
                <a:latin typeface="Calibri" pitchFamily="34" charset="0"/>
                <a:ea typeface="Calibri" pitchFamily="34" charset="-122"/>
                <a:cs typeface="Calibri" pitchFamily="34" charset="-120"/>
              </a:rPr>
              <a:t>Up to 100 passes through the data. Batches of 32 samples are processed at a time for stable gradient updates.</a:t>
            </a:r>
            <a:endParaRPr lang="en-US" sz="1100" dirty="0"/>
          </a:p>
        </p:txBody>
      </p:sp>
      <p:sp>
        <p:nvSpPr>
          <p:cNvPr id="15" name="Shape 13"/>
          <p:cNvSpPr/>
          <p:nvPr/>
        </p:nvSpPr>
        <p:spPr>
          <a:xfrm>
            <a:off x="5303520" y="3063240"/>
            <a:ext cx="3566160" cy="9601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5303520" y="3063240"/>
            <a:ext cx="3566160" cy="64008"/>
          </a:xfrm>
          <a:prstGeom prst="rect">
            <a:avLst/>
          </a:prstGeom>
          <a:solidFill>
            <a:srgbClr val="0891B2"/>
          </a:solidFill>
          <a:ln w="12700">
            <a:solidFill>
              <a:srgbClr val="0891B2"/>
            </a:solidFill>
            <a:prstDash val="solid"/>
          </a:ln>
        </p:spPr>
        <p:txBody>
          <a:bodyPr/>
          <a:lstStyle/>
          <a:p>
            <a:endParaRPr lang="en-US"/>
          </a:p>
        </p:txBody>
      </p:sp>
      <p:sp>
        <p:nvSpPr>
          <p:cNvPr id="17" name="Text 15"/>
          <p:cNvSpPr/>
          <p:nvPr/>
        </p:nvSpPr>
        <p:spPr>
          <a:xfrm>
            <a:off x="5440680" y="3200400"/>
            <a:ext cx="3291840" cy="347472"/>
          </a:xfrm>
          <a:prstGeom prst="rect">
            <a:avLst/>
          </a:prstGeom>
          <a:noFill/>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validation_split=0.2</a:t>
            </a:r>
            <a:endParaRPr lang="en-US" sz="1250" dirty="0"/>
          </a:p>
        </p:txBody>
      </p:sp>
      <p:sp>
        <p:nvSpPr>
          <p:cNvPr id="18" name="Text 16"/>
          <p:cNvSpPr/>
          <p:nvPr/>
        </p:nvSpPr>
        <p:spPr>
          <a:xfrm>
            <a:off x="5440680" y="3593592"/>
            <a:ext cx="3291840" cy="301752"/>
          </a:xfrm>
          <a:prstGeom prst="rect">
            <a:avLst/>
          </a:prstGeom>
          <a:noFill/>
        </p:spPr>
        <p:txBody>
          <a:bodyPr wrap="square" lIns="0" tIns="0" rIns="0" bIns="0" rtlCol="0" anchor="t"/>
          <a:lstStyle/>
          <a:p>
            <a:pPr marL="0" indent="0">
              <a:buNone/>
            </a:pPr>
            <a:r>
              <a:rPr lang="en-US" sz="1100" dirty="0">
                <a:solidFill>
                  <a:srgbClr val="1E2761"/>
                </a:solidFill>
                <a:latin typeface="Calibri" pitchFamily="34" charset="0"/>
                <a:ea typeface="Calibri" pitchFamily="34" charset="-122"/>
                <a:cs typeface="Calibri" pitchFamily="34" charset="-120"/>
              </a:rPr>
              <a:t>Holds out 20% of training data to monitor generalisation. Prevents overfitting to the training set.</a:t>
            </a:r>
            <a:endParaRPr lang="en-US" sz="1100" dirty="0"/>
          </a:p>
        </p:txBody>
      </p:sp>
      <p:sp>
        <p:nvSpPr>
          <p:cNvPr id="19" name="Shape 17"/>
          <p:cNvSpPr/>
          <p:nvPr/>
        </p:nvSpPr>
        <p:spPr>
          <a:xfrm>
            <a:off x="5303520" y="4114800"/>
            <a:ext cx="3566160" cy="8229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5303520" y="4114800"/>
            <a:ext cx="3566160" cy="64008"/>
          </a:xfrm>
          <a:prstGeom prst="rect">
            <a:avLst/>
          </a:prstGeom>
          <a:solidFill>
            <a:srgbClr val="0891B2"/>
          </a:solidFill>
          <a:ln w="12700">
            <a:solidFill>
              <a:srgbClr val="0891B2"/>
            </a:solidFill>
            <a:prstDash val="solid"/>
          </a:ln>
        </p:spPr>
        <p:txBody>
          <a:bodyPr/>
          <a:lstStyle/>
          <a:p>
            <a:endParaRPr lang="en-US"/>
          </a:p>
        </p:txBody>
      </p:sp>
      <p:sp>
        <p:nvSpPr>
          <p:cNvPr id="21" name="Text 19"/>
          <p:cNvSpPr/>
          <p:nvPr/>
        </p:nvSpPr>
        <p:spPr>
          <a:xfrm>
            <a:off x="5440680" y="4251960"/>
            <a:ext cx="3291840" cy="347472"/>
          </a:xfrm>
          <a:prstGeom prst="rect">
            <a:avLst/>
          </a:prstGeom>
          <a:noFill/>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class_weight=class_weight_dict</a:t>
            </a:r>
            <a:endParaRPr lang="en-US" sz="1250" dirty="0"/>
          </a:p>
        </p:txBody>
      </p:sp>
      <p:sp>
        <p:nvSpPr>
          <p:cNvPr id="22" name="Text 20"/>
          <p:cNvSpPr/>
          <p:nvPr/>
        </p:nvSpPr>
        <p:spPr>
          <a:xfrm>
            <a:off x="5440680" y="4645152"/>
            <a:ext cx="3291840" cy="164592"/>
          </a:xfrm>
          <a:prstGeom prst="rect">
            <a:avLst/>
          </a:prstGeom>
          <a:noFill/>
        </p:spPr>
        <p:txBody>
          <a:bodyPr wrap="square" lIns="0" tIns="0" rIns="0" bIns="0" rtlCol="0" anchor="t"/>
          <a:lstStyle/>
          <a:p>
            <a:pPr marL="0" indent="0">
              <a:buNone/>
            </a:pPr>
            <a:r>
              <a:rPr lang="en-US" sz="1100" dirty="0">
                <a:solidFill>
                  <a:srgbClr val="1E2761"/>
                </a:solidFill>
                <a:latin typeface="Calibri" pitchFamily="34" charset="0"/>
                <a:ea typeface="Calibri" pitchFamily="34" charset="-122"/>
                <a:cs typeface="Calibri" pitchFamily="34" charset="-120"/>
              </a:rPr>
              <a:t>Upweights the minority churn class so the model learns churners as well as non-churners.</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229600" cy="64008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Model Results</a:t>
            </a:r>
            <a:endParaRPr lang="en-US" sz="2800" dirty="0"/>
          </a:p>
        </p:txBody>
      </p:sp>
      <p:sp>
        <p:nvSpPr>
          <p:cNvPr id="4" name="Shape 2"/>
          <p:cNvSpPr/>
          <p:nvPr/>
        </p:nvSpPr>
        <p:spPr>
          <a:xfrm>
            <a:off x="228600" y="960120"/>
            <a:ext cx="1051560" cy="1417320"/>
          </a:xfrm>
          <a:prstGeom prst="rect">
            <a:avLst/>
          </a:prstGeom>
          <a:solidFill>
            <a:srgbClr val="EEF2F7"/>
          </a:solidFill>
          <a:ln>
            <a:noFill/>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228600" y="1051560"/>
            <a:ext cx="1051560" cy="685800"/>
          </a:xfrm>
          <a:prstGeom prst="rect">
            <a:avLst/>
          </a:prstGeom>
          <a:noFill/>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88.4%</a:t>
            </a:r>
            <a:endParaRPr lang="en-US" sz="2200" dirty="0"/>
          </a:p>
        </p:txBody>
      </p:sp>
      <p:sp>
        <p:nvSpPr>
          <p:cNvPr id="6" name="Text 4"/>
          <p:cNvSpPr/>
          <p:nvPr/>
        </p:nvSpPr>
        <p:spPr>
          <a:xfrm>
            <a:off x="228600" y="1783080"/>
            <a:ext cx="1051560" cy="411480"/>
          </a:xfrm>
          <a:prstGeom prst="rect">
            <a:avLst/>
          </a:prstGeom>
          <a:noFill/>
        </p:spPr>
        <p:txBody>
          <a:bodyPr wrap="square" lIns="0" tIns="0" rIns="0" bIns="0" rtlCol="0" anchor="ctr"/>
          <a:lstStyle/>
          <a:p>
            <a:pPr marL="0" indent="0" algn="ctr">
              <a:buNone/>
            </a:pPr>
            <a:r>
              <a:rPr lang="en-US" sz="900" dirty="0">
                <a:solidFill>
                  <a:schemeClr val="tx1"/>
                </a:solidFill>
                <a:latin typeface="Calibri" pitchFamily="34" charset="0"/>
                <a:ea typeface="Calibri" pitchFamily="34" charset="-122"/>
                <a:cs typeface="Calibri" pitchFamily="34" charset="-120"/>
              </a:rPr>
              <a:t>Overall Accuracy</a:t>
            </a:r>
            <a:endParaRPr lang="en-US" sz="900" dirty="0">
              <a:solidFill>
                <a:schemeClr val="tx1"/>
              </a:solidFill>
              <a:latin typeface="Calibri" pitchFamily="34" charset="0"/>
              <a:ea typeface="Calibri" pitchFamily="34" charset="-122"/>
              <a:cs typeface="Calibri" pitchFamily="34" charset="-120"/>
            </a:endParaRPr>
          </a:p>
        </p:txBody>
      </p:sp>
      <p:sp>
        <p:nvSpPr>
          <p:cNvPr id="7" name="Shape 5"/>
          <p:cNvSpPr/>
          <p:nvPr/>
        </p:nvSpPr>
        <p:spPr>
          <a:xfrm>
            <a:off x="1399032" y="960120"/>
            <a:ext cx="1051560" cy="1417320"/>
          </a:xfrm>
          <a:prstGeom prst="rect">
            <a:avLst/>
          </a:prstGeom>
          <a:solidFill>
            <a:srgbClr val="EEF2F7"/>
          </a:solidFill>
          <a:ln>
            <a:noFill/>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1399032" y="1051560"/>
            <a:ext cx="1051560" cy="685800"/>
          </a:xfrm>
          <a:prstGeom prst="rect">
            <a:avLst/>
          </a:prstGeom>
          <a:noFill/>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62%</a:t>
            </a:r>
            <a:endParaRPr lang="en-US" sz="2200" dirty="0"/>
          </a:p>
        </p:txBody>
      </p:sp>
      <p:sp>
        <p:nvSpPr>
          <p:cNvPr id="9" name="Text 7"/>
          <p:cNvSpPr/>
          <p:nvPr/>
        </p:nvSpPr>
        <p:spPr>
          <a:xfrm>
            <a:off x="1399032" y="1783080"/>
            <a:ext cx="1051560" cy="411480"/>
          </a:xfrm>
          <a:prstGeom prst="rect">
            <a:avLst/>
          </a:prstGeom>
          <a:noFill/>
        </p:spPr>
        <p:txBody>
          <a:bodyPr wrap="square" lIns="0" tIns="0" rIns="0" bIns="0" rtlCol="0" anchor="ctr"/>
          <a:lstStyle/>
          <a:p>
            <a:pPr marL="0" indent="0" algn="ctr">
              <a:buNone/>
            </a:pPr>
            <a:r>
              <a:rPr lang="en-US" sz="900" dirty="0">
                <a:solidFill>
                  <a:schemeClr val="tx1"/>
                </a:solidFill>
                <a:latin typeface="Calibri" pitchFamily="34" charset="0"/>
                <a:ea typeface="Calibri" pitchFamily="34" charset="-122"/>
                <a:cs typeface="Calibri" pitchFamily="34" charset="-120"/>
              </a:rPr>
              <a:t>Churn Recall</a:t>
            </a:r>
            <a:endParaRPr lang="en-US" sz="900" dirty="0">
              <a:solidFill>
                <a:schemeClr val="tx1"/>
              </a:solidFill>
              <a:latin typeface="Calibri" pitchFamily="34" charset="0"/>
              <a:ea typeface="Calibri" pitchFamily="34" charset="-122"/>
              <a:cs typeface="Calibri" pitchFamily="34" charset="-120"/>
            </a:endParaRPr>
          </a:p>
        </p:txBody>
      </p:sp>
      <p:sp>
        <p:nvSpPr>
          <p:cNvPr id="10" name="Shape 8"/>
          <p:cNvSpPr/>
          <p:nvPr/>
        </p:nvSpPr>
        <p:spPr>
          <a:xfrm>
            <a:off x="2569464" y="960120"/>
            <a:ext cx="1051560" cy="1417320"/>
          </a:xfrm>
          <a:prstGeom prst="rect">
            <a:avLst/>
          </a:prstGeom>
          <a:solidFill>
            <a:srgbClr val="EEF2F7"/>
          </a:solidFill>
          <a:ln>
            <a:noFill/>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2569464" y="1051560"/>
            <a:ext cx="1051560" cy="685800"/>
          </a:xfrm>
          <a:prstGeom prst="rect">
            <a:avLst/>
          </a:prstGeom>
          <a:noFill/>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60%</a:t>
            </a:r>
            <a:endParaRPr lang="en-US" sz="2200" dirty="0"/>
          </a:p>
        </p:txBody>
      </p:sp>
      <p:sp>
        <p:nvSpPr>
          <p:cNvPr id="12" name="Text 10"/>
          <p:cNvSpPr/>
          <p:nvPr/>
        </p:nvSpPr>
        <p:spPr>
          <a:xfrm>
            <a:off x="2569464" y="1783080"/>
            <a:ext cx="1051560" cy="411480"/>
          </a:xfrm>
          <a:prstGeom prst="rect">
            <a:avLst/>
          </a:prstGeom>
          <a:noFill/>
        </p:spPr>
        <p:txBody>
          <a:bodyPr wrap="square" lIns="0" tIns="0" rIns="0" bIns="0" rtlCol="0" anchor="ctr"/>
          <a:lstStyle/>
          <a:p>
            <a:pPr marL="0" indent="0" algn="ctr">
              <a:buNone/>
            </a:pPr>
            <a:r>
              <a:rPr lang="en-US" sz="900" dirty="0">
                <a:solidFill>
                  <a:schemeClr val="tx1"/>
                </a:solidFill>
                <a:latin typeface="Calibri" pitchFamily="34" charset="0"/>
                <a:ea typeface="Calibri" pitchFamily="34" charset="-122"/>
                <a:cs typeface="Calibri" pitchFamily="34" charset="-120"/>
              </a:rPr>
              <a:t>Churn Precision</a:t>
            </a:r>
            <a:endParaRPr lang="en-US" sz="900" dirty="0">
              <a:solidFill>
                <a:schemeClr val="tx1"/>
              </a:solidFill>
              <a:latin typeface="Calibri" pitchFamily="34" charset="0"/>
              <a:ea typeface="Calibri" pitchFamily="34" charset="-122"/>
              <a:cs typeface="Calibri" pitchFamily="34" charset="-120"/>
            </a:endParaRPr>
          </a:p>
        </p:txBody>
      </p:sp>
      <p:sp>
        <p:nvSpPr>
          <p:cNvPr id="13" name="Shape 11"/>
          <p:cNvSpPr/>
          <p:nvPr/>
        </p:nvSpPr>
        <p:spPr>
          <a:xfrm>
            <a:off x="3739896" y="960120"/>
            <a:ext cx="1051560" cy="1417320"/>
          </a:xfrm>
          <a:prstGeom prst="rect">
            <a:avLst/>
          </a:prstGeom>
          <a:solidFill>
            <a:srgbClr val="EEF2F7"/>
          </a:solidFill>
          <a:ln>
            <a:noFill/>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3739896" y="1051560"/>
            <a:ext cx="1051560" cy="685800"/>
          </a:xfrm>
          <a:prstGeom prst="rect">
            <a:avLst/>
          </a:prstGeom>
          <a:noFill/>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0.61</a:t>
            </a:r>
            <a:endParaRPr lang="en-US" sz="2200" dirty="0"/>
          </a:p>
        </p:txBody>
      </p:sp>
      <p:sp>
        <p:nvSpPr>
          <p:cNvPr id="15" name="Text 13"/>
          <p:cNvSpPr/>
          <p:nvPr/>
        </p:nvSpPr>
        <p:spPr>
          <a:xfrm>
            <a:off x="3739896" y="1783080"/>
            <a:ext cx="1051560" cy="411480"/>
          </a:xfrm>
          <a:prstGeom prst="rect">
            <a:avLst/>
          </a:prstGeom>
          <a:noFill/>
        </p:spPr>
        <p:txBody>
          <a:bodyPr wrap="square" lIns="0" tIns="0" rIns="0" bIns="0" rtlCol="0" anchor="ctr"/>
          <a:lstStyle/>
          <a:p>
            <a:pPr marL="0" indent="0" algn="ctr">
              <a:buNone/>
            </a:pPr>
            <a:r>
              <a:rPr lang="en-US" sz="900" dirty="0">
                <a:solidFill>
                  <a:schemeClr val="tx1"/>
                </a:solidFill>
                <a:latin typeface="Calibri" pitchFamily="34" charset="0"/>
                <a:ea typeface="Calibri" pitchFamily="34" charset="-122"/>
                <a:cs typeface="Calibri" pitchFamily="34" charset="-120"/>
              </a:rPr>
              <a:t>F1 Score (Churn)</a:t>
            </a:r>
            <a:endParaRPr lang="en-US" sz="900" dirty="0">
              <a:solidFill>
                <a:schemeClr val="tx1"/>
              </a:solidFill>
              <a:latin typeface="Calibri" pitchFamily="34" charset="0"/>
              <a:ea typeface="Calibri" pitchFamily="34" charset="-122"/>
              <a:cs typeface="Calibri" pitchFamily="34" charset="-120"/>
            </a:endParaRPr>
          </a:p>
        </p:txBody>
      </p:sp>
      <p:sp>
        <p:nvSpPr>
          <p:cNvPr id="16" name="Text 14"/>
          <p:cNvSpPr/>
          <p:nvPr/>
        </p:nvSpPr>
        <p:spPr>
          <a:xfrm>
            <a:off x="274320" y="2560320"/>
            <a:ext cx="4114800" cy="320040"/>
          </a:xfrm>
          <a:prstGeom prst="rect">
            <a:avLst/>
          </a:prstGeom>
          <a:noFill/>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Confusion Matrix</a:t>
            </a:r>
            <a:endParaRPr lang="en-US" sz="1300" dirty="0"/>
          </a:p>
        </p:txBody>
      </p:sp>
      <p:graphicFrame>
        <p:nvGraphicFramePr>
          <p:cNvPr id="17" name="Table 0"/>
          <p:cNvGraphicFramePr>
            <a:graphicFrameLocks noGrp="1"/>
          </p:cNvGraphicFramePr>
          <p:nvPr/>
        </p:nvGraphicFramePr>
        <p:xfrm>
          <a:off x="274320" y="2926080"/>
          <a:ext cx="4572000" cy="1920240"/>
        </p:xfrm>
        <a:graphic>
          <a:graphicData uri="http://schemas.openxmlformats.org/drawingml/2006/table">
            <a:tbl>
              <a:tblPr/>
              <a:tblGrid>
                <a:gridCol w="1463040"/>
                <a:gridCol w="1554480"/>
                <a:gridCol w="1554480"/>
              </a:tblGrid>
              <a:tr h="640080">
                <a:tc>
                  <a:txBody>
                    <a:bodyPr/>
                    <a:lstStyle/>
                    <a:p>
                      <a:pPr marL="0" indent="0" algn="ctr">
                        <a:buNone/>
                      </a:pP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000" b="1" dirty="0">
                          <a:solidFill>
                            <a:srgbClr val="FFFFFF"/>
                          </a:solidFill>
                        </a:rPr>
                        <a:t>Predicted: No Churn</a:t>
                      </a: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000" b="1" dirty="0">
                          <a:solidFill>
                            <a:srgbClr val="FFFFFF"/>
                          </a:solidFill>
                        </a:rPr>
                        <a:t>Predicted: Churn</a:t>
                      </a: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r>
              <a:tr h="640080">
                <a:tc>
                  <a:txBody>
                    <a:bodyPr/>
                    <a:lstStyle/>
                    <a:p>
                      <a:pPr marL="0" indent="0" algn="ctr">
                        <a:buNone/>
                      </a:pPr>
                      <a:r>
                        <a:rPr lang="en-US" sz="1000" b="1" dirty="0">
                          <a:solidFill>
                            <a:srgbClr val="FFFFFF"/>
                          </a:solidFill>
                        </a:rPr>
                        <a:t>Actual: No Churn</a:t>
                      </a: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600" b="1" dirty="0">
                          <a:solidFill>
                            <a:srgbClr val="FFFFFF"/>
                          </a:solidFill>
                        </a:rPr>
                        <a:t>424</a:t>
                      </a:r>
                      <a:endParaRPr lang="en-US" sz="1600" dirty="0"/>
                    </a:p>
                  </a:txBody>
                  <a:tcPr anchor="ctr">
                    <a:lnL w="0" cap="flat" cmpd="sng" algn="ctr">
                      <a:noFill/>
                    </a:lnL>
                    <a:lnR w="0" cap="flat" cmpd="sng" algn="ctr">
                      <a:noFill/>
                    </a:lnR>
                    <a:lnT w="0" cap="flat" cmpd="sng" algn="ctr">
                      <a:noFill/>
                    </a:lnT>
                    <a:lnB w="0" cap="flat" cmpd="sng" algn="ctr">
                      <a:noFill/>
                    </a:lnB>
                    <a:solidFill>
                      <a:srgbClr val="166534"/>
                    </a:solidFill>
                  </a:tcPr>
                </a:tc>
                <a:tc>
                  <a:txBody>
                    <a:bodyPr/>
                    <a:lstStyle/>
                    <a:p>
                      <a:pPr marL="0" indent="0" algn="ctr">
                        <a:buNone/>
                      </a:pPr>
                      <a:r>
                        <a:rPr lang="en-US" sz="1600" dirty="0">
                          <a:solidFill>
                            <a:srgbClr val="FFFFFF"/>
                          </a:solidFill>
                        </a:rPr>
                        <a:t>32</a:t>
                      </a:r>
                      <a:endParaRPr lang="en-US" sz="1600" dirty="0"/>
                    </a:p>
                  </a:txBody>
                  <a:tcPr anchor="ctr">
                    <a:lnL w="0" cap="flat" cmpd="sng" algn="ctr">
                      <a:noFill/>
                    </a:lnL>
                    <a:lnR w="0" cap="flat" cmpd="sng" algn="ctr">
                      <a:noFill/>
                    </a:lnR>
                    <a:lnT w="0" cap="flat" cmpd="sng" algn="ctr">
                      <a:noFill/>
                    </a:lnT>
                    <a:lnB w="0" cap="flat" cmpd="sng" algn="ctr">
                      <a:noFill/>
                    </a:lnB>
                    <a:solidFill>
                      <a:srgbClr val="7F1D1D"/>
                    </a:solidFill>
                  </a:tcPr>
                </a:tc>
              </a:tr>
              <a:tr h="640080">
                <a:tc>
                  <a:txBody>
                    <a:bodyPr/>
                    <a:lstStyle/>
                    <a:p>
                      <a:pPr marL="0" indent="0" algn="ctr">
                        <a:buNone/>
                      </a:pPr>
                      <a:r>
                        <a:rPr lang="en-US" sz="1000" b="1" dirty="0">
                          <a:solidFill>
                            <a:srgbClr val="FFFFFF"/>
                          </a:solidFill>
                        </a:rPr>
                        <a:t>Actual: Churn</a:t>
                      </a: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600" dirty="0">
                          <a:solidFill>
                            <a:srgbClr val="FFFFFF"/>
                          </a:solidFill>
                        </a:rPr>
                        <a:t>30</a:t>
                      </a:r>
                      <a:endParaRPr lang="en-US" sz="1600" dirty="0"/>
                    </a:p>
                  </a:txBody>
                  <a:tcPr anchor="ctr">
                    <a:lnL w="0" cap="flat" cmpd="sng" algn="ctr">
                      <a:noFill/>
                    </a:lnL>
                    <a:lnR w="0" cap="flat" cmpd="sng" algn="ctr">
                      <a:noFill/>
                    </a:lnR>
                    <a:lnT w="0" cap="flat" cmpd="sng" algn="ctr">
                      <a:noFill/>
                    </a:lnT>
                    <a:lnB w="0" cap="flat" cmpd="sng" algn="ctr">
                      <a:noFill/>
                    </a:lnB>
                    <a:solidFill>
                      <a:srgbClr val="7F1D1D"/>
                    </a:solidFill>
                  </a:tcPr>
                </a:tc>
                <a:tc>
                  <a:txBody>
                    <a:bodyPr/>
                    <a:lstStyle/>
                    <a:p>
                      <a:pPr marL="0" indent="0" algn="ctr">
                        <a:buNone/>
                      </a:pPr>
                      <a:r>
                        <a:rPr lang="en-US" sz="1600" b="1" dirty="0">
                          <a:solidFill>
                            <a:srgbClr val="FFFFFF"/>
                          </a:solidFill>
                        </a:rPr>
                        <a:t>48</a:t>
                      </a:r>
                      <a:endParaRPr lang="en-US" sz="1600" dirty="0"/>
                    </a:p>
                  </a:txBody>
                  <a:tcPr anchor="ctr">
                    <a:lnL w="0" cap="flat" cmpd="sng" algn="ctr">
                      <a:noFill/>
                    </a:lnL>
                    <a:lnR w="0" cap="flat" cmpd="sng" algn="ctr">
                      <a:noFill/>
                    </a:lnR>
                    <a:lnT w="0" cap="flat" cmpd="sng" algn="ctr">
                      <a:noFill/>
                    </a:lnT>
                    <a:lnB w="0" cap="flat" cmpd="sng" algn="ctr">
                      <a:noFill/>
                    </a:lnB>
                    <a:solidFill>
                      <a:srgbClr val="166534"/>
                    </a:solidFill>
                  </a:tcPr>
                </a:tc>
              </a:tr>
            </a:tbl>
          </a:graphicData>
        </a:graphic>
      </p:graphicFrame>
      <p:sp>
        <p:nvSpPr>
          <p:cNvPr id="18" name="Text 15"/>
          <p:cNvSpPr/>
          <p:nvPr/>
        </p:nvSpPr>
        <p:spPr>
          <a:xfrm>
            <a:off x="5120640" y="2560320"/>
            <a:ext cx="3749040" cy="320040"/>
          </a:xfrm>
          <a:prstGeom prst="rect">
            <a:avLst/>
          </a:prstGeom>
          <a:noFill/>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Classification Report</a:t>
            </a:r>
            <a:endParaRPr lang="en-US" sz="1300" dirty="0"/>
          </a:p>
        </p:txBody>
      </p:sp>
      <p:graphicFrame>
        <p:nvGraphicFramePr>
          <p:cNvPr id="19" name="Table 1"/>
          <p:cNvGraphicFramePr>
            <a:graphicFrameLocks noGrp="1"/>
          </p:cNvGraphicFramePr>
          <p:nvPr/>
        </p:nvGraphicFramePr>
        <p:xfrm>
          <a:off x="5120640" y="2926080"/>
          <a:ext cx="3749040" cy="1920240"/>
        </p:xfrm>
        <a:graphic>
          <a:graphicData uri="http://schemas.openxmlformats.org/drawingml/2006/table">
            <a:tbl>
              <a:tblPr/>
              <a:tblGrid>
                <a:gridCol w="1005840"/>
                <a:gridCol w="914400"/>
                <a:gridCol w="914400"/>
                <a:gridCol w="914400"/>
              </a:tblGrid>
              <a:tr h="480060">
                <a:tc>
                  <a:txBody>
                    <a:bodyPr/>
                    <a:lstStyle/>
                    <a:p>
                      <a:pPr marL="0" indent="0" algn="ctr">
                        <a:buNone/>
                      </a:pPr>
                      <a:r>
                        <a:rPr lang="en-US" sz="1000" b="1" dirty="0">
                          <a:solidFill>
                            <a:srgbClr val="FFFFFF"/>
                          </a:solidFill>
                        </a:rPr>
                        <a:t>Class</a:t>
                      </a:r>
                      <a:endParaRPr lang="en-US" sz="1000" dirty="0"/>
                    </a:p>
                  </a:txBody>
                  <a:tcPr anchor="ctr">
                    <a:lnL w="0" cap="flat" cmpd="sng" algn="ctr">
                      <a:noFill/>
                    </a:lnL>
                    <a:lnR w="0" cap="flat" cmpd="sng" algn="ctr">
                      <a:noFill/>
                    </a:lnR>
                    <a:lnT w="0" cap="flat" cmpd="sng" algn="ctr">
                      <a:noFill/>
                    </a:lnT>
                    <a:lnB w="0" cap="flat" cmpd="sng" algn="ctr">
                      <a:noFill/>
                    </a:lnB>
                    <a:solidFill>
                      <a:srgbClr val="0891B2"/>
                    </a:solidFill>
                  </a:tcPr>
                </a:tc>
                <a:tc>
                  <a:txBody>
                    <a:bodyPr/>
                    <a:lstStyle/>
                    <a:p>
                      <a:pPr marL="0" indent="0" algn="ctr">
                        <a:buNone/>
                      </a:pPr>
                      <a:r>
                        <a:rPr lang="en-US" sz="1000" b="1" dirty="0">
                          <a:solidFill>
                            <a:srgbClr val="FFFFFF"/>
                          </a:solidFill>
                        </a:rPr>
                        <a:t>Precision</a:t>
                      </a:r>
                      <a:endParaRPr lang="en-US" sz="1000" dirty="0"/>
                    </a:p>
                  </a:txBody>
                  <a:tcPr anchor="ctr">
                    <a:lnL w="0" cap="flat" cmpd="sng" algn="ctr">
                      <a:noFill/>
                    </a:lnL>
                    <a:lnR w="0" cap="flat" cmpd="sng" algn="ctr">
                      <a:noFill/>
                    </a:lnR>
                    <a:lnT w="0" cap="flat" cmpd="sng" algn="ctr">
                      <a:noFill/>
                    </a:lnT>
                    <a:lnB w="0" cap="flat" cmpd="sng" algn="ctr">
                      <a:noFill/>
                    </a:lnB>
                    <a:solidFill>
                      <a:srgbClr val="0891B2"/>
                    </a:solidFill>
                  </a:tcPr>
                </a:tc>
                <a:tc>
                  <a:txBody>
                    <a:bodyPr/>
                    <a:lstStyle/>
                    <a:p>
                      <a:pPr marL="0" indent="0" algn="ctr">
                        <a:buNone/>
                      </a:pPr>
                      <a:r>
                        <a:rPr lang="en-US" sz="1000" b="1" dirty="0">
                          <a:solidFill>
                            <a:srgbClr val="FFFFFF"/>
                          </a:solidFill>
                        </a:rPr>
                        <a:t>Recall</a:t>
                      </a:r>
                      <a:endParaRPr lang="en-US" sz="1000" dirty="0"/>
                    </a:p>
                  </a:txBody>
                  <a:tcPr anchor="ctr">
                    <a:lnL w="0" cap="flat" cmpd="sng" algn="ctr">
                      <a:noFill/>
                    </a:lnL>
                    <a:lnR w="0" cap="flat" cmpd="sng" algn="ctr">
                      <a:noFill/>
                    </a:lnR>
                    <a:lnT w="0" cap="flat" cmpd="sng" algn="ctr">
                      <a:noFill/>
                    </a:lnT>
                    <a:lnB w="0" cap="flat" cmpd="sng" algn="ctr">
                      <a:noFill/>
                    </a:lnB>
                    <a:solidFill>
                      <a:srgbClr val="0891B2"/>
                    </a:solidFill>
                  </a:tcPr>
                </a:tc>
                <a:tc>
                  <a:txBody>
                    <a:bodyPr/>
                    <a:lstStyle/>
                    <a:p>
                      <a:pPr marL="0" indent="0" algn="ctr">
                        <a:buNone/>
                      </a:pPr>
                      <a:r>
                        <a:rPr lang="en-US" sz="1000" b="1" dirty="0">
                          <a:solidFill>
                            <a:srgbClr val="FFFFFF"/>
                          </a:solidFill>
                        </a:rPr>
                        <a:t>F1</a:t>
                      </a:r>
                      <a:endParaRPr lang="en-US" sz="1000" dirty="0"/>
                    </a:p>
                  </a:txBody>
                  <a:tcPr anchor="ctr">
                    <a:lnL w="0" cap="flat" cmpd="sng" algn="ctr">
                      <a:noFill/>
                    </a:lnL>
                    <a:lnR w="0" cap="flat" cmpd="sng" algn="ctr">
                      <a:noFill/>
                    </a:lnR>
                    <a:lnT w="0" cap="flat" cmpd="sng" algn="ctr">
                      <a:noFill/>
                    </a:lnT>
                    <a:lnB w="0" cap="flat" cmpd="sng" algn="ctr">
                      <a:noFill/>
                    </a:lnB>
                    <a:solidFill>
                      <a:srgbClr val="0891B2"/>
                    </a:solidFill>
                  </a:tcPr>
                </a:tc>
              </a:tr>
              <a:tr h="480060">
                <a:tc>
                  <a:txBody>
                    <a:bodyPr/>
                    <a:lstStyle/>
                    <a:p>
                      <a:pPr marL="0" indent="0" algn="ctr">
                        <a:buNone/>
                      </a:pPr>
                      <a:r>
                        <a:rPr lang="en-US" sz="1100" dirty="0">
                          <a:solidFill>
                            <a:srgbClr val="FFFFFF"/>
                          </a:solidFill>
                        </a:rPr>
                        <a:t>No Churn</a:t>
                      </a:r>
                      <a:endParaRPr lang="en-US" sz="11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100" b="1" dirty="0">
                          <a:solidFill>
                            <a:srgbClr val="86EFAC"/>
                          </a:solidFill>
                        </a:rPr>
                        <a:t>0.93</a:t>
                      </a:r>
                      <a:endParaRPr lang="en-US" sz="11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100" b="1" dirty="0">
                          <a:solidFill>
                            <a:srgbClr val="86EFAC"/>
                          </a:solidFill>
                        </a:rPr>
                        <a:t>0.93</a:t>
                      </a:r>
                      <a:endParaRPr lang="en-US" sz="11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100" b="1" dirty="0">
                          <a:solidFill>
                            <a:srgbClr val="86EFAC"/>
                          </a:solidFill>
                        </a:rPr>
                        <a:t>0.93</a:t>
                      </a:r>
                      <a:endParaRPr lang="en-US" sz="1100" dirty="0"/>
                    </a:p>
                  </a:txBody>
                  <a:tcPr anchor="ctr">
                    <a:lnL w="0" cap="flat" cmpd="sng" algn="ctr">
                      <a:noFill/>
                    </a:lnL>
                    <a:lnR w="0" cap="flat" cmpd="sng" algn="ctr">
                      <a:noFill/>
                    </a:lnR>
                    <a:lnT w="0" cap="flat" cmpd="sng" algn="ctr">
                      <a:noFill/>
                    </a:lnT>
                    <a:lnB w="0" cap="flat" cmpd="sng" algn="ctr">
                      <a:noFill/>
                    </a:lnB>
                    <a:solidFill>
                      <a:srgbClr val="1E2761"/>
                    </a:solidFill>
                  </a:tcPr>
                </a:tc>
              </a:tr>
              <a:tr h="480060">
                <a:tc>
                  <a:txBody>
                    <a:bodyPr/>
                    <a:lstStyle/>
                    <a:p>
                      <a:pPr marL="0" indent="0" algn="ctr">
                        <a:buNone/>
                      </a:pPr>
                      <a:r>
                        <a:rPr lang="en-US" sz="1100" dirty="0">
                          <a:solidFill>
                            <a:srgbClr val="FFFFFF"/>
                          </a:solidFill>
                        </a:rPr>
                        <a:t>Churn</a:t>
                      </a:r>
                      <a:endParaRPr lang="en-US" sz="1100" dirty="0"/>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100" b="1" dirty="0">
                          <a:solidFill>
                            <a:schemeClr val="bg1"/>
                          </a:solidFill>
                        </a:rPr>
                        <a:t>0.60</a:t>
                      </a:r>
                      <a:endParaRPr lang="en-US" sz="11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100" b="1" dirty="0">
                          <a:solidFill>
                            <a:schemeClr val="bg1"/>
                          </a:solidFill>
                        </a:rPr>
                        <a:t>0.62</a:t>
                      </a:r>
                      <a:endParaRPr lang="en-US" sz="11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100" b="1" dirty="0">
                          <a:solidFill>
                            <a:schemeClr val="bg1"/>
                          </a:solidFill>
                        </a:rPr>
                        <a:t>0.61</a:t>
                      </a:r>
                      <a:endParaRPr lang="en-US" sz="11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243B55"/>
                    </a:solidFill>
                  </a:tcPr>
                </a:tc>
              </a:tr>
              <a:tr h="480060">
                <a:tc>
                  <a:txBody>
                    <a:bodyPr/>
                    <a:lstStyle/>
                    <a:p>
                      <a:pPr marL="0" indent="0" algn="ctr">
                        <a:buNone/>
                      </a:pPr>
                      <a:r>
                        <a:rPr lang="en-US" sz="1100" dirty="0">
                          <a:solidFill>
                            <a:srgbClr val="FFFFFF"/>
                          </a:solidFill>
                        </a:rPr>
                        <a:t>Accuracy</a:t>
                      </a:r>
                      <a:endParaRPr lang="en-US" sz="11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endParaRPr lang="en-US" sz="11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endParaRPr lang="en-US" sz="11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100" b="1" dirty="0">
                          <a:solidFill>
                            <a:srgbClr val="86EFAC"/>
                          </a:solidFill>
                        </a:rPr>
                        <a:t>0.88</a:t>
                      </a:r>
                      <a:endParaRPr lang="en-US" sz="1100" dirty="0"/>
                    </a:p>
                  </a:txBody>
                  <a:tcPr anchor="ctr">
                    <a:lnL w="0" cap="flat" cmpd="sng" algn="ctr">
                      <a:noFill/>
                    </a:lnL>
                    <a:lnR w="0" cap="flat" cmpd="sng" algn="ctr">
                      <a:noFill/>
                    </a:lnR>
                    <a:lnT w="0" cap="flat" cmpd="sng" algn="ctr">
                      <a:noFill/>
                    </a:lnT>
                    <a:lnB w="0" cap="flat" cmpd="sng" algn="ctr">
                      <a:noFill/>
                    </a:lnB>
                    <a:solidFill>
                      <a:srgbClr val="1E2761"/>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229600" cy="64008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Business Impact</a:t>
            </a:r>
            <a:endParaRPr lang="en-US" sz="2800" dirty="0"/>
          </a:p>
        </p:txBody>
      </p:sp>
      <p:sp>
        <p:nvSpPr>
          <p:cNvPr id="4" name="Shape 2"/>
          <p:cNvSpPr/>
          <p:nvPr/>
        </p:nvSpPr>
        <p:spPr>
          <a:xfrm>
            <a:off x="274320" y="96012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960120"/>
            <a:ext cx="4160520" cy="64008"/>
          </a:xfrm>
          <a:prstGeom prst="rect">
            <a:avLst/>
          </a:prstGeom>
          <a:solidFill>
            <a:srgbClr val="0891B2"/>
          </a:solidFill>
          <a:ln w="12700">
            <a:solidFill>
              <a:srgbClr val="0891B2"/>
            </a:solidFill>
            <a:prstDash val="solid"/>
          </a:ln>
        </p:spPr>
        <p:txBody>
          <a:bodyPr/>
          <a:lstStyle/>
          <a:p>
            <a:endParaRPr lang="en-US"/>
          </a:p>
        </p:txBody>
      </p:sp>
      <p:sp>
        <p:nvSpPr>
          <p:cNvPr id="6" name="Text 4"/>
          <p:cNvSpPr/>
          <p:nvPr/>
        </p:nvSpPr>
        <p:spPr>
          <a:xfrm>
            <a:off x="457200" y="109728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Learns Complex Patterns</a:t>
            </a:r>
            <a:endParaRPr lang="en-US" sz="1400" dirty="0"/>
          </a:p>
        </p:txBody>
      </p:sp>
      <p:sp>
        <p:nvSpPr>
          <p:cNvPr id="7" name="Text 5"/>
          <p:cNvSpPr/>
          <p:nvPr/>
        </p:nvSpPr>
        <p:spPr>
          <a:xfrm>
            <a:off x="457200" y="155448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Neural networks discover non-linear relationships between features that simpler models miss, e.g. interactions between service calls and usage intensity.</a:t>
            </a:r>
            <a:endParaRPr lang="en-US" sz="1150" dirty="0"/>
          </a:p>
        </p:txBody>
      </p:sp>
      <p:sp>
        <p:nvSpPr>
          <p:cNvPr id="8" name="Shape 6"/>
          <p:cNvSpPr/>
          <p:nvPr/>
        </p:nvSpPr>
        <p:spPr>
          <a:xfrm>
            <a:off x="4709160" y="96012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709160" y="960120"/>
            <a:ext cx="4160520" cy="64008"/>
          </a:xfrm>
          <a:prstGeom prst="rect">
            <a:avLst/>
          </a:prstGeom>
          <a:solidFill>
            <a:srgbClr val="0891B2"/>
          </a:solidFill>
          <a:ln w="12700">
            <a:solidFill>
              <a:srgbClr val="0891B2"/>
            </a:solidFill>
            <a:prstDash val="solid"/>
          </a:ln>
        </p:spPr>
        <p:txBody>
          <a:bodyPr/>
          <a:lstStyle/>
          <a:p>
            <a:endParaRPr lang="en-US"/>
          </a:p>
        </p:txBody>
      </p:sp>
      <p:sp>
        <p:nvSpPr>
          <p:cNvPr id="10" name="Text 8"/>
          <p:cNvSpPr/>
          <p:nvPr/>
        </p:nvSpPr>
        <p:spPr>
          <a:xfrm>
            <a:off x="4892040" y="109728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Probability Outputs</a:t>
            </a:r>
            <a:endParaRPr lang="en-US" sz="1400" dirty="0"/>
          </a:p>
        </p:txBody>
      </p:sp>
      <p:sp>
        <p:nvSpPr>
          <p:cNvPr id="11" name="Text 9"/>
          <p:cNvSpPr/>
          <p:nvPr/>
        </p:nvSpPr>
        <p:spPr>
          <a:xfrm>
            <a:off x="4892040" y="155448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The sigmoid output gives a churn probability score (0-1), not just a binary label. Businesses can prioritise outreach by risk score severity.</a:t>
            </a:r>
            <a:endParaRPr lang="en-US" sz="1150" dirty="0"/>
          </a:p>
        </p:txBody>
      </p:sp>
      <p:sp>
        <p:nvSpPr>
          <p:cNvPr id="12" name="Shape 10"/>
          <p:cNvSpPr/>
          <p:nvPr/>
        </p:nvSpPr>
        <p:spPr>
          <a:xfrm>
            <a:off x="274320" y="292608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74320" y="2926080"/>
            <a:ext cx="4160520" cy="64008"/>
          </a:xfrm>
          <a:prstGeom prst="rect">
            <a:avLst/>
          </a:prstGeom>
          <a:solidFill>
            <a:srgbClr val="0891B2"/>
          </a:solidFill>
          <a:ln w="12700">
            <a:solidFill>
              <a:srgbClr val="0891B2"/>
            </a:solidFill>
            <a:prstDash val="solid"/>
          </a:ln>
        </p:spPr>
        <p:txBody>
          <a:bodyPr/>
          <a:lstStyle/>
          <a:p>
            <a:endParaRPr lang="en-US"/>
          </a:p>
        </p:txBody>
      </p:sp>
      <p:sp>
        <p:nvSpPr>
          <p:cNvPr id="14" name="Text 12"/>
          <p:cNvSpPr/>
          <p:nvPr/>
        </p:nvSpPr>
        <p:spPr>
          <a:xfrm>
            <a:off x="457200" y="306324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Handles Class Imbalance</a:t>
            </a:r>
            <a:endParaRPr lang="en-US" sz="1400" dirty="0"/>
          </a:p>
        </p:txBody>
      </p:sp>
      <p:sp>
        <p:nvSpPr>
          <p:cNvPr id="15" name="Text 13"/>
          <p:cNvSpPr/>
          <p:nvPr/>
        </p:nvSpPr>
        <p:spPr>
          <a:xfrm>
            <a:off x="457200" y="352044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Class weights and Dropout ensure the model actively learns the minority churn pattern rather than always predicting the majority class.</a:t>
            </a:r>
            <a:endParaRPr lang="en-US" sz="1150" dirty="0"/>
          </a:p>
        </p:txBody>
      </p:sp>
      <p:sp>
        <p:nvSpPr>
          <p:cNvPr id="16" name="Shape 14"/>
          <p:cNvSpPr/>
          <p:nvPr/>
        </p:nvSpPr>
        <p:spPr>
          <a:xfrm>
            <a:off x="4709160" y="292608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709160" y="2926080"/>
            <a:ext cx="4160520" cy="64008"/>
          </a:xfrm>
          <a:prstGeom prst="rect">
            <a:avLst/>
          </a:prstGeom>
          <a:solidFill>
            <a:srgbClr val="0891B2"/>
          </a:solidFill>
          <a:ln w="12700">
            <a:solidFill>
              <a:srgbClr val="0891B2"/>
            </a:solidFill>
            <a:prstDash val="solid"/>
          </a:ln>
        </p:spPr>
        <p:txBody>
          <a:bodyPr/>
          <a:lstStyle/>
          <a:p>
            <a:endParaRPr lang="en-US"/>
          </a:p>
        </p:txBody>
      </p:sp>
      <p:sp>
        <p:nvSpPr>
          <p:cNvPr id="18" name="Text 16"/>
          <p:cNvSpPr/>
          <p:nvPr/>
        </p:nvSpPr>
        <p:spPr>
          <a:xfrm>
            <a:off x="4892040" y="306324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Scalable and Adaptable</a:t>
            </a:r>
            <a:endParaRPr lang="en-US" sz="1400" dirty="0"/>
          </a:p>
        </p:txBody>
      </p:sp>
      <p:sp>
        <p:nvSpPr>
          <p:cNvPr id="19" name="Text 17"/>
          <p:cNvSpPr/>
          <p:nvPr/>
        </p:nvSpPr>
        <p:spPr>
          <a:xfrm>
            <a:off x="4892040" y="352044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The network can be retrained on new data as customer behaviour evolves, making it a long-term retention intelligence asset.</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891B2"/>
          </a:solidFill>
          <a:ln>
            <a:noFill/>
          </a:ln>
        </p:spPr>
        <p:txBody>
          <a:bodyPr/>
          <a:lstStyle/>
          <a:p>
            <a:endParaRPr lang="en-US"/>
          </a:p>
        </p:txBody>
      </p:sp>
      <p:sp>
        <p:nvSpPr>
          <p:cNvPr id="3" name="Text 1"/>
          <p:cNvSpPr/>
          <p:nvPr/>
        </p:nvSpPr>
        <p:spPr>
          <a:xfrm>
            <a:off x="457200" y="457200"/>
            <a:ext cx="8229600" cy="640080"/>
          </a:xfrm>
          <a:prstGeom prst="rect">
            <a:avLst/>
          </a:prstGeom>
          <a:noFill/>
        </p:spPr>
        <p:txBody>
          <a:bodyPr wrap="square" lIns="0" tIns="0" rIns="0" bIns="0" rtlCol="0" anchor="ctr"/>
          <a:lstStyle/>
          <a:p>
            <a:pPr marL="0" indent="0" algn="ctr">
              <a:buNone/>
            </a:pPr>
            <a:r>
              <a:rPr lang="en-US" sz="3000" b="1" dirty="0">
                <a:solidFill>
                  <a:srgbClr val="002060"/>
                </a:solidFill>
                <a:latin typeface="Calibri" pitchFamily="34" charset="0"/>
                <a:ea typeface="Calibri" pitchFamily="34" charset="-122"/>
                <a:cs typeface="Calibri" pitchFamily="34" charset="-120"/>
              </a:rPr>
              <a:t>Neural Network: Key Takeaways</a:t>
            </a:r>
            <a:endParaRPr lang="en-US" sz="3000" b="1" dirty="0">
              <a:solidFill>
                <a:srgbClr val="002060"/>
              </a:solidFill>
              <a:latin typeface="Calibri" pitchFamily="34" charset="0"/>
              <a:ea typeface="Calibri" pitchFamily="34" charset="-122"/>
              <a:cs typeface="Calibri" pitchFamily="34" charset="-120"/>
            </a:endParaRPr>
          </a:p>
        </p:txBody>
      </p:sp>
      <p:graphicFrame>
        <p:nvGraphicFramePr>
          <p:cNvPr id="7" name="Table 0"/>
          <p:cNvGraphicFramePr>
            <a:graphicFrameLocks noGrp="1"/>
          </p:cNvGraphicFramePr>
          <p:nvPr/>
        </p:nvGraphicFramePr>
        <p:xfrm>
          <a:off x="1371600" y="1280160"/>
          <a:ext cx="6400800" cy="2743200"/>
        </p:xfrm>
        <a:graphic>
          <a:graphicData uri="http://schemas.openxmlformats.org/drawingml/2006/table">
            <a:tbl>
              <a:tblPr/>
              <a:tblGrid>
                <a:gridCol w="2011680"/>
                <a:gridCol w="1645920"/>
                <a:gridCol w="2743200"/>
              </a:tblGrid>
              <a:tr h="548640">
                <a:tc>
                  <a:txBody>
                    <a:bodyPr/>
                    <a:lstStyle/>
                    <a:p>
                      <a:pPr marL="0" indent="0" algn="ctr">
                        <a:buNone/>
                      </a:pPr>
                      <a:r>
                        <a:rPr lang="en-US" sz="1200" b="1" dirty="0">
                          <a:solidFill>
                            <a:srgbClr val="FFFFFF"/>
                          </a:solidFill>
                        </a:rPr>
                        <a:t>Metric</a:t>
                      </a:r>
                      <a:endParaRPr lang="en-US" sz="1200" dirty="0"/>
                    </a:p>
                  </a:txBody>
                  <a:tcPr anchor="ctr">
                    <a:lnL w="0" cap="flat" cmpd="sng" algn="ctr">
                      <a:noFill/>
                    </a:lnL>
                    <a:lnR w="0" cap="flat" cmpd="sng" algn="ctr">
                      <a:noFill/>
                    </a:lnR>
                    <a:lnT w="0" cap="flat" cmpd="sng" algn="ctr">
                      <a:noFill/>
                    </a:lnT>
                    <a:lnB w="0" cap="flat" cmpd="sng" algn="ctr">
                      <a:noFill/>
                    </a:lnB>
                    <a:solidFill>
                      <a:srgbClr val="0891B2"/>
                    </a:solidFill>
                  </a:tcPr>
                </a:tc>
                <a:tc>
                  <a:txBody>
                    <a:bodyPr/>
                    <a:lstStyle/>
                    <a:p>
                      <a:pPr marL="0" indent="0" algn="ctr">
                        <a:buNone/>
                      </a:pPr>
                      <a:r>
                        <a:rPr lang="en-US" sz="1200" b="1" dirty="0">
                          <a:solidFill>
                            <a:srgbClr val="FFFFFF"/>
                          </a:solidFill>
                        </a:rPr>
                        <a:t>Score</a:t>
                      </a:r>
                      <a:endParaRPr lang="en-US" sz="1200" dirty="0"/>
                    </a:p>
                  </a:txBody>
                  <a:tcPr anchor="ctr">
                    <a:lnL w="0" cap="flat" cmpd="sng" algn="ctr">
                      <a:noFill/>
                    </a:lnL>
                    <a:lnR w="0" cap="flat" cmpd="sng" algn="ctr">
                      <a:noFill/>
                    </a:lnR>
                    <a:lnT w="0" cap="flat" cmpd="sng" algn="ctr">
                      <a:noFill/>
                    </a:lnT>
                    <a:lnB w="0" cap="flat" cmpd="sng" algn="ctr">
                      <a:noFill/>
                    </a:lnB>
                    <a:solidFill>
                      <a:srgbClr val="0891B2"/>
                    </a:solidFill>
                  </a:tcPr>
                </a:tc>
                <a:tc>
                  <a:txBody>
                    <a:bodyPr/>
                    <a:lstStyle/>
                    <a:p>
                      <a:pPr marL="0" indent="0" algn="ctr">
                        <a:buNone/>
                      </a:pPr>
                      <a:r>
                        <a:rPr lang="en-US" sz="1200" b="1" dirty="0">
                          <a:solidFill>
                            <a:srgbClr val="FFFFFF"/>
                          </a:solidFill>
                        </a:rPr>
                        <a:t>What It Means</a:t>
                      </a:r>
                      <a:endParaRPr lang="en-US" sz="1200" dirty="0"/>
                    </a:p>
                  </a:txBody>
                  <a:tcPr anchor="ctr">
                    <a:lnL w="0" cap="flat" cmpd="sng" algn="ctr">
                      <a:noFill/>
                    </a:lnL>
                    <a:lnR w="0" cap="flat" cmpd="sng" algn="ctr">
                      <a:noFill/>
                    </a:lnR>
                    <a:lnT w="0" cap="flat" cmpd="sng" algn="ctr">
                      <a:noFill/>
                    </a:lnT>
                    <a:lnB w="0" cap="flat" cmpd="sng" algn="ctr">
                      <a:noFill/>
                    </a:lnB>
                    <a:solidFill>
                      <a:srgbClr val="0891B2"/>
                    </a:solidFill>
                  </a:tcPr>
                </a:tc>
              </a:tr>
              <a:tr h="548640">
                <a:tc>
                  <a:txBody>
                    <a:bodyPr/>
                    <a:lstStyle/>
                    <a:p>
                      <a:pPr marL="0" indent="0" algn="ctr">
                        <a:buNone/>
                      </a:pPr>
                      <a:r>
                        <a:rPr lang="en-US" sz="1300" dirty="0">
                          <a:solidFill>
                            <a:srgbClr val="FFFFFF"/>
                          </a:solidFill>
                        </a:rPr>
                        <a:t>Accuracy</a:t>
                      </a:r>
                      <a:endParaRPr lang="en-US" sz="13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300" b="1" dirty="0">
                          <a:solidFill>
                            <a:schemeClr val="bg1"/>
                          </a:solidFill>
                        </a:rPr>
                        <a:t>88.4%</a:t>
                      </a:r>
                      <a:endParaRPr lang="en-US" sz="13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300" dirty="0">
                          <a:solidFill>
                            <a:srgbClr val="86EFAC"/>
                          </a:solidFill>
                        </a:rPr>
                        <a:t>Good overall prediction</a:t>
                      </a:r>
                      <a:endParaRPr lang="en-US" sz="1300" dirty="0"/>
                    </a:p>
                  </a:txBody>
                  <a:tcPr anchor="ctr">
                    <a:lnL w="0" cap="flat" cmpd="sng" algn="ctr">
                      <a:noFill/>
                    </a:lnL>
                    <a:lnR w="0" cap="flat" cmpd="sng" algn="ctr">
                      <a:noFill/>
                    </a:lnR>
                    <a:lnT w="0" cap="flat" cmpd="sng" algn="ctr">
                      <a:noFill/>
                    </a:lnT>
                    <a:lnB w="0" cap="flat" cmpd="sng" algn="ctr">
                      <a:noFill/>
                    </a:lnB>
                    <a:solidFill>
                      <a:srgbClr val="1E2761"/>
                    </a:solidFill>
                  </a:tcPr>
                </a:tc>
              </a:tr>
              <a:tr h="548640">
                <a:tc>
                  <a:txBody>
                    <a:bodyPr/>
                    <a:lstStyle/>
                    <a:p>
                      <a:pPr marL="0" indent="0" algn="ctr">
                        <a:buNone/>
                      </a:pPr>
                      <a:r>
                        <a:rPr lang="en-US" sz="1300" dirty="0">
                          <a:solidFill>
                            <a:srgbClr val="FFFFFF"/>
                          </a:solidFill>
                        </a:rPr>
                        <a:t>Churn Recall</a:t>
                      </a:r>
                      <a:endParaRPr lang="en-US" sz="1300" dirty="0"/>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300" b="1" dirty="0">
                          <a:solidFill>
                            <a:schemeClr val="bg1"/>
                          </a:solidFill>
                        </a:rPr>
                        <a:t>62%</a:t>
                      </a:r>
                      <a:endParaRPr lang="en-US" sz="13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300" dirty="0">
                          <a:solidFill>
                            <a:srgbClr val="86EFAC"/>
                          </a:solidFill>
                        </a:rPr>
                        <a:t>Catches most at-risk customers</a:t>
                      </a:r>
                      <a:endParaRPr lang="en-US" sz="1300" dirty="0"/>
                    </a:p>
                  </a:txBody>
                  <a:tcPr anchor="ctr">
                    <a:lnL w="0" cap="flat" cmpd="sng" algn="ctr">
                      <a:noFill/>
                    </a:lnL>
                    <a:lnR w="0" cap="flat" cmpd="sng" algn="ctr">
                      <a:noFill/>
                    </a:lnR>
                    <a:lnT w="0" cap="flat" cmpd="sng" algn="ctr">
                      <a:noFill/>
                    </a:lnT>
                    <a:lnB w="0" cap="flat" cmpd="sng" algn="ctr">
                      <a:noFill/>
                    </a:lnB>
                    <a:solidFill>
                      <a:srgbClr val="243B55"/>
                    </a:solidFill>
                  </a:tcPr>
                </a:tc>
              </a:tr>
              <a:tr h="548640">
                <a:tc>
                  <a:txBody>
                    <a:bodyPr/>
                    <a:lstStyle/>
                    <a:p>
                      <a:pPr marL="0" indent="0" algn="ctr">
                        <a:buNone/>
                      </a:pPr>
                      <a:r>
                        <a:rPr lang="en-US" sz="1300" dirty="0">
                          <a:solidFill>
                            <a:srgbClr val="FFFFFF"/>
                          </a:solidFill>
                        </a:rPr>
                        <a:t>Churn Precision</a:t>
                      </a:r>
                      <a:endParaRPr lang="en-US" sz="13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300" b="1" dirty="0">
                          <a:solidFill>
                            <a:schemeClr val="bg1"/>
                          </a:solidFill>
                        </a:rPr>
                        <a:t>60%</a:t>
                      </a:r>
                      <a:endParaRPr lang="en-US" sz="13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300" dirty="0">
                          <a:solidFill>
                            <a:srgbClr val="86EFAC"/>
                          </a:solidFill>
                        </a:rPr>
                        <a:t>Low false alarm rate</a:t>
                      </a:r>
                      <a:endParaRPr lang="en-US" sz="1300" dirty="0"/>
                    </a:p>
                  </a:txBody>
                  <a:tcPr anchor="ctr">
                    <a:lnL w="0" cap="flat" cmpd="sng" algn="ctr">
                      <a:noFill/>
                    </a:lnL>
                    <a:lnR w="0" cap="flat" cmpd="sng" algn="ctr">
                      <a:noFill/>
                    </a:lnR>
                    <a:lnT w="0" cap="flat" cmpd="sng" algn="ctr">
                      <a:noFill/>
                    </a:lnT>
                    <a:lnB w="0" cap="flat" cmpd="sng" algn="ctr">
                      <a:noFill/>
                    </a:lnB>
                    <a:solidFill>
                      <a:srgbClr val="1E2761"/>
                    </a:solidFill>
                  </a:tcPr>
                </a:tc>
              </a:tr>
              <a:tr h="548640">
                <a:tc>
                  <a:txBody>
                    <a:bodyPr/>
                    <a:lstStyle/>
                    <a:p>
                      <a:pPr marL="0" indent="0" algn="ctr">
                        <a:buNone/>
                      </a:pPr>
                      <a:r>
                        <a:rPr lang="en-US" sz="1300" dirty="0">
                          <a:solidFill>
                            <a:srgbClr val="FFFFFF"/>
                          </a:solidFill>
                        </a:rPr>
                        <a:t>F1 Score</a:t>
                      </a:r>
                      <a:endParaRPr lang="en-US" sz="1300" dirty="0"/>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300" b="1" dirty="0">
                          <a:solidFill>
                            <a:schemeClr val="bg1"/>
                          </a:solidFill>
                        </a:rPr>
                        <a:t>0.61</a:t>
                      </a:r>
                      <a:endParaRPr lang="en-US" sz="13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300" dirty="0">
                          <a:solidFill>
                            <a:srgbClr val="86EFAC"/>
                          </a:solidFill>
                        </a:rPr>
                        <a:t>Well-balanced performance</a:t>
                      </a:r>
                      <a:endParaRPr lang="en-US" sz="1300" dirty="0"/>
                    </a:p>
                  </a:txBody>
                  <a:tcPr anchor="ctr">
                    <a:lnL w="0" cap="flat" cmpd="sng" algn="ctr">
                      <a:noFill/>
                    </a:lnL>
                    <a:lnR w="0" cap="flat" cmpd="sng" algn="ctr">
                      <a:noFill/>
                    </a:lnR>
                    <a:lnT w="0" cap="flat" cmpd="sng" algn="ctr">
                      <a:noFill/>
                    </a:lnT>
                    <a:lnB w="0" cap="flat" cmpd="sng" algn="ctr">
                      <a:noFill/>
                    </a:lnB>
                    <a:solidFill>
                      <a:srgbClr val="243B55"/>
                    </a:solidFill>
                  </a:tcPr>
                </a:tc>
              </a:tr>
            </a:tbl>
          </a:graphicData>
        </a:graphic>
      </p:graphicFrame>
      <p:sp>
        <p:nvSpPr>
          <p:cNvPr id="5" name="Text 2"/>
          <p:cNvSpPr/>
          <p:nvPr/>
        </p:nvSpPr>
        <p:spPr>
          <a:xfrm>
            <a:off x="457200" y="4343400"/>
            <a:ext cx="8229600" cy="457200"/>
          </a:xfrm>
          <a:prstGeom prst="rect">
            <a:avLst/>
          </a:prstGeom>
          <a:solidFill>
            <a:srgbClr val="1E2761"/>
          </a:solidFill>
          <a:ln>
            <a:noFill/>
          </a:ln>
        </p:spPr>
        <p:txBody>
          <a:bodyPr wrap="square" lIns="0" tIns="0" rIns="0" bIns="0" rtlCol="0" anchor="ctr"/>
          <a:lstStyle/>
          <a:p>
            <a:pPr marL="0" indent="0" algn="ctr">
              <a:buNone/>
            </a:pPr>
            <a:r>
              <a:rPr lang="en-US" sz="1300" b="1" i="1" dirty="0">
                <a:solidFill>
                  <a:srgbClr val="FFFFFF"/>
                </a:solidFill>
                <a:latin typeface="Calibri" pitchFamily="34" charset="0"/>
                <a:ea typeface="Calibri" pitchFamily="34" charset="-122"/>
                <a:cs typeface="Calibri" pitchFamily="34" charset="-120"/>
              </a:rPr>
              <a:t>A deep learning model built for scalable, probability-based churn detection.</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891B2"/>
          </a:solidFill>
          <a:ln>
            <a:noFill/>
          </a:ln>
        </p:spPr>
        <p:txBody>
          <a:bodyPr/>
          <a:lstStyle/>
          <a:p>
            <a:endParaRPr lang="en-US"/>
          </a:p>
        </p:txBody>
      </p:sp>
      <p:sp>
        <p:nvSpPr>
          <p:cNvPr id="3" name="Text 1"/>
          <p:cNvSpPr/>
          <p:nvPr/>
        </p:nvSpPr>
        <p:spPr>
          <a:xfrm>
            <a:off x="457200" y="1097280"/>
            <a:ext cx="8229600" cy="1005840"/>
          </a:xfrm>
          <a:prstGeom prst="rect">
            <a:avLst/>
          </a:prstGeom>
          <a:noFill/>
        </p:spPr>
        <p:txBody>
          <a:bodyPr wrap="square" lIns="0" tIns="0" rIns="0" bIns="0" rtlCol="0" anchor="ctr"/>
          <a:lstStyle/>
          <a:p>
            <a:pPr marL="0" indent="0" algn="ctr">
              <a:buNone/>
            </a:pPr>
            <a:r>
              <a:rPr lang="en-US" sz="5400" b="1" dirty="0">
                <a:solidFill>
                  <a:srgbClr val="1E2761"/>
                </a:solidFill>
                <a:latin typeface="Calibri" pitchFamily="34" charset="0"/>
                <a:ea typeface="Calibri" pitchFamily="34" charset="-122"/>
                <a:cs typeface="Calibri" pitchFamily="34" charset="-120"/>
              </a:rPr>
              <a:t>XGBoost</a:t>
            </a:r>
            <a:endParaRPr lang="en-US" sz="5400" dirty="0"/>
          </a:p>
        </p:txBody>
      </p:sp>
      <p:sp>
        <p:nvSpPr>
          <p:cNvPr id="4" name="Text 2"/>
          <p:cNvSpPr/>
          <p:nvPr/>
        </p:nvSpPr>
        <p:spPr>
          <a:xfrm>
            <a:off x="457200" y="2103120"/>
            <a:ext cx="8229600" cy="640080"/>
          </a:xfrm>
          <a:prstGeom prst="rect">
            <a:avLst/>
          </a:prstGeom>
          <a:noFill/>
        </p:spPr>
        <p:txBody>
          <a:bodyPr wrap="square" lIns="0" tIns="0" rIns="0" bIns="0" rtlCol="0" anchor="ctr"/>
          <a:lstStyle/>
          <a:p>
            <a:pPr marL="0" indent="0" algn="ctr">
              <a:buNone/>
            </a:pPr>
            <a:r>
              <a:rPr lang="en-US" sz="2600" dirty="0">
                <a:solidFill>
                  <a:srgbClr val="FFFFFF"/>
                </a:solidFill>
                <a:latin typeface="Calibri" pitchFamily="34" charset="0"/>
                <a:ea typeface="Calibri" pitchFamily="34" charset="-122"/>
                <a:cs typeface="Calibri" pitchFamily="34" charset="-120"/>
              </a:rPr>
              <a:t>Customer Churn Prediction</a:t>
            </a:r>
            <a:endParaRPr lang="en-US" sz="2600" dirty="0"/>
          </a:p>
        </p:txBody>
      </p:sp>
      <p:sp>
        <p:nvSpPr>
          <p:cNvPr id="5" name="Shape 3"/>
          <p:cNvSpPr/>
          <p:nvPr/>
        </p:nvSpPr>
        <p:spPr>
          <a:xfrm>
            <a:off x="3200400" y="2834640"/>
            <a:ext cx="2743200" cy="36576"/>
          </a:xfrm>
          <a:prstGeom prst="rect">
            <a:avLst/>
          </a:prstGeom>
          <a:solidFill>
            <a:srgbClr val="0891B2"/>
          </a:solidFill>
          <a:ln w="12700">
            <a:solidFill>
              <a:srgbClr val="0891B2"/>
            </a:solidFill>
            <a:prstDash val="solid"/>
          </a:ln>
        </p:spPr>
        <p:txBody>
          <a:bodyPr/>
          <a:lstStyle/>
          <a:p>
            <a:endParaRPr lang="en-US"/>
          </a:p>
        </p:txBody>
      </p:sp>
      <p:sp>
        <p:nvSpPr>
          <p:cNvPr id="6" name="Text 4"/>
          <p:cNvSpPr/>
          <p:nvPr/>
        </p:nvSpPr>
        <p:spPr>
          <a:xfrm>
            <a:off x="457200" y="3017520"/>
            <a:ext cx="8229600" cy="457200"/>
          </a:xfrm>
          <a:prstGeom prst="rect">
            <a:avLst/>
          </a:prstGeom>
          <a:noFill/>
        </p:spPr>
        <p:txBody>
          <a:bodyPr wrap="square" lIns="0" tIns="0" rIns="0" bIns="0" rtlCol="0" anchor="ctr"/>
          <a:lstStyle/>
          <a:p>
            <a:pPr marL="0" indent="0" algn="ctr">
              <a:buNone/>
            </a:pPr>
            <a:r>
              <a:rPr lang="en-US" sz="1400" i="1" dirty="0">
                <a:solidFill>
                  <a:srgbClr val="1E2761"/>
                </a:solidFill>
                <a:latin typeface="Calibri" pitchFamily="34" charset="0"/>
                <a:ea typeface="Calibri" pitchFamily="34" charset="-122"/>
                <a:cs typeface="Calibri" pitchFamily="34" charset="-120"/>
              </a:rPr>
              <a:t>Gradient Boosted Trees for Telecom Retention Strategy</a:t>
            </a:r>
            <a:endParaRPr lang="en-US" sz="1400" dirty="0"/>
          </a:p>
        </p:txBody>
      </p:sp>
      <p:sp>
        <p:nvSpPr>
          <p:cNvPr id="7" name="Text 5"/>
          <p:cNvSpPr/>
          <p:nvPr/>
        </p:nvSpPr>
        <p:spPr>
          <a:xfrm>
            <a:off x="457200" y="4206240"/>
            <a:ext cx="8229600" cy="365760"/>
          </a:xfrm>
          <a:prstGeom prst="rect">
            <a:avLst/>
          </a:prstGeom>
          <a:solidFill>
            <a:srgbClr val="1E2761"/>
          </a:solidFill>
          <a:ln>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Accuracy: 97.6%   |   F1 Score: 0.91   |   Churn Recall: 84%</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229600" cy="64008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is XGBoost?</a:t>
            </a:r>
            <a:endParaRPr lang="en-US" sz="2800" dirty="0"/>
          </a:p>
        </p:txBody>
      </p:sp>
      <p:sp>
        <p:nvSpPr>
          <p:cNvPr id="4" name="Shape 2"/>
          <p:cNvSpPr/>
          <p:nvPr/>
        </p:nvSpPr>
        <p:spPr>
          <a:xfrm>
            <a:off x="274320" y="1005840"/>
            <a:ext cx="2743200" cy="3474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1005840"/>
            <a:ext cx="2743200" cy="73152"/>
          </a:xfrm>
          <a:prstGeom prst="rect">
            <a:avLst/>
          </a:prstGeom>
          <a:solidFill>
            <a:srgbClr val="0891B2"/>
          </a:solidFill>
          <a:ln w="12700">
            <a:solidFill>
              <a:srgbClr val="0891B2"/>
            </a:solidFill>
            <a:prstDash val="solid"/>
          </a:ln>
        </p:spPr>
        <p:txBody>
          <a:bodyPr/>
          <a:lstStyle/>
          <a:p>
            <a:endParaRPr lang="en-US"/>
          </a:p>
        </p:txBody>
      </p:sp>
      <p:sp>
        <p:nvSpPr>
          <p:cNvPr id="6" name="Text 4"/>
          <p:cNvSpPr/>
          <p:nvPr/>
        </p:nvSpPr>
        <p:spPr>
          <a:xfrm>
            <a:off x="411480" y="1170432"/>
            <a:ext cx="2468880" cy="457200"/>
          </a:xfrm>
          <a:prstGeom prst="rect">
            <a:avLst/>
          </a:prstGeom>
          <a:noFill/>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Ensemble Learning</a:t>
            </a:r>
            <a:endParaRPr lang="en-US" sz="1500" dirty="0"/>
          </a:p>
        </p:txBody>
      </p:sp>
      <p:sp>
        <p:nvSpPr>
          <p:cNvPr id="7" name="Text 5"/>
          <p:cNvSpPr/>
          <p:nvPr/>
        </p:nvSpPr>
        <p:spPr>
          <a:xfrm>
            <a:off x="411480" y="1737360"/>
            <a:ext cx="2468880" cy="2560320"/>
          </a:xfrm>
          <a:prstGeom prst="rect">
            <a:avLst/>
          </a:prstGeom>
          <a:noFill/>
        </p:spPr>
        <p:txBody>
          <a:bodyPr wrap="square" lIns="0" tIns="0" rIns="0" bIns="0" rtlCol="0" anchor="t"/>
          <a:lstStyle/>
          <a:p>
            <a:pPr marL="0" indent="0">
              <a:buNone/>
            </a:pPr>
            <a:r>
              <a:rPr lang="en-US" sz="1200" dirty="0">
                <a:solidFill>
                  <a:srgbClr val="1E2761"/>
                </a:solidFill>
                <a:latin typeface="Calibri" pitchFamily="34" charset="0"/>
                <a:ea typeface="Calibri" pitchFamily="34" charset="-122"/>
                <a:cs typeface="Calibri" pitchFamily="34" charset="-120"/>
              </a:rPr>
              <a:t>XGBoost builds hundreds of decision trees sequentially, each correcting errors from the previous — creating a powerful combined model.</a:t>
            </a:r>
            <a:endParaRPr lang="en-US" sz="1200" dirty="0"/>
          </a:p>
        </p:txBody>
      </p:sp>
      <p:sp>
        <p:nvSpPr>
          <p:cNvPr id="8" name="Shape 6"/>
          <p:cNvSpPr/>
          <p:nvPr/>
        </p:nvSpPr>
        <p:spPr>
          <a:xfrm>
            <a:off x="3200400" y="1005840"/>
            <a:ext cx="2743200" cy="3474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3200400" y="1005840"/>
            <a:ext cx="2743200" cy="73152"/>
          </a:xfrm>
          <a:prstGeom prst="rect">
            <a:avLst/>
          </a:prstGeom>
          <a:solidFill>
            <a:srgbClr val="0891B2"/>
          </a:solidFill>
          <a:ln w="12700">
            <a:solidFill>
              <a:srgbClr val="0891B2"/>
            </a:solidFill>
            <a:prstDash val="solid"/>
          </a:ln>
        </p:spPr>
        <p:txBody>
          <a:bodyPr/>
          <a:lstStyle/>
          <a:p>
            <a:endParaRPr lang="en-US"/>
          </a:p>
        </p:txBody>
      </p:sp>
      <p:sp>
        <p:nvSpPr>
          <p:cNvPr id="10" name="Text 8"/>
          <p:cNvSpPr/>
          <p:nvPr/>
        </p:nvSpPr>
        <p:spPr>
          <a:xfrm>
            <a:off x="3337560" y="1170432"/>
            <a:ext cx="2468880" cy="457200"/>
          </a:xfrm>
          <a:prstGeom prst="rect">
            <a:avLst/>
          </a:prstGeom>
          <a:noFill/>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Gradient Boosting</a:t>
            </a:r>
            <a:endParaRPr lang="en-US" sz="1500" dirty="0"/>
          </a:p>
        </p:txBody>
      </p:sp>
      <p:sp>
        <p:nvSpPr>
          <p:cNvPr id="11" name="Text 9"/>
          <p:cNvSpPr/>
          <p:nvPr/>
        </p:nvSpPr>
        <p:spPr>
          <a:xfrm>
            <a:off x="3337560" y="1737360"/>
            <a:ext cx="2468880" cy="2560320"/>
          </a:xfrm>
          <a:prstGeom prst="rect">
            <a:avLst/>
          </a:prstGeom>
          <a:noFill/>
        </p:spPr>
        <p:txBody>
          <a:bodyPr wrap="square" lIns="0" tIns="0" rIns="0" bIns="0" rtlCol="0" anchor="t"/>
          <a:lstStyle/>
          <a:p>
            <a:pPr marL="0" indent="0">
              <a:buNone/>
            </a:pPr>
            <a:r>
              <a:rPr lang="en-US" sz="1200" dirty="0">
                <a:solidFill>
                  <a:srgbClr val="1E2761"/>
                </a:solidFill>
                <a:latin typeface="Calibri" pitchFamily="34" charset="0"/>
                <a:ea typeface="Calibri" pitchFamily="34" charset="-122"/>
                <a:cs typeface="Calibri" pitchFamily="34" charset="-120"/>
              </a:rPr>
              <a:t>Each new tree focuses on minimising residual errors using gradient descent, optimising a loss function to improve predictions iteratively.</a:t>
            </a:r>
            <a:endParaRPr lang="en-US" sz="1200" dirty="0"/>
          </a:p>
        </p:txBody>
      </p:sp>
      <p:sp>
        <p:nvSpPr>
          <p:cNvPr id="12" name="Shape 10"/>
          <p:cNvSpPr/>
          <p:nvPr/>
        </p:nvSpPr>
        <p:spPr>
          <a:xfrm>
            <a:off x="6126480" y="1005840"/>
            <a:ext cx="2743200" cy="3474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6126480" y="1005840"/>
            <a:ext cx="2743200" cy="73152"/>
          </a:xfrm>
          <a:prstGeom prst="rect">
            <a:avLst/>
          </a:prstGeom>
          <a:solidFill>
            <a:srgbClr val="0891B2"/>
          </a:solidFill>
          <a:ln w="12700">
            <a:solidFill>
              <a:srgbClr val="0891B2"/>
            </a:solidFill>
            <a:prstDash val="solid"/>
          </a:ln>
        </p:spPr>
        <p:txBody>
          <a:bodyPr/>
          <a:lstStyle/>
          <a:p>
            <a:endParaRPr lang="en-US"/>
          </a:p>
        </p:txBody>
      </p:sp>
      <p:sp>
        <p:nvSpPr>
          <p:cNvPr id="14" name="Text 12"/>
          <p:cNvSpPr/>
          <p:nvPr/>
        </p:nvSpPr>
        <p:spPr>
          <a:xfrm>
            <a:off x="6263640" y="1170432"/>
            <a:ext cx="2468880" cy="457200"/>
          </a:xfrm>
          <a:prstGeom prst="rect">
            <a:avLst/>
          </a:prstGeom>
          <a:noFill/>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Regularisation</a:t>
            </a:r>
            <a:endParaRPr lang="en-US" sz="1500" dirty="0"/>
          </a:p>
        </p:txBody>
      </p:sp>
      <p:sp>
        <p:nvSpPr>
          <p:cNvPr id="15" name="Text 13"/>
          <p:cNvSpPr/>
          <p:nvPr/>
        </p:nvSpPr>
        <p:spPr>
          <a:xfrm>
            <a:off x="6263640" y="1737360"/>
            <a:ext cx="2468880" cy="2560320"/>
          </a:xfrm>
          <a:prstGeom prst="rect">
            <a:avLst/>
          </a:prstGeom>
          <a:noFill/>
        </p:spPr>
        <p:txBody>
          <a:bodyPr wrap="square" lIns="0" tIns="0" rIns="0" bIns="0" rtlCol="0" anchor="t"/>
          <a:lstStyle/>
          <a:p>
            <a:pPr marL="0" indent="0">
              <a:buNone/>
            </a:pPr>
            <a:r>
              <a:rPr lang="en-US" sz="1200" dirty="0">
                <a:solidFill>
                  <a:srgbClr val="1E2761"/>
                </a:solidFill>
                <a:latin typeface="Calibri" pitchFamily="34" charset="0"/>
                <a:ea typeface="Calibri" pitchFamily="34" charset="-122"/>
                <a:cs typeface="Calibri" pitchFamily="34" charset="-120"/>
              </a:rPr>
              <a:t>Built-in L1/L2 regularisation prevents overfitting, making XGBoost robust even on smaller datasets like this telecom churn dataset.</a:t>
            </a:r>
            <a:endParaRPr lang="en-US" sz="1200" dirty="0"/>
          </a:p>
        </p:txBody>
      </p:sp>
      <p:sp>
        <p:nvSpPr>
          <p:cNvPr id="16" name="Text 14"/>
          <p:cNvSpPr/>
          <p:nvPr/>
        </p:nvSpPr>
        <p:spPr>
          <a:xfrm>
            <a:off x="457200" y="4663440"/>
            <a:ext cx="8229600" cy="320040"/>
          </a:xfrm>
          <a:prstGeom prst="rect">
            <a:avLst/>
          </a:prstGeom>
          <a:solidFill>
            <a:srgbClr val="1E2761"/>
          </a:solidFill>
          <a:ln>
            <a:noFill/>
          </a:ln>
        </p:spPr>
        <p:txBody>
          <a:bodyPr wrap="square" lIns="0" tIns="0" rIns="0" bIns="0"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Weak Tree 1  →  Weak Tree 2  →  ...  →  Weak Tree N  =  Strong Prediction</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229600" cy="64008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Why These Parameters?</a:t>
            </a:r>
            <a:endParaRPr lang="en-US" sz="2800" dirty="0"/>
          </a:p>
        </p:txBody>
      </p:sp>
      <p:sp>
        <p:nvSpPr>
          <p:cNvPr id="4" name="Shape 2"/>
          <p:cNvSpPr/>
          <p:nvPr/>
        </p:nvSpPr>
        <p:spPr>
          <a:xfrm>
            <a:off x="274320" y="960120"/>
            <a:ext cx="8595360" cy="8412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960120"/>
            <a:ext cx="64008" cy="841248"/>
          </a:xfrm>
          <a:prstGeom prst="rect">
            <a:avLst/>
          </a:prstGeom>
          <a:solidFill>
            <a:srgbClr val="0891B2"/>
          </a:solidFill>
          <a:ln w="12700">
            <a:solidFill>
              <a:srgbClr val="0891B2"/>
            </a:solidFill>
            <a:prstDash val="solid"/>
          </a:ln>
        </p:spPr>
        <p:txBody>
          <a:bodyPr/>
          <a:lstStyle/>
          <a:p>
            <a:endParaRPr lang="en-US"/>
          </a:p>
        </p:txBody>
      </p:sp>
      <p:sp>
        <p:nvSpPr>
          <p:cNvPr id="6" name="Text 4"/>
          <p:cNvSpPr/>
          <p:nvPr/>
        </p:nvSpPr>
        <p:spPr>
          <a:xfrm>
            <a:off x="502920" y="1033272"/>
            <a:ext cx="2926080" cy="320040"/>
          </a:xfrm>
          <a:prstGeom prst="rect">
            <a:avLst/>
          </a:prstGeom>
          <a:noFill/>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n_estimators = 100</a:t>
            </a:r>
            <a:endParaRPr lang="en-US" sz="1300" dirty="0"/>
          </a:p>
        </p:txBody>
      </p:sp>
      <p:sp>
        <p:nvSpPr>
          <p:cNvPr id="7" name="Text 5"/>
          <p:cNvSpPr/>
          <p:nvPr/>
        </p:nvSpPr>
        <p:spPr>
          <a:xfrm>
            <a:off x="502920" y="1399032"/>
            <a:ext cx="8138160" cy="347472"/>
          </a:xfrm>
          <a:prstGeom prst="rect">
            <a:avLst/>
          </a:prstGeom>
          <a:noFill/>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Balances accuracy and training time. 100 trees provides sufficient complexity for this dataset without overfitting or excessive compute.</a:t>
            </a:r>
            <a:endParaRPr lang="en-US" sz="1150" dirty="0"/>
          </a:p>
        </p:txBody>
      </p:sp>
      <p:sp>
        <p:nvSpPr>
          <p:cNvPr id="8" name="Shape 6"/>
          <p:cNvSpPr/>
          <p:nvPr/>
        </p:nvSpPr>
        <p:spPr>
          <a:xfrm>
            <a:off x="274320" y="1965960"/>
            <a:ext cx="8595360" cy="8412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274320" y="1965960"/>
            <a:ext cx="64008" cy="841248"/>
          </a:xfrm>
          <a:prstGeom prst="rect">
            <a:avLst/>
          </a:prstGeom>
          <a:solidFill>
            <a:srgbClr val="0891B2"/>
          </a:solidFill>
          <a:ln w="12700">
            <a:solidFill>
              <a:srgbClr val="0891B2"/>
            </a:solidFill>
            <a:prstDash val="solid"/>
          </a:ln>
        </p:spPr>
        <p:txBody>
          <a:bodyPr/>
          <a:lstStyle/>
          <a:p>
            <a:endParaRPr lang="en-US"/>
          </a:p>
        </p:txBody>
      </p:sp>
      <p:sp>
        <p:nvSpPr>
          <p:cNvPr id="10" name="Text 8"/>
          <p:cNvSpPr/>
          <p:nvPr/>
        </p:nvSpPr>
        <p:spPr>
          <a:xfrm>
            <a:off x="502920" y="2039112"/>
            <a:ext cx="2926080" cy="320040"/>
          </a:xfrm>
          <a:prstGeom prst="rect">
            <a:avLst/>
          </a:prstGeom>
          <a:noFill/>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eval_metric = 'logloss'</a:t>
            </a:r>
            <a:endParaRPr lang="en-US" sz="1300" dirty="0"/>
          </a:p>
        </p:txBody>
      </p:sp>
      <p:sp>
        <p:nvSpPr>
          <p:cNvPr id="11" name="Text 9"/>
          <p:cNvSpPr/>
          <p:nvPr/>
        </p:nvSpPr>
        <p:spPr>
          <a:xfrm>
            <a:off x="502920" y="2404872"/>
            <a:ext cx="8138160" cy="347472"/>
          </a:xfrm>
          <a:prstGeom prst="rect">
            <a:avLst/>
          </a:prstGeom>
          <a:noFill/>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Log loss is ideal for binary classification. It penalises confident wrong predictions more heavily, perfect for churn probability outputs.</a:t>
            </a:r>
            <a:endParaRPr lang="en-US" sz="1150" dirty="0"/>
          </a:p>
        </p:txBody>
      </p:sp>
      <p:sp>
        <p:nvSpPr>
          <p:cNvPr id="12" name="Shape 10"/>
          <p:cNvSpPr/>
          <p:nvPr/>
        </p:nvSpPr>
        <p:spPr>
          <a:xfrm>
            <a:off x="274320" y="2971800"/>
            <a:ext cx="8595360" cy="8412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74320" y="2971800"/>
            <a:ext cx="64008" cy="841248"/>
          </a:xfrm>
          <a:prstGeom prst="rect">
            <a:avLst/>
          </a:prstGeom>
          <a:solidFill>
            <a:srgbClr val="0891B2"/>
          </a:solidFill>
          <a:ln w="12700">
            <a:solidFill>
              <a:srgbClr val="0891B2"/>
            </a:solidFill>
            <a:prstDash val="solid"/>
          </a:ln>
        </p:spPr>
        <p:txBody>
          <a:bodyPr/>
          <a:lstStyle/>
          <a:p>
            <a:endParaRPr lang="en-US"/>
          </a:p>
        </p:txBody>
      </p:sp>
      <p:sp>
        <p:nvSpPr>
          <p:cNvPr id="14" name="Text 12"/>
          <p:cNvSpPr/>
          <p:nvPr/>
        </p:nvSpPr>
        <p:spPr>
          <a:xfrm>
            <a:off x="502920" y="3044952"/>
            <a:ext cx="2926080" cy="320040"/>
          </a:xfrm>
          <a:prstGeom prst="rect">
            <a:avLst/>
          </a:prstGeom>
          <a:noFill/>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random_state = 42</a:t>
            </a:r>
            <a:endParaRPr lang="en-US" sz="1300" dirty="0"/>
          </a:p>
        </p:txBody>
      </p:sp>
      <p:sp>
        <p:nvSpPr>
          <p:cNvPr id="15" name="Text 13"/>
          <p:cNvSpPr/>
          <p:nvPr/>
        </p:nvSpPr>
        <p:spPr>
          <a:xfrm>
            <a:off x="502920" y="3410712"/>
            <a:ext cx="8138160" cy="347472"/>
          </a:xfrm>
          <a:prstGeom prst="rect">
            <a:avLst/>
          </a:prstGeom>
          <a:noFill/>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Ensures reproducibility. Every team member gets identical results when re-running the notebook — critical for a group project.</a:t>
            </a:r>
            <a:endParaRPr lang="en-US" sz="1150" dirty="0"/>
          </a:p>
        </p:txBody>
      </p:sp>
      <p:sp>
        <p:nvSpPr>
          <p:cNvPr id="16" name="Shape 14"/>
          <p:cNvSpPr/>
          <p:nvPr/>
        </p:nvSpPr>
        <p:spPr>
          <a:xfrm>
            <a:off x="274320" y="3977640"/>
            <a:ext cx="8595360" cy="841248"/>
          </a:xfrm>
          <a:prstGeom prst="rect">
            <a:avLst/>
          </a:prstGeom>
          <a:solidFill>
            <a:srgbClr val="1E2761"/>
          </a:solidFill>
          <a:ln>
            <a:noFill/>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274320" y="3977640"/>
            <a:ext cx="64008" cy="841248"/>
          </a:xfrm>
          <a:prstGeom prst="rect">
            <a:avLst/>
          </a:prstGeom>
          <a:solidFill>
            <a:srgbClr val="0891B2"/>
          </a:solidFill>
          <a:ln w="12700">
            <a:solidFill>
              <a:srgbClr val="0891B2"/>
            </a:solidFill>
            <a:prstDash val="solid"/>
          </a:ln>
        </p:spPr>
        <p:txBody>
          <a:bodyPr/>
          <a:lstStyle/>
          <a:p>
            <a:endParaRPr lang="en-US"/>
          </a:p>
        </p:txBody>
      </p:sp>
      <p:sp>
        <p:nvSpPr>
          <p:cNvPr id="18" name="Text 16"/>
          <p:cNvSpPr/>
          <p:nvPr/>
        </p:nvSpPr>
        <p:spPr>
          <a:xfrm>
            <a:off x="502920" y="4050792"/>
            <a:ext cx="2926080" cy="320040"/>
          </a:xfrm>
          <a:prstGeom prst="rect">
            <a:avLst/>
          </a:prstGeom>
          <a:noFill/>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StandardScaler (preprocessing)</a:t>
            </a:r>
            <a:endParaRPr lang="en-US" sz="1300" dirty="0"/>
          </a:p>
        </p:txBody>
      </p:sp>
      <p:sp>
        <p:nvSpPr>
          <p:cNvPr id="19" name="Text 17"/>
          <p:cNvSpPr/>
          <p:nvPr/>
        </p:nvSpPr>
        <p:spPr>
          <a:xfrm>
            <a:off x="502920" y="4416552"/>
            <a:ext cx="8138160" cy="347472"/>
          </a:xfrm>
          <a:prstGeom prst="rect">
            <a:avLst/>
          </a:prstGeom>
          <a:solidFill>
            <a:srgbClr val="1E2761"/>
          </a:solidFill>
          <a:ln>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Applied for consistency across the pipeline. While XGBoost is tree-based and scale-invariant, scaling was used to standardise all models.</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229600" cy="64008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Model Results</a:t>
            </a:r>
            <a:endParaRPr lang="en-US" sz="2800" dirty="0"/>
          </a:p>
        </p:txBody>
      </p:sp>
      <p:sp>
        <p:nvSpPr>
          <p:cNvPr id="4" name="Shape 2"/>
          <p:cNvSpPr/>
          <p:nvPr/>
        </p:nvSpPr>
        <p:spPr>
          <a:xfrm>
            <a:off x="228600" y="960120"/>
            <a:ext cx="1051560" cy="1463040"/>
          </a:xfrm>
          <a:prstGeom prst="rect">
            <a:avLst/>
          </a:prstGeom>
          <a:solidFill>
            <a:srgbClr val="EEF2F7"/>
          </a:solidFill>
          <a:ln>
            <a:noFill/>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228600" y="1097280"/>
            <a:ext cx="1051560" cy="640080"/>
          </a:xfrm>
          <a:prstGeom prst="rect">
            <a:avLst/>
          </a:prstGeom>
          <a:noFill/>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97.6%</a:t>
            </a:r>
            <a:endParaRPr lang="en-US" sz="2200" dirty="0"/>
          </a:p>
        </p:txBody>
      </p:sp>
      <p:sp>
        <p:nvSpPr>
          <p:cNvPr id="6" name="Text 4"/>
          <p:cNvSpPr/>
          <p:nvPr/>
        </p:nvSpPr>
        <p:spPr>
          <a:xfrm>
            <a:off x="228600" y="1828800"/>
            <a:ext cx="1051560" cy="457200"/>
          </a:xfrm>
          <a:prstGeom prst="rect">
            <a:avLst/>
          </a:prstGeom>
          <a:noFill/>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Overall Accuracy</a:t>
            </a:r>
            <a:endParaRPr lang="en-US" sz="900" dirty="0"/>
          </a:p>
        </p:txBody>
      </p:sp>
      <p:sp>
        <p:nvSpPr>
          <p:cNvPr id="7" name="Shape 5"/>
          <p:cNvSpPr/>
          <p:nvPr/>
        </p:nvSpPr>
        <p:spPr>
          <a:xfrm>
            <a:off x="1399032" y="960120"/>
            <a:ext cx="1051560" cy="1463040"/>
          </a:xfrm>
          <a:prstGeom prst="rect">
            <a:avLst/>
          </a:prstGeom>
          <a:solidFill>
            <a:srgbClr val="EEF2F7"/>
          </a:solidFill>
          <a:ln>
            <a:noFill/>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1399032" y="1097280"/>
            <a:ext cx="1051560" cy="640080"/>
          </a:xfrm>
          <a:prstGeom prst="rect">
            <a:avLst/>
          </a:prstGeom>
          <a:noFill/>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84%</a:t>
            </a:r>
            <a:endParaRPr lang="en-US" sz="2200" dirty="0"/>
          </a:p>
        </p:txBody>
      </p:sp>
      <p:sp>
        <p:nvSpPr>
          <p:cNvPr id="9" name="Text 7"/>
          <p:cNvSpPr/>
          <p:nvPr/>
        </p:nvSpPr>
        <p:spPr>
          <a:xfrm>
            <a:off x="1399032" y="1828800"/>
            <a:ext cx="1051560" cy="457200"/>
          </a:xfrm>
          <a:prstGeom prst="rect">
            <a:avLst/>
          </a:prstGeom>
          <a:noFill/>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Churn Recall</a:t>
            </a:r>
            <a:endParaRPr lang="en-US" sz="900" dirty="0"/>
          </a:p>
        </p:txBody>
      </p:sp>
      <p:sp>
        <p:nvSpPr>
          <p:cNvPr id="10" name="Shape 8"/>
          <p:cNvSpPr/>
          <p:nvPr/>
        </p:nvSpPr>
        <p:spPr>
          <a:xfrm>
            <a:off x="2569464" y="960120"/>
            <a:ext cx="1051560" cy="1463040"/>
          </a:xfrm>
          <a:prstGeom prst="rect">
            <a:avLst/>
          </a:prstGeom>
          <a:solidFill>
            <a:srgbClr val="EEF2F7"/>
          </a:solidFill>
          <a:ln>
            <a:noFill/>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2569464" y="1097280"/>
            <a:ext cx="1051560" cy="640080"/>
          </a:xfrm>
          <a:prstGeom prst="rect">
            <a:avLst/>
          </a:prstGeom>
          <a:noFill/>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100%</a:t>
            </a:r>
            <a:endParaRPr lang="en-US" sz="2200" dirty="0"/>
          </a:p>
        </p:txBody>
      </p:sp>
      <p:sp>
        <p:nvSpPr>
          <p:cNvPr id="12" name="Text 10"/>
          <p:cNvSpPr/>
          <p:nvPr/>
        </p:nvSpPr>
        <p:spPr>
          <a:xfrm>
            <a:off x="2569464" y="1828800"/>
            <a:ext cx="1051560" cy="457200"/>
          </a:xfrm>
          <a:prstGeom prst="rect">
            <a:avLst/>
          </a:prstGeom>
          <a:noFill/>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Churn Precision</a:t>
            </a:r>
            <a:endParaRPr lang="en-US" sz="900" dirty="0"/>
          </a:p>
        </p:txBody>
      </p:sp>
      <p:sp>
        <p:nvSpPr>
          <p:cNvPr id="13" name="Shape 11"/>
          <p:cNvSpPr/>
          <p:nvPr/>
        </p:nvSpPr>
        <p:spPr>
          <a:xfrm>
            <a:off x="3739896" y="960120"/>
            <a:ext cx="1051560" cy="1463040"/>
          </a:xfrm>
          <a:prstGeom prst="rect">
            <a:avLst/>
          </a:prstGeom>
          <a:solidFill>
            <a:srgbClr val="EEF2F7"/>
          </a:solidFill>
          <a:ln>
            <a:noFill/>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3739896" y="1097280"/>
            <a:ext cx="1051560" cy="640080"/>
          </a:xfrm>
          <a:prstGeom prst="rect">
            <a:avLst/>
          </a:prstGeom>
          <a:noFill/>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0.91</a:t>
            </a:r>
            <a:endParaRPr lang="en-US" sz="2200" dirty="0"/>
          </a:p>
        </p:txBody>
      </p:sp>
      <p:sp>
        <p:nvSpPr>
          <p:cNvPr id="15" name="Text 13"/>
          <p:cNvSpPr/>
          <p:nvPr/>
        </p:nvSpPr>
        <p:spPr>
          <a:xfrm>
            <a:off x="3739896" y="1828800"/>
            <a:ext cx="1051560" cy="457200"/>
          </a:xfrm>
          <a:prstGeom prst="rect">
            <a:avLst/>
          </a:prstGeom>
          <a:noFill/>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F1 Score (Churn)</a:t>
            </a:r>
            <a:endParaRPr lang="en-US" sz="900" dirty="0"/>
          </a:p>
        </p:txBody>
      </p:sp>
      <p:sp>
        <p:nvSpPr>
          <p:cNvPr id="16" name="Text 14"/>
          <p:cNvSpPr/>
          <p:nvPr/>
        </p:nvSpPr>
        <p:spPr>
          <a:xfrm>
            <a:off x="274320" y="2606040"/>
            <a:ext cx="4114800" cy="32004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Confusion Matrix</a:t>
            </a:r>
            <a:endParaRPr lang="en-US" sz="1400" dirty="0"/>
          </a:p>
        </p:txBody>
      </p:sp>
      <p:graphicFrame>
        <p:nvGraphicFramePr>
          <p:cNvPr id="17" name="Table 0"/>
          <p:cNvGraphicFramePr>
            <a:graphicFrameLocks noGrp="1"/>
          </p:cNvGraphicFramePr>
          <p:nvPr/>
        </p:nvGraphicFramePr>
        <p:xfrm>
          <a:off x="274320" y="2971800"/>
          <a:ext cx="4572000" cy="1920240"/>
        </p:xfrm>
        <a:graphic>
          <a:graphicData uri="http://schemas.openxmlformats.org/drawingml/2006/table">
            <a:tbl>
              <a:tblPr/>
              <a:tblGrid>
                <a:gridCol w="1463040"/>
                <a:gridCol w="1554480"/>
                <a:gridCol w="1554480"/>
              </a:tblGrid>
              <a:tr h="640080">
                <a:tc>
                  <a:txBody>
                    <a:bodyPr/>
                    <a:lstStyle/>
                    <a:p>
                      <a:pPr marL="0" indent="0" algn="ctr">
                        <a:buNone/>
                      </a:pP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000" b="1" dirty="0">
                          <a:solidFill>
                            <a:srgbClr val="FFFFFF"/>
                          </a:solidFill>
                        </a:rPr>
                        <a:t>Predicted: No Churn</a:t>
                      </a: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000" b="1" dirty="0">
                          <a:solidFill>
                            <a:srgbClr val="FFFFFF"/>
                          </a:solidFill>
                        </a:rPr>
                        <a:t>Predicted: Churn</a:t>
                      </a: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r>
              <a:tr h="640080">
                <a:tc>
                  <a:txBody>
                    <a:bodyPr/>
                    <a:lstStyle/>
                    <a:p>
                      <a:pPr marL="0" indent="0" algn="ctr">
                        <a:buNone/>
                      </a:pPr>
                      <a:r>
                        <a:rPr lang="en-US" sz="1000" b="1" dirty="0">
                          <a:solidFill>
                            <a:srgbClr val="FFFFFF"/>
                          </a:solidFill>
                        </a:rPr>
                        <a:t>Actual: No Churn</a:t>
                      </a: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600" b="1" dirty="0">
                          <a:solidFill>
                            <a:srgbClr val="FFFFFF"/>
                          </a:solidFill>
                        </a:rPr>
                        <a:t>455</a:t>
                      </a:r>
                      <a:endParaRPr lang="en-US" sz="1600" dirty="0"/>
                    </a:p>
                  </a:txBody>
                  <a:tcPr anchor="ctr">
                    <a:lnL w="0" cap="flat" cmpd="sng" algn="ctr">
                      <a:noFill/>
                    </a:lnL>
                    <a:lnR w="0" cap="flat" cmpd="sng" algn="ctr">
                      <a:noFill/>
                    </a:lnR>
                    <a:lnT w="0" cap="flat" cmpd="sng" algn="ctr">
                      <a:noFill/>
                    </a:lnT>
                    <a:lnB w="0" cap="flat" cmpd="sng" algn="ctr">
                      <a:noFill/>
                    </a:lnB>
                    <a:solidFill>
                      <a:srgbClr val="166534"/>
                    </a:solidFill>
                  </a:tcPr>
                </a:tc>
                <a:tc>
                  <a:txBody>
                    <a:bodyPr/>
                    <a:lstStyle/>
                    <a:p>
                      <a:pPr marL="0" indent="0" algn="ctr">
                        <a:buNone/>
                      </a:pPr>
                      <a:r>
                        <a:rPr lang="en-US" sz="1600" dirty="0">
                          <a:solidFill>
                            <a:srgbClr val="FFFFFF"/>
                          </a:solidFill>
                        </a:rPr>
                        <a:t>0</a:t>
                      </a:r>
                      <a:endParaRPr lang="en-US" sz="1600" dirty="0"/>
                    </a:p>
                  </a:txBody>
                  <a:tcPr anchor="ctr">
                    <a:lnL w="0" cap="flat" cmpd="sng" algn="ctr">
                      <a:noFill/>
                    </a:lnL>
                    <a:lnR w="0" cap="flat" cmpd="sng" algn="ctr">
                      <a:noFill/>
                    </a:lnR>
                    <a:lnT w="0" cap="flat" cmpd="sng" algn="ctr">
                      <a:noFill/>
                    </a:lnT>
                    <a:lnB w="0" cap="flat" cmpd="sng" algn="ctr">
                      <a:noFill/>
                    </a:lnB>
                    <a:solidFill>
                      <a:srgbClr val="7F1D1D"/>
                    </a:solidFill>
                  </a:tcPr>
                </a:tc>
              </a:tr>
              <a:tr h="640080">
                <a:tc>
                  <a:txBody>
                    <a:bodyPr/>
                    <a:lstStyle/>
                    <a:p>
                      <a:pPr marL="0" indent="0" algn="ctr">
                        <a:buNone/>
                      </a:pPr>
                      <a:r>
                        <a:rPr lang="en-US" sz="1000" b="1" dirty="0">
                          <a:solidFill>
                            <a:srgbClr val="FFFFFF"/>
                          </a:solidFill>
                        </a:rPr>
                        <a:t>Actual: Churn</a:t>
                      </a: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600" dirty="0">
                          <a:solidFill>
                            <a:srgbClr val="FFFFFF"/>
                          </a:solidFill>
                        </a:rPr>
                        <a:t>13</a:t>
                      </a:r>
                      <a:endParaRPr lang="en-US" sz="1600" dirty="0"/>
                    </a:p>
                  </a:txBody>
                  <a:tcPr anchor="ctr">
                    <a:lnL w="0" cap="flat" cmpd="sng" algn="ctr">
                      <a:noFill/>
                    </a:lnL>
                    <a:lnR w="0" cap="flat" cmpd="sng" algn="ctr">
                      <a:noFill/>
                    </a:lnR>
                    <a:lnT w="0" cap="flat" cmpd="sng" algn="ctr">
                      <a:noFill/>
                    </a:lnT>
                    <a:lnB w="0" cap="flat" cmpd="sng" algn="ctr">
                      <a:noFill/>
                    </a:lnB>
                    <a:solidFill>
                      <a:srgbClr val="7F1D1D"/>
                    </a:solidFill>
                  </a:tcPr>
                </a:tc>
                <a:tc>
                  <a:txBody>
                    <a:bodyPr/>
                    <a:lstStyle/>
                    <a:p>
                      <a:pPr marL="0" indent="0" algn="ctr">
                        <a:buNone/>
                      </a:pPr>
                      <a:r>
                        <a:rPr lang="en-US" sz="1600" b="1" dirty="0">
                          <a:solidFill>
                            <a:srgbClr val="FFFFFF"/>
                          </a:solidFill>
                        </a:rPr>
                        <a:t>66</a:t>
                      </a:r>
                      <a:endParaRPr lang="en-US" sz="1600" dirty="0"/>
                    </a:p>
                  </a:txBody>
                  <a:tcPr anchor="ctr">
                    <a:lnL w="0" cap="flat" cmpd="sng" algn="ctr">
                      <a:noFill/>
                    </a:lnL>
                    <a:lnR w="0" cap="flat" cmpd="sng" algn="ctr">
                      <a:noFill/>
                    </a:lnR>
                    <a:lnT w="0" cap="flat" cmpd="sng" algn="ctr">
                      <a:noFill/>
                    </a:lnT>
                    <a:lnB w="0" cap="flat" cmpd="sng" algn="ctr">
                      <a:noFill/>
                    </a:lnB>
                    <a:solidFill>
                      <a:srgbClr val="166534"/>
                    </a:solidFill>
                  </a:tcPr>
                </a:tc>
              </a:tr>
            </a:tbl>
          </a:graphicData>
        </a:graphic>
      </p:graphicFrame>
      <p:graphicFrame>
        <p:nvGraphicFramePr>
          <p:cNvPr id="19" name="Chart 0"/>
          <p:cNvGraphicFramePr/>
          <p:nvPr>
            <p:custDataLst>
              <p:tags r:id="rId2"/>
            </p:custDataLst>
          </p:nvPr>
        </p:nvGraphicFramePr>
        <p:xfrm>
          <a:off x="5029200" y="960120"/>
          <a:ext cx="3840480" cy="393192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229600" cy="64008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Business Impact</a:t>
            </a:r>
            <a:endParaRPr lang="en-US" sz="2800" dirty="0"/>
          </a:p>
        </p:txBody>
      </p:sp>
      <p:sp>
        <p:nvSpPr>
          <p:cNvPr id="4" name="Shape 2"/>
          <p:cNvSpPr/>
          <p:nvPr/>
        </p:nvSpPr>
        <p:spPr>
          <a:xfrm>
            <a:off x="274320" y="96012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960120"/>
            <a:ext cx="4160520" cy="64008"/>
          </a:xfrm>
          <a:prstGeom prst="rect">
            <a:avLst/>
          </a:prstGeom>
          <a:solidFill>
            <a:srgbClr val="0891B2"/>
          </a:solidFill>
          <a:ln w="12700">
            <a:solidFill>
              <a:srgbClr val="0891B2"/>
            </a:solidFill>
            <a:prstDash val="solid"/>
          </a:ln>
        </p:spPr>
        <p:txBody>
          <a:bodyPr/>
          <a:lstStyle/>
          <a:p>
            <a:endParaRPr lang="en-US"/>
          </a:p>
        </p:txBody>
      </p:sp>
      <p:sp>
        <p:nvSpPr>
          <p:cNvPr id="6" name="Text 4"/>
          <p:cNvSpPr/>
          <p:nvPr/>
        </p:nvSpPr>
        <p:spPr>
          <a:xfrm>
            <a:off x="457200" y="109728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  Early Churn Detection</a:t>
            </a:r>
            <a:endParaRPr lang="en-US" sz="1400" dirty="0"/>
          </a:p>
        </p:txBody>
      </p:sp>
      <p:sp>
        <p:nvSpPr>
          <p:cNvPr id="7" name="Text 5"/>
          <p:cNvSpPr/>
          <p:nvPr/>
        </p:nvSpPr>
        <p:spPr>
          <a:xfrm>
            <a:off x="457200" y="155448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XGBoost correctly flags 84% of customers who will churn, giving retention teams time to intervene before the customer leaves.</a:t>
            </a:r>
            <a:endParaRPr lang="en-US" sz="1150" dirty="0"/>
          </a:p>
        </p:txBody>
      </p:sp>
      <p:sp>
        <p:nvSpPr>
          <p:cNvPr id="8" name="Shape 6"/>
          <p:cNvSpPr/>
          <p:nvPr/>
        </p:nvSpPr>
        <p:spPr>
          <a:xfrm>
            <a:off x="4709160" y="96012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709160" y="960120"/>
            <a:ext cx="4160520" cy="64008"/>
          </a:xfrm>
          <a:prstGeom prst="rect">
            <a:avLst/>
          </a:prstGeom>
          <a:solidFill>
            <a:srgbClr val="0891B2"/>
          </a:solidFill>
          <a:ln w="12700">
            <a:solidFill>
              <a:srgbClr val="0891B2"/>
            </a:solidFill>
            <a:prstDash val="solid"/>
          </a:ln>
        </p:spPr>
        <p:txBody>
          <a:bodyPr/>
          <a:lstStyle/>
          <a:p>
            <a:endParaRPr lang="en-US"/>
          </a:p>
        </p:txBody>
      </p:sp>
      <p:sp>
        <p:nvSpPr>
          <p:cNvPr id="10" name="Text 8"/>
          <p:cNvSpPr/>
          <p:nvPr/>
        </p:nvSpPr>
        <p:spPr>
          <a:xfrm>
            <a:off x="4892040" y="109728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  Zero False Positives</a:t>
            </a:r>
            <a:endParaRPr lang="en-US" sz="1400" dirty="0"/>
          </a:p>
        </p:txBody>
      </p:sp>
      <p:sp>
        <p:nvSpPr>
          <p:cNvPr id="11" name="Text 9"/>
          <p:cNvSpPr/>
          <p:nvPr/>
        </p:nvSpPr>
        <p:spPr>
          <a:xfrm>
            <a:off x="4892040" y="155448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100% precision means every flagged customer is a genuine churn risk. Retention budgets are not wasted on loyal customers.</a:t>
            </a:r>
            <a:endParaRPr lang="en-US" sz="1150" dirty="0"/>
          </a:p>
        </p:txBody>
      </p:sp>
      <p:sp>
        <p:nvSpPr>
          <p:cNvPr id="12" name="Shape 10"/>
          <p:cNvSpPr/>
          <p:nvPr/>
        </p:nvSpPr>
        <p:spPr>
          <a:xfrm>
            <a:off x="274320" y="292608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74320" y="2926080"/>
            <a:ext cx="4160520" cy="64008"/>
          </a:xfrm>
          <a:prstGeom prst="rect">
            <a:avLst/>
          </a:prstGeom>
          <a:solidFill>
            <a:srgbClr val="0891B2"/>
          </a:solidFill>
          <a:ln w="12700">
            <a:solidFill>
              <a:srgbClr val="0891B2"/>
            </a:solidFill>
            <a:prstDash val="solid"/>
          </a:ln>
        </p:spPr>
        <p:txBody>
          <a:bodyPr/>
          <a:lstStyle/>
          <a:p>
            <a:endParaRPr lang="en-US"/>
          </a:p>
        </p:txBody>
      </p:sp>
      <p:sp>
        <p:nvSpPr>
          <p:cNvPr id="14" name="Text 12"/>
          <p:cNvSpPr/>
          <p:nvPr/>
        </p:nvSpPr>
        <p:spPr>
          <a:xfrm>
            <a:off x="457200" y="306324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  Key Risk Drivers Identified</a:t>
            </a:r>
            <a:endParaRPr lang="en-US" sz="1400" dirty="0"/>
          </a:p>
        </p:txBody>
      </p:sp>
      <p:sp>
        <p:nvSpPr>
          <p:cNvPr id="15" name="Text 13"/>
          <p:cNvSpPr/>
          <p:nvPr/>
        </p:nvSpPr>
        <p:spPr>
          <a:xfrm>
            <a:off x="457200" y="352044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Top features — total day minutes, charges, and service calls — are directly actionable signals for customer success teams.</a:t>
            </a:r>
            <a:endParaRPr lang="en-US" sz="1150" dirty="0"/>
          </a:p>
        </p:txBody>
      </p:sp>
      <p:sp>
        <p:nvSpPr>
          <p:cNvPr id="16" name="Shape 14"/>
          <p:cNvSpPr/>
          <p:nvPr/>
        </p:nvSpPr>
        <p:spPr>
          <a:xfrm>
            <a:off x="4709160" y="292608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709160" y="2926080"/>
            <a:ext cx="4160520" cy="64008"/>
          </a:xfrm>
          <a:prstGeom prst="rect">
            <a:avLst/>
          </a:prstGeom>
          <a:solidFill>
            <a:srgbClr val="0891B2"/>
          </a:solidFill>
          <a:ln w="12700">
            <a:solidFill>
              <a:srgbClr val="0891B2"/>
            </a:solidFill>
            <a:prstDash val="solid"/>
          </a:ln>
        </p:spPr>
        <p:txBody>
          <a:bodyPr/>
          <a:lstStyle/>
          <a:p>
            <a:endParaRPr lang="en-US"/>
          </a:p>
        </p:txBody>
      </p:sp>
      <p:sp>
        <p:nvSpPr>
          <p:cNvPr id="18" name="Text 16"/>
          <p:cNvSpPr/>
          <p:nvPr/>
        </p:nvSpPr>
        <p:spPr>
          <a:xfrm>
            <a:off x="4892040" y="306324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  Cost Savings at Scale</a:t>
            </a:r>
            <a:endParaRPr lang="en-US" sz="1400" dirty="0"/>
          </a:p>
        </p:txBody>
      </p:sp>
      <p:sp>
        <p:nvSpPr>
          <p:cNvPr id="19" name="Text 17"/>
          <p:cNvSpPr/>
          <p:nvPr/>
        </p:nvSpPr>
        <p:spPr>
          <a:xfrm>
            <a:off x="4892040" y="352044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Acquiring a new customer costs 5-7x more than retaining one. With 97.6% accuracy, XGBoost enables targeted retention at scale.</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891B2"/>
          </a:solidFill>
          <a:ln>
            <a:noFill/>
          </a:ln>
        </p:spPr>
        <p:txBody>
          <a:bodyPr/>
          <a:lstStyle/>
          <a:p>
            <a:endParaRPr lang="en-US"/>
          </a:p>
        </p:txBody>
      </p:sp>
      <p:sp>
        <p:nvSpPr>
          <p:cNvPr id="3" name="Text 1"/>
          <p:cNvSpPr/>
          <p:nvPr/>
        </p:nvSpPr>
        <p:spPr>
          <a:xfrm>
            <a:off x="457200" y="457200"/>
            <a:ext cx="8229600" cy="640080"/>
          </a:xfrm>
          <a:prstGeom prst="rect">
            <a:avLst/>
          </a:prstGeom>
          <a:noFill/>
        </p:spPr>
        <p:txBody>
          <a:bodyPr wrap="square" lIns="0" tIns="0" rIns="0" bIns="0" rtlCol="0" anchor="ctr"/>
          <a:lstStyle/>
          <a:p>
            <a:pPr marL="0" indent="0" algn="ctr">
              <a:buNone/>
            </a:pPr>
            <a:r>
              <a:rPr lang="en-US" sz="3000" b="1" dirty="0">
                <a:solidFill>
                  <a:srgbClr val="002060"/>
                </a:solidFill>
                <a:latin typeface="Calibri" pitchFamily="34" charset="0"/>
                <a:ea typeface="Calibri" pitchFamily="34" charset="-122"/>
                <a:cs typeface="Calibri" pitchFamily="34" charset="-120"/>
              </a:rPr>
              <a:t>XGBoost: Key Takeaways</a:t>
            </a:r>
            <a:endParaRPr lang="en-US" sz="3000" b="1" dirty="0">
              <a:solidFill>
                <a:srgbClr val="002060"/>
              </a:solidFill>
              <a:latin typeface="Calibri" pitchFamily="34" charset="0"/>
              <a:ea typeface="Calibri" pitchFamily="34" charset="-122"/>
              <a:cs typeface="Calibri" pitchFamily="34" charset="-120"/>
            </a:endParaRPr>
          </a:p>
        </p:txBody>
      </p:sp>
      <p:graphicFrame>
        <p:nvGraphicFramePr>
          <p:cNvPr id="7" name="Table 0"/>
          <p:cNvGraphicFramePr>
            <a:graphicFrameLocks noGrp="1"/>
          </p:cNvGraphicFramePr>
          <p:nvPr/>
        </p:nvGraphicFramePr>
        <p:xfrm>
          <a:off x="1371600" y="1280160"/>
          <a:ext cx="6400800" cy="2743200"/>
        </p:xfrm>
        <a:graphic>
          <a:graphicData uri="http://schemas.openxmlformats.org/drawingml/2006/table">
            <a:tbl>
              <a:tblPr/>
              <a:tblGrid>
                <a:gridCol w="2286000"/>
                <a:gridCol w="1828800"/>
                <a:gridCol w="2286000"/>
              </a:tblGrid>
              <a:tr h="548640">
                <a:tc>
                  <a:txBody>
                    <a:bodyPr/>
                    <a:lstStyle/>
                    <a:p>
                      <a:pPr marL="0" indent="0" algn="ctr">
                        <a:buNone/>
                      </a:pPr>
                      <a:r>
                        <a:rPr lang="en-US" sz="1200" b="1" dirty="0">
                          <a:solidFill>
                            <a:srgbClr val="FFFFFF"/>
                          </a:solidFill>
                        </a:rPr>
                        <a:t>Metric</a:t>
                      </a:r>
                      <a:endParaRPr lang="en-US" sz="1200" dirty="0"/>
                    </a:p>
                  </a:txBody>
                  <a:tcPr anchor="ctr">
                    <a:lnL w="0" cap="flat" cmpd="sng" algn="ctr">
                      <a:noFill/>
                    </a:lnL>
                    <a:lnR w="0" cap="flat" cmpd="sng" algn="ctr">
                      <a:noFill/>
                    </a:lnR>
                    <a:lnT w="0" cap="flat" cmpd="sng" algn="ctr">
                      <a:noFill/>
                    </a:lnT>
                    <a:lnB w="0" cap="flat" cmpd="sng" algn="ctr">
                      <a:noFill/>
                    </a:lnB>
                    <a:solidFill>
                      <a:srgbClr val="0891B2"/>
                    </a:solidFill>
                  </a:tcPr>
                </a:tc>
                <a:tc>
                  <a:txBody>
                    <a:bodyPr/>
                    <a:lstStyle/>
                    <a:p>
                      <a:pPr marL="0" indent="0" algn="ctr">
                        <a:buNone/>
                      </a:pPr>
                      <a:r>
                        <a:rPr lang="en-US" sz="1200" b="1" dirty="0">
                          <a:solidFill>
                            <a:srgbClr val="FFFFFF"/>
                          </a:solidFill>
                        </a:rPr>
                        <a:t>Score</a:t>
                      </a:r>
                      <a:endParaRPr lang="en-US" sz="1200" dirty="0"/>
                    </a:p>
                  </a:txBody>
                  <a:tcPr anchor="ctr">
                    <a:lnL w="0" cap="flat" cmpd="sng" algn="ctr">
                      <a:noFill/>
                    </a:lnL>
                    <a:lnR w="0" cap="flat" cmpd="sng" algn="ctr">
                      <a:noFill/>
                    </a:lnR>
                    <a:lnT w="0" cap="flat" cmpd="sng" algn="ctr">
                      <a:noFill/>
                    </a:lnT>
                    <a:lnB w="0" cap="flat" cmpd="sng" algn="ctr">
                      <a:noFill/>
                    </a:lnB>
                    <a:solidFill>
                      <a:srgbClr val="0891B2"/>
                    </a:solidFill>
                  </a:tcPr>
                </a:tc>
                <a:tc>
                  <a:txBody>
                    <a:bodyPr/>
                    <a:lstStyle/>
                    <a:p>
                      <a:pPr marL="0" indent="0" algn="ctr">
                        <a:buNone/>
                      </a:pPr>
                      <a:r>
                        <a:rPr lang="en-US" sz="1200" b="1" dirty="0">
                          <a:solidFill>
                            <a:srgbClr val="FFFFFF"/>
                          </a:solidFill>
                        </a:rPr>
                        <a:t>Benchmark</a:t>
                      </a:r>
                      <a:endParaRPr lang="en-US" sz="1200" dirty="0"/>
                    </a:p>
                  </a:txBody>
                  <a:tcPr anchor="ctr">
                    <a:lnL w="0" cap="flat" cmpd="sng" algn="ctr">
                      <a:noFill/>
                    </a:lnL>
                    <a:lnR w="0" cap="flat" cmpd="sng" algn="ctr">
                      <a:noFill/>
                    </a:lnR>
                    <a:lnT w="0" cap="flat" cmpd="sng" algn="ctr">
                      <a:noFill/>
                    </a:lnT>
                    <a:lnB w="0" cap="flat" cmpd="sng" algn="ctr">
                      <a:noFill/>
                    </a:lnB>
                    <a:solidFill>
                      <a:srgbClr val="0891B2"/>
                    </a:solidFill>
                  </a:tcPr>
                </a:tc>
              </a:tr>
              <a:tr h="548640">
                <a:tc>
                  <a:txBody>
                    <a:bodyPr/>
                    <a:lstStyle/>
                    <a:p>
                      <a:pPr marL="0" indent="0" algn="ctr">
                        <a:buNone/>
                      </a:pPr>
                      <a:r>
                        <a:rPr lang="en-US" sz="1300" dirty="0">
                          <a:solidFill>
                            <a:srgbClr val="FFFFFF"/>
                          </a:solidFill>
                        </a:rPr>
                        <a:t>Accuracy</a:t>
                      </a:r>
                      <a:endParaRPr lang="en-US" sz="13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300" b="1" dirty="0">
                          <a:solidFill>
                            <a:schemeClr val="bg1"/>
                          </a:solidFill>
                        </a:rPr>
                        <a:t>97.6%</a:t>
                      </a:r>
                      <a:endParaRPr lang="en-US" sz="13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300" dirty="0">
                          <a:solidFill>
                            <a:srgbClr val="86EFAC"/>
                          </a:solidFill>
                        </a:rPr>
                        <a:t>Best in pipeline</a:t>
                      </a:r>
                      <a:endParaRPr lang="en-US" sz="1300" dirty="0"/>
                    </a:p>
                  </a:txBody>
                  <a:tcPr anchor="ctr">
                    <a:lnL w="0" cap="flat" cmpd="sng" algn="ctr">
                      <a:noFill/>
                    </a:lnL>
                    <a:lnR w="0" cap="flat" cmpd="sng" algn="ctr">
                      <a:noFill/>
                    </a:lnR>
                    <a:lnT w="0" cap="flat" cmpd="sng" algn="ctr">
                      <a:noFill/>
                    </a:lnT>
                    <a:lnB w="0" cap="flat" cmpd="sng" algn="ctr">
                      <a:noFill/>
                    </a:lnB>
                    <a:solidFill>
                      <a:srgbClr val="1E2761"/>
                    </a:solidFill>
                  </a:tcPr>
                </a:tc>
              </a:tr>
              <a:tr h="548640">
                <a:tc>
                  <a:txBody>
                    <a:bodyPr/>
                    <a:lstStyle/>
                    <a:p>
                      <a:pPr marL="0" indent="0" algn="ctr">
                        <a:buNone/>
                      </a:pPr>
                      <a:r>
                        <a:rPr lang="en-US" sz="1300" dirty="0">
                          <a:solidFill>
                            <a:srgbClr val="FFFFFF"/>
                          </a:solidFill>
                        </a:rPr>
                        <a:t>Churn Recall</a:t>
                      </a:r>
                      <a:endParaRPr lang="en-US" sz="1300" dirty="0"/>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300" b="1" dirty="0">
                          <a:solidFill>
                            <a:schemeClr val="bg1"/>
                          </a:solidFill>
                        </a:rPr>
                        <a:t>84%</a:t>
                      </a:r>
                      <a:endParaRPr lang="en-US" sz="13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300" dirty="0">
                          <a:solidFill>
                            <a:srgbClr val="86EFAC"/>
                          </a:solidFill>
                        </a:rPr>
                        <a:t>Catches most churners</a:t>
                      </a:r>
                      <a:endParaRPr lang="en-US" sz="1300" dirty="0"/>
                    </a:p>
                  </a:txBody>
                  <a:tcPr anchor="ctr">
                    <a:lnL w="0" cap="flat" cmpd="sng" algn="ctr">
                      <a:noFill/>
                    </a:lnL>
                    <a:lnR w="0" cap="flat" cmpd="sng" algn="ctr">
                      <a:noFill/>
                    </a:lnR>
                    <a:lnT w="0" cap="flat" cmpd="sng" algn="ctr">
                      <a:noFill/>
                    </a:lnT>
                    <a:lnB w="0" cap="flat" cmpd="sng" algn="ctr">
                      <a:noFill/>
                    </a:lnB>
                    <a:solidFill>
                      <a:srgbClr val="243B55"/>
                    </a:solidFill>
                  </a:tcPr>
                </a:tc>
              </a:tr>
              <a:tr h="548640">
                <a:tc>
                  <a:txBody>
                    <a:bodyPr/>
                    <a:lstStyle/>
                    <a:p>
                      <a:pPr marL="0" indent="0" algn="ctr">
                        <a:buNone/>
                      </a:pPr>
                      <a:r>
                        <a:rPr lang="en-US" sz="1300" dirty="0">
                          <a:solidFill>
                            <a:srgbClr val="FFFFFF"/>
                          </a:solidFill>
                        </a:rPr>
                        <a:t>Churn Precision</a:t>
                      </a:r>
                      <a:endParaRPr lang="en-US" sz="13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300" b="1" dirty="0">
                          <a:solidFill>
                            <a:schemeClr val="bg1"/>
                          </a:solidFill>
                        </a:rPr>
                        <a:t>100%</a:t>
                      </a:r>
                      <a:endParaRPr lang="en-US" sz="13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300" dirty="0">
                          <a:solidFill>
                            <a:srgbClr val="86EFAC"/>
                          </a:solidFill>
                        </a:rPr>
                        <a:t>No false alarms</a:t>
                      </a:r>
                      <a:endParaRPr lang="en-US" sz="1300" dirty="0"/>
                    </a:p>
                  </a:txBody>
                  <a:tcPr anchor="ctr">
                    <a:lnL w="0" cap="flat" cmpd="sng" algn="ctr">
                      <a:noFill/>
                    </a:lnL>
                    <a:lnR w="0" cap="flat" cmpd="sng" algn="ctr">
                      <a:noFill/>
                    </a:lnR>
                    <a:lnT w="0" cap="flat" cmpd="sng" algn="ctr">
                      <a:noFill/>
                    </a:lnT>
                    <a:lnB w="0" cap="flat" cmpd="sng" algn="ctr">
                      <a:noFill/>
                    </a:lnB>
                    <a:solidFill>
                      <a:srgbClr val="1E2761"/>
                    </a:solidFill>
                  </a:tcPr>
                </a:tc>
              </a:tr>
              <a:tr h="548640">
                <a:tc>
                  <a:txBody>
                    <a:bodyPr/>
                    <a:lstStyle/>
                    <a:p>
                      <a:pPr marL="0" indent="0" algn="ctr">
                        <a:buNone/>
                      </a:pPr>
                      <a:r>
                        <a:rPr lang="en-US" sz="1300" dirty="0">
                          <a:solidFill>
                            <a:srgbClr val="FFFFFF"/>
                          </a:solidFill>
                        </a:rPr>
                        <a:t>F1 Score</a:t>
                      </a:r>
                      <a:endParaRPr lang="en-US" sz="1300" dirty="0"/>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300" b="1" dirty="0">
                          <a:solidFill>
                            <a:schemeClr val="bg1"/>
                          </a:solidFill>
                        </a:rPr>
                        <a:t>0.91</a:t>
                      </a:r>
                      <a:endParaRPr lang="en-US" sz="13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300" dirty="0">
                          <a:solidFill>
                            <a:srgbClr val="86EFAC"/>
                          </a:solidFill>
                        </a:rPr>
                        <a:t>Strong class balance</a:t>
                      </a:r>
                      <a:endParaRPr lang="en-US" sz="1300" dirty="0"/>
                    </a:p>
                  </a:txBody>
                  <a:tcPr anchor="ctr">
                    <a:lnL w="0" cap="flat" cmpd="sng" algn="ctr">
                      <a:noFill/>
                    </a:lnL>
                    <a:lnR w="0" cap="flat" cmpd="sng" algn="ctr">
                      <a:noFill/>
                    </a:lnR>
                    <a:lnT w="0" cap="flat" cmpd="sng" algn="ctr">
                      <a:noFill/>
                    </a:lnT>
                    <a:lnB w="0" cap="flat" cmpd="sng" algn="ctr">
                      <a:noFill/>
                    </a:lnB>
                    <a:solidFill>
                      <a:srgbClr val="243B55"/>
                    </a:solidFill>
                  </a:tcPr>
                </a:tc>
              </a:tr>
            </a:tbl>
          </a:graphicData>
        </a:graphic>
      </p:graphicFrame>
      <p:sp>
        <p:nvSpPr>
          <p:cNvPr id="5" name="Text 2"/>
          <p:cNvSpPr/>
          <p:nvPr/>
        </p:nvSpPr>
        <p:spPr>
          <a:xfrm>
            <a:off x="457200" y="4343400"/>
            <a:ext cx="8229600" cy="457200"/>
          </a:xfrm>
          <a:prstGeom prst="rect">
            <a:avLst/>
          </a:prstGeom>
          <a:solidFill>
            <a:srgbClr val="1E2761"/>
          </a:solidFill>
          <a:ln>
            <a:noFill/>
          </a:ln>
        </p:spPr>
        <p:txBody>
          <a:bodyPr wrap="square" lIns="0" tIns="0" rIns="0" bIns="0" rtlCol="0" anchor="ctr"/>
          <a:lstStyle/>
          <a:p>
            <a:pPr marL="0" indent="0" algn="ctr">
              <a:buNone/>
            </a:pPr>
            <a:r>
              <a:rPr lang="en-US" sz="1300" b="1" i="1" dirty="0">
                <a:solidFill>
                  <a:srgbClr val="FFFFFF"/>
                </a:solidFill>
                <a:latin typeface="Calibri" pitchFamily="34" charset="0"/>
                <a:ea typeface="Calibri" pitchFamily="34" charset="-122"/>
                <a:cs typeface="Calibri" pitchFamily="34" charset="-120"/>
              </a:rPr>
              <a:t>XGBoost is the recommended model for production churn detection.</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a:noFill/>
          </a:ln>
        </p:spPr>
      </p:sp>
      <p:sp>
        <p:nvSpPr>
          <p:cNvPr id="3" name="Shape 1"/>
          <p:cNvSpPr/>
          <p:nvPr/>
        </p:nvSpPr>
        <p:spPr>
          <a:xfrm>
            <a:off x="0" y="0"/>
            <a:ext cx="164592" cy="658368"/>
          </a:xfrm>
          <a:prstGeom prst="rect">
            <a:avLst/>
          </a:prstGeom>
          <a:solidFill>
            <a:srgbClr val="0891B2"/>
          </a:solidFill>
          <a:ln w="12700">
            <a:solidFill>
              <a:srgbClr val="0891B2"/>
            </a:solidFill>
            <a:prstDash val="solid"/>
          </a:ln>
        </p:spPr>
      </p:sp>
      <p:sp>
        <p:nvSpPr>
          <p:cNvPr id="4" name="Text 2"/>
          <p:cNvSpPr/>
          <p:nvPr/>
        </p:nvSpPr>
        <p:spPr>
          <a:xfrm>
            <a:off x="320040" y="45720"/>
            <a:ext cx="6858000" cy="566928"/>
          </a:xfrm>
          <a:prstGeom prst="rect">
            <a:avLst/>
          </a:prstGeom>
          <a:noFill/>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Limitations of Data &amp; Model</a:t>
            </a:r>
            <a:endParaRPr lang="en-US" sz="2200" dirty="0"/>
          </a:p>
        </p:txBody>
      </p:sp>
      <p:sp>
        <p:nvSpPr>
          <p:cNvPr id="5" name="Text 3"/>
          <p:cNvSpPr/>
          <p:nvPr/>
        </p:nvSpPr>
        <p:spPr>
          <a:xfrm>
            <a:off x="7315200" y="137160"/>
            <a:ext cx="1645920" cy="384048"/>
          </a:xfrm>
          <a:prstGeom prst="rect">
            <a:avLst/>
          </a:prstGeom>
          <a:noFill/>
        </p:spPr>
        <p:txBody>
          <a:bodyPr wrap="square" lIns="0" tIns="0" rIns="0" bIns="0" rtlCol="0" anchor="ctr"/>
          <a:lstStyle/>
          <a:p>
            <a:pPr marL="0" indent="0" algn="r">
              <a:buNone/>
            </a:pPr>
            <a:r>
              <a:rPr lang="en-US" sz="900" b="1" dirty="0">
                <a:solidFill>
                  <a:srgbClr val="02C39A"/>
                </a:solidFill>
                <a:latin typeface="Calibri" pitchFamily="34" charset="0"/>
                <a:ea typeface="Calibri" pitchFamily="34" charset="-122"/>
                <a:cs typeface="Calibri" pitchFamily="34" charset="-120"/>
              </a:rPr>
              <a:t>LIMITATIONS</a:t>
            </a:r>
            <a:endParaRPr lang="en-US" sz="900" dirty="0"/>
          </a:p>
        </p:txBody>
      </p:sp>
      <p:sp>
        <p:nvSpPr>
          <p:cNvPr id="6" name="Shape 4"/>
          <p:cNvSpPr/>
          <p:nvPr/>
        </p:nvSpPr>
        <p:spPr>
          <a:xfrm>
            <a:off x="274320" y="804672"/>
            <a:ext cx="4251960" cy="1920240"/>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7" name="Shape 5"/>
          <p:cNvSpPr/>
          <p:nvPr/>
        </p:nvSpPr>
        <p:spPr>
          <a:xfrm>
            <a:off x="274320" y="804672"/>
            <a:ext cx="64008" cy="1920240"/>
          </a:xfrm>
          <a:prstGeom prst="rect">
            <a:avLst/>
          </a:prstGeom>
          <a:solidFill>
            <a:srgbClr val="0891B2"/>
          </a:solidFill>
          <a:ln>
            <a:noFill/>
          </a:ln>
        </p:spPr>
      </p:sp>
      <p:sp>
        <p:nvSpPr>
          <p:cNvPr id="8" name="Shape 6"/>
          <p:cNvSpPr/>
          <p:nvPr/>
        </p:nvSpPr>
        <p:spPr>
          <a:xfrm>
            <a:off x="274320" y="804672"/>
            <a:ext cx="4251960" cy="384048"/>
          </a:xfrm>
          <a:prstGeom prst="rect">
            <a:avLst/>
          </a:prstGeom>
          <a:solidFill>
            <a:srgbClr val="0891B2"/>
          </a:solidFill>
          <a:ln w="12700">
            <a:solidFill>
              <a:srgbClr val="0891B2"/>
            </a:solidFill>
            <a:prstDash val="solid"/>
          </a:ln>
        </p:spPr>
      </p:sp>
      <p:sp>
        <p:nvSpPr>
          <p:cNvPr id="9" name="Text 7"/>
          <p:cNvSpPr/>
          <p:nvPr/>
        </p:nvSpPr>
        <p:spPr>
          <a:xfrm>
            <a:off x="411480" y="804672"/>
            <a:ext cx="4069080" cy="384048"/>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Quality</a:t>
            </a:r>
            <a:endParaRPr lang="en-US" sz="1200" dirty="0"/>
          </a:p>
        </p:txBody>
      </p:sp>
      <p:sp>
        <p:nvSpPr>
          <p:cNvPr id="10" name="Text 8"/>
          <p:cNvSpPr/>
          <p:nvPr/>
        </p:nvSpPr>
        <p:spPr>
          <a:xfrm>
            <a:off x="457200" y="1261872"/>
            <a:ext cx="3931920" cy="1371600"/>
          </a:xfrm>
          <a:prstGeom prst="rect">
            <a:avLst/>
          </a:prstGeom>
          <a:noFill/>
        </p:spPr>
        <p:txBody>
          <a:bodyPr wrap="square" lIns="0" tIns="0" rIns="0" bIns="0" rtlCol="0" anchor="ctr"/>
          <a:lstStyle/>
          <a:p>
            <a:pPr marL="342900" indent="-342900">
              <a:spcAft>
                <a:spcPts val="400"/>
              </a:spcAft>
              <a:buSzPct val="100000"/>
              <a:buChar char="•"/>
            </a:pPr>
            <a:r>
              <a:rPr lang="en-US" sz="1000" dirty="0">
                <a:solidFill>
                  <a:srgbClr val="1E2761"/>
                </a:solidFill>
                <a:latin typeface="Calibri" pitchFamily="34" charset="0"/>
                <a:ea typeface="Calibri" pitchFamily="34" charset="-122"/>
                <a:cs typeface="Calibri" pitchFamily="34" charset="-120"/>
              </a:rPr>
              <a:t>Static snapshot — no temporal dimension; cannot capture churn patterns over time</a:t>
            </a:r>
            <a:endParaRPr lang="en-US" sz="1000" dirty="0"/>
          </a:p>
          <a:p>
            <a:pPr marL="342900" indent="-342900">
              <a:spcAft>
                <a:spcPts val="400"/>
              </a:spcAft>
              <a:buSzPct val="100000"/>
              <a:buChar char="•"/>
            </a:pPr>
            <a:r>
              <a:rPr lang="en-US" sz="1000" dirty="0">
                <a:solidFill>
                  <a:srgbClr val="1E2761"/>
                </a:solidFill>
                <a:latin typeface="Calibri" pitchFamily="34" charset="0"/>
                <a:ea typeface="Calibri" pitchFamily="34" charset="-122"/>
                <a:cs typeface="Calibri" pitchFamily="34" charset="-120"/>
              </a:rPr>
              <a:t>~3,300 records is relatively small for complex non-linear models</a:t>
            </a:r>
            <a:endParaRPr lang="en-US" sz="1000" dirty="0"/>
          </a:p>
          <a:p>
            <a:pPr marL="342900" indent="-342900">
              <a:spcAft>
                <a:spcPts val="400"/>
              </a:spcAft>
              <a:buSzPct val="100000"/>
              <a:buChar char="•"/>
            </a:pPr>
            <a:r>
              <a:rPr lang="en-US" sz="1000" dirty="0">
                <a:solidFill>
                  <a:srgbClr val="1E2761"/>
                </a:solidFill>
                <a:latin typeface="Calibri" pitchFamily="34" charset="0"/>
                <a:ea typeface="Calibri" pitchFamily="34" charset="-122"/>
                <a:cs typeface="Calibri" pitchFamily="34" charset="-120"/>
              </a:rPr>
              <a:t>No customer demographics (age, income, tenure) which are strong churn predictors</a:t>
            </a:r>
            <a:endParaRPr lang="en-US" sz="1000" dirty="0"/>
          </a:p>
        </p:txBody>
      </p:sp>
      <p:sp>
        <p:nvSpPr>
          <p:cNvPr id="11" name="Shape 9"/>
          <p:cNvSpPr/>
          <p:nvPr/>
        </p:nvSpPr>
        <p:spPr>
          <a:xfrm>
            <a:off x="4754880" y="804672"/>
            <a:ext cx="4251960" cy="1920240"/>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12" name="Shape 10"/>
          <p:cNvSpPr/>
          <p:nvPr/>
        </p:nvSpPr>
        <p:spPr>
          <a:xfrm>
            <a:off x="4754880" y="804672"/>
            <a:ext cx="64008" cy="1920240"/>
          </a:xfrm>
          <a:prstGeom prst="rect">
            <a:avLst/>
          </a:prstGeom>
          <a:solidFill>
            <a:srgbClr val="0891B2"/>
          </a:solidFill>
          <a:ln w="12700">
            <a:solidFill>
              <a:srgbClr val="0891B2"/>
            </a:solidFill>
            <a:prstDash val="solid"/>
          </a:ln>
        </p:spPr>
      </p:sp>
      <p:sp>
        <p:nvSpPr>
          <p:cNvPr id="13" name="Shape 11"/>
          <p:cNvSpPr/>
          <p:nvPr/>
        </p:nvSpPr>
        <p:spPr>
          <a:xfrm>
            <a:off x="4754880" y="804672"/>
            <a:ext cx="4251960" cy="384048"/>
          </a:xfrm>
          <a:prstGeom prst="rect">
            <a:avLst/>
          </a:prstGeom>
          <a:solidFill>
            <a:srgbClr val="0891B2"/>
          </a:solidFill>
          <a:ln w="12700">
            <a:solidFill>
              <a:srgbClr val="0891B2"/>
            </a:solidFill>
            <a:prstDash val="solid"/>
          </a:ln>
        </p:spPr>
      </p:sp>
      <p:sp>
        <p:nvSpPr>
          <p:cNvPr id="14" name="Text 12"/>
          <p:cNvSpPr/>
          <p:nvPr/>
        </p:nvSpPr>
        <p:spPr>
          <a:xfrm>
            <a:off x="4892040" y="804672"/>
            <a:ext cx="4069080" cy="384048"/>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Class Imbalance</a:t>
            </a:r>
            <a:endParaRPr lang="en-US" sz="1200" dirty="0"/>
          </a:p>
        </p:txBody>
      </p:sp>
      <p:sp>
        <p:nvSpPr>
          <p:cNvPr id="15" name="Text 13"/>
          <p:cNvSpPr/>
          <p:nvPr/>
        </p:nvSpPr>
        <p:spPr>
          <a:xfrm>
            <a:off x="4937760" y="1261872"/>
            <a:ext cx="3931920" cy="1371600"/>
          </a:xfrm>
          <a:prstGeom prst="rect">
            <a:avLst/>
          </a:prstGeom>
          <a:noFill/>
        </p:spPr>
        <p:txBody>
          <a:bodyPr wrap="square" lIns="0" tIns="0" rIns="0" bIns="0" rtlCol="0" anchor="ctr"/>
          <a:lstStyle/>
          <a:p>
            <a:pPr marL="342900" indent="-342900">
              <a:spcAft>
                <a:spcPts val="400"/>
              </a:spcAft>
              <a:buSzPct val="100000"/>
              <a:buChar char="•"/>
            </a:pPr>
            <a:r>
              <a:rPr lang="en-US" sz="1000" dirty="0">
                <a:solidFill>
                  <a:srgbClr val="1E2761"/>
                </a:solidFill>
                <a:latin typeface="Calibri" pitchFamily="34" charset="0"/>
                <a:ea typeface="Calibri" pitchFamily="34" charset="-122"/>
                <a:cs typeface="Calibri" pitchFamily="34" charset="-120"/>
              </a:rPr>
              <a:t>Only ~14% churn — SMOTE introduces synthetic samples that may not reflect real customer behaviour</a:t>
            </a:r>
            <a:endParaRPr lang="en-US" sz="1000" dirty="0"/>
          </a:p>
          <a:p>
            <a:pPr marL="342900" indent="-342900">
              <a:spcAft>
                <a:spcPts val="400"/>
              </a:spcAft>
              <a:buSzPct val="100000"/>
              <a:buChar char="•"/>
            </a:pPr>
            <a:r>
              <a:rPr lang="en-US" sz="1000" dirty="0">
                <a:solidFill>
                  <a:srgbClr val="1E2761"/>
                </a:solidFill>
                <a:latin typeface="Calibri" pitchFamily="34" charset="0"/>
                <a:ea typeface="Calibri" pitchFamily="34" charset="-122"/>
                <a:cs typeface="Calibri" pitchFamily="34" charset="-120"/>
              </a:rPr>
              <a:t>Evaluation metrics like accuracy are misleading without recall/F1 focus</a:t>
            </a:r>
            <a:endParaRPr lang="en-US" sz="1000" dirty="0"/>
          </a:p>
        </p:txBody>
      </p:sp>
      <p:sp>
        <p:nvSpPr>
          <p:cNvPr id="16" name="Shape 14"/>
          <p:cNvSpPr/>
          <p:nvPr/>
        </p:nvSpPr>
        <p:spPr>
          <a:xfrm>
            <a:off x="274320" y="2907792"/>
            <a:ext cx="4251960" cy="1920240"/>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17" name="Shape 15"/>
          <p:cNvSpPr/>
          <p:nvPr/>
        </p:nvSpPr>
        <p:spPr>
          <a:xfrm>
            <a:off x="274320" y="2907792"/>
            <a:ext cx="64008" cy="1920240"/>
          </a:xfrm>
          <a:prstGeom prst="rect">
            <a:avLst/>
          </a:prstGeom>
          <a:solidFill>
            <a:srgbClr val="0891B2"/>
          </a:solidFill>
          <a:ln>
            <a:noFill/>
          </a:ln>
        </p:spPr>
      </p:sp>
      <p:sp>
        <p:nvSpPr>
          <p:cNvPr id="18" name="Shape 16"/>
          <p:cNvSpPr/>
          <p:nvPr/>
        </p:nvSpPr>
        <p:spPr>
          <a:xfrm>
            <a:off x="274320" y="2907792"/>
            <a:ext cx="4251960" cy="384048"/>
          </a:xfrm>
          <a:prstGeom prst="rect">
            <a:avLst/>
          </a:prstGeom>
          <a:solidFill>
            <a:srgbClr val="0891B2"/>
          </a:solidFill>
          <a:ln w="12700">
            <a:solidFill>
              <a:srgbClr val="0891B2"/>
            </a:solidFill>
            <a:prstDash val="solid"/>
          </a:ln>
        </p:spPr>
      </p:sp>
      <p:sp>
        <p:nvSpPr>
          <p:cNvPr id="19" name="Text 17"/>
          <p:cNvSpPr/>
          <p:nvPr/>
        </p:nvSpPr>
        <p:spPr>
          <a:xfrm>
            <a:off x="411480" y="2907792"/>
            <a:ext cx="4069080" cy="384048"/>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Feature Engineering</a:t>
            </a:r>
            <a:endParaRPr lang="en-US" sz="1200" dirty="0"/>
          </a:p>
        </p:txBody>
      </p:sp>
      <p:sp>
        <p:nvSpPr>
          <p:cNvPr id="20" name="Text 18"/>
          <p:cNvSpPr/>
          <p:nvPr/>
        </p:nvSpPr>
        <p:spPr>
          <a:xfrm>
            <a:off x="457200" y="3364992"/>
            <a:ext cx="3931920" cy="1371600"/>
          </a:xfrm>
          <a:prstGeom prst="rect">
            <a:avLst/>
          </a:prstGeom>
          <a:noFill/>
        </p:spPr>
        <p:txBody>
          <a:bodyPr wrap="square" lIns="0" tIns="0" rIns="0" bIns="0" rtlCol="0" anchor="ctr"/>
          <a:lstStyle/>
          <a:p>
            <a:pPr marL="342900" indent="-342900">
              <a:spcAft>
                <a:spcPts val="400"/>
              </a:spcAft>
              <a:buSzPct val="100000"/>
              <a:buChar char="•"/>
            </a:pPr>
            <a:r>
              <a:rPr lang="en-US" sz="1000" dirty="0">
                <a:solidFill>
                  <a:srgbClr val="1E2761"/>
                </a:solidFill>
                <a:latin typeface="Calibri" pitchFamily="34" charset="0"/>
                <a:ea typeface="Calibri" pitchFamily="34" charset="-122"/>
                <a:cs typeface="Calibri" pitchFamily="34" charset="-120"/>
              </a:rPr>
              <a:t>Charge and minutes are nearly perfectly correlated — one set discarded, but derived features (total_charge) may still carry same information</a:t>
            </a:r>
            <a:endParaRPr lang="en-US" sz="1000" dirty="0"/>
          </a:p>
          <a:p>
            <a:pPr marL="342900" indent="-342900">
              <a:spcAft>
                <a:spcPts val="400"/>
              </a:spcAft>
              <a:buSzPct val="100000"/>
              <a:buChar char="•"/>
            </a:pPr>
            <a:r>
              <a:rPr lang="en-US" sz="1000" dirty="0">
                <a:solidFill>
                  <a:srgbClr val="1E2761"/>
                </a:solidFill>
                <a:latin typeface="Calibri" pitchFamily="34" charset="0"/>
                <a:ea typeface="Calibri" pitchFamily="34" charset="-122"/>
                <a:cs typeface="Calibri" pitchFamily="34" charset="-120"/>
              </a:rPr>
              <a:t>Business rules (e.g. threshold = 4 service calls) are domain assumptions, not data-derived</a:t>
            </a:r>
            <a:endParaRPr lang="en-US" sz="1000" dirty="0"/>
          </a:p>
        </p:txBody>
      </p:sp>
      <p:sp>
        <p:nvSpPr>
          <p:cNvPr id="21" name="Shape 19"/>
          <p:cNvSpPr/>
          <p:nvPr/>
        </p:nvSpPr>
        <p:spPr>
          <a:xfrm>
            <a:off x="4754880" y="2907792"/>
            <a:ext cx="4251960" cy="1920240"/>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22" name="Shape 20"/>
          <p:cNvSpPr/>
          <p:nvPr/>
        </p:nvSpPr>
        <p:spPr>
          <a:xfrm>
            <a:off x="4754880" y="2907792"/>
            <a:ext cx="64008" cy="1920240"/>
          </a:xfrm>
          <a:prstGeom prst="rect">
            <a:avLst/>
          </a:prstGeom>
          <a:solidFill>
            <a:srgbClr val="0891B2"/>
          </a:solidFill>
          <a:ln w="12700">
            <a:solidFill>
              <a:srgbClr val="0891B2"/>
            </a:solidFill>
            <a:prstDash val="solid"/>
          </a:ln>
        </p:spPr>
      </p:sp>
      <p:sp>
        <p:nvSpPr>
          <p:cNvPr id="23" name="Shape 21"/>
          <p:cNvSpPr/>
          <p:nvPr/>
        </p:nvSpPr>
        <p:spPr>
          <a:xfrm>
            <a:off x="4754880" y="2907792"/>
            <a:ext cx="4251960" cy="384048"/>
          </a:xfrm>
          <a:prstGeom prst="rect">
            <a:avLst/>
          </a:prstGeom>
          <a:solidFill>
            <a:srgbClr val="0891B2"/>
          </a:solidFill>
          <a:ln w="12700">
            <a:solidFill>
              <a:srgbClr val="0891B2"/>
            </a:solidFill>
            <a:prstDash val="solid"/>
          </a:ln>
        </p:spPr>
      </p:sp>
      <p:sp>
        <p:nvSpPr>
          <p:cNvPr id="24" name="Text 22"/>
          <p:cNvSpPr/>
          <p:nvPr/>
        </p:nvSpPr>
        <p:spPr>
          <a:xfrm>
            <a:off x="4892040" y="2907792"/>
            <a:ext cx="4069080" cy="384048"/>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Model Deployment</a:t>
            </a:r>
            <a:endParaRPr lang="en-US" sz="1200" dirty="0"/>
          </a:p>
        </p:txBody>
      </p:sp>
      <p:sp>
        <p:nvSpPr>
          <p:cNvPr id="25" name="Text 23"/>
          <p:cNvSpPr/>
          <p:nvPr/>
        </p:nvSpPr>
        <p:spPr>
          <a:xfrm>
            <a:off x="4937760" y="3364992"/>
            <a:ext cx="3931920" cy="1371600"/>
          </a:xfrm>
          <a:prstGeom prst="rect">
            <a:avLst/>
          </a:prstGeom>
          <a:noFill/>
        </p:spPr>
        <p:txBody>
          <a:bodyPr wrap="square" lIns="0" tIns="0" rIns="0" bIns="0" rtlCol="0" anchor="ctr"/>
          <a:lstStyle/>
          <a:p>
            <a:pPr marL="342900" indent="-342900">
              <a:spcAft>
                <a:spcPts val="400"/>
              </a:spcAft>
              <a:buSzPct val="100000"/>
              <a:buChar char="•"/>
            </a:pPr>
            <a:r>
              <a:rPr lang="en-US" sz="1000" dirty="0">
                <a:solidFill>
                  <a:srgbClr val="1E2761"/>
                </a:solidFill>
                <a:latin typeface="Calibri" pitchFamily="34" charset="0"/>
                <a:ea typeface="Calibri" pitchFamily="34" charset="-122"/>
                <a:cs typeface="Calibri" pitchFamily="34" charset="-120"/>
              </a:rPr>
              <a:t>Scaler and dropped-column list must be versioned alongside the model for consistent inference</a:t>
            </a:r>
            <a:endParaRPr lang="en-US" sz="1000" dirty="0"/>
          </a:p>
          <a:p>
            <a:pPr marL="342900" indent="-342900">
              <a:spcAft>
                <a:spcPts val="400"/>
              </a:spcAft>
              <a:buSzPct val="100000"/>
              <a:buChar char="•"/>
            </a:pPr>
            <a:r>
              <a:rPr lang="en-US" sz="1000" dirty="0">
                <a:solidFill>
                  <a:srgbClr val="1E2761"/>
                </a:solidFill>
                <a:latin typeface="Calibri" pitchFamily="34" charset="0"/>
                <a:ea typeface="Calibri" pitchFamily="34" charset="-122"/>
                <a:cs typeface="Calibri" pitchFamily="34" charset="-120"/>
              </a:rPr>
              <a:t>Models may drift over time as customer behaviour and product offerings change — periodic retraining required</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a:noFill/>
          </a:ln>
        </p:spPr>
      </p:sp>
      <p:sp>
        <p:nvSpPr>
          <p:cNvPr id="3" name="Shape 1"/>
          <p:cNvSpPr/>
          <p:nvPr/>
        </p:nvSpPr>
        <p:spPr>
          <a:xfrm>
            <a:off x="0" y="0"/>
            <a:ext cx="164592" cy="658368"/>
          </a:xfrm>
          <a:prstGeom prst="rect">
            <a:avLst/>
          </a:prstGeom>
          <a:solidFill>
            <a:srgbClr val="0891B2"/>
          </a:solidFill>
          <a:ln w="12700">
            <a:solidFill>
              <a:srgbClr val="0891B2"/>
            </a:solidFill>
            <a:prstDash val="solid"/>
          </a:ln>
        </p:spPr>
      </p:sp>
      <p:sp>
        <p:nvSpPr>
          <p:cNvPr id="4" name="Text 2"/>
          <p:cNvSpPr/>
          <p:nvPr/>
        </p:nvSpPr>
        <p:spPr>
          <a:xfrm>
            <a:off x="320040" y="45720"/>
            <a:ext cx="6858000" cy="566928"/>
          </a:xfrm>
          <a:prstGeom prst="rect">
            <a:avLst/>
          </a:prstGeom>
          <a:noFill/>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Recommendations for Future Work</a:t>
            </a:r>
            <a:endParaRPr lang="en-US" sz="2200" dirty="0"/>
          </a:p>
        </p:txBody>
      </p:sp>
      <p:sp>
        <p:nvSpPr>
          <p:cNvPr id="5" name="Text 3"/>
          <p:cNvSpPr/>
          <p:nvPr/>
        </p:nvSpPr>
        <p:spPr>
          <a:xfrm>
            <a:off x="7315200" y="137160"/>
            <a:ext cx="1645920" cy="384048"/>
          </a:xfrm>
          <a:prstGeom prst="rect">
            <a:avLst/>
          </a:prstGeom>
          <a:noFill/>
        </p:spPr>
        <p:txBody>
          <a:bodyPr wrap="square" lIns="0" tIns="0" rIns="0" bIns="0" rtlCol="0" anchor="ctr"/>
          <a:lstStyle/>
          <a:p>
            <a:pPr marL="0" indent="0" algn="r">
              <a:buNone/>
            </a:pPr>
            <a:r>
              <a:rPr lang="en-US" sz="900" b="1" dirty="0">
                <a:solidFill>
                  <a:srgbClr val="02C39A"/>
                </a:solidFill>
                <a:latin typeface="Calibri" pitchFamily="34" charset="0"/>
                <a:ea typeface="Calibri" pitchFamily="34" charset="-122"/>
                <a:cs typeface="Calibri" pitchFamily="34" charset="-120"/>
              </a:rPr>
              <a:t>LIMITATIONS</a:t>
            </a:r>
            <a:endParaRPr lang="en-US" sz="900" dirty="0"/>
          </a:p>
        </p:txBody>
      </p:sp>
      <p:sp>
        <p:nvSpPr>
          <p:cNvPr id="6" name="Text 4"/>
          <p:cNvSpPr/>
          <p:nvPr/>
        </p:nvSpPr>
        <p:spPr>
          <a:xfrm>
            <a:off x="320040" y="777240"/>
            <a:ext cx="8503920" cy="384048"/>
          </a:xfrm>
          <a:prstGeom prst="rect">
            <a:avLst/>
          </a:prstGeom>
          <a:noFill/>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Addressing the limitations above would significantly improve real-world deployment viability:</a:t>
            </a:r>
            <a:endParaRPr lang="en-US" sz="1200" dirty="0"/>
          </a:p>
        </p:txBody>
      </p:sp>
      <p:sp>
        <p:nvSpPr>
          <p:cNvPr id="7" name="Shape 5"/>
          <p:cNvSpPr/>
          <p:nvPr/>
        </p:nvSpPr>
        <p:spPr>
          <a:xfrm>
            <a:off x="274320" y="1298448"/>
            <a:ext cx="2743200" cy="1664208"/>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8" name="Shape 6"/>
          <p:cNvSpPr/>
          <p:nvPr/>
        </p:nvSpPr>
        <p:spPr>
          <a:xfrm>
            <a:off x="274320" y="1298448"/>
            <a:ext cx="2743200" cy="347472"/>
          </a:xfrm>
          <a:prstGeom prst="rect">
            <a:avLst/>
          </a:prstGeom>
          <a:solidFill>
            <a:srgbClr val="0891B2"/>
          </a:solidFill>
          <a:ln w="12700">
            <a:solidFill>
              <a:srgbClr val="0891B2"/>
            </a:solidFill>
            <a:prstDash val="solid"/>
          </a:ln>
        </p:spPr>
      </p:sp>
      <p:sp>
        <p:nvSpPr>
          <p:cNvPr id="9" name="Text 7"/>
          <p:cNvSpPr/>
          <p:nvPr/>
        </p:nvSpPr>
        <p:spPr>
          <a:xfrm>
            <a:off x="384048" y="1335024"/>
            <a:ext cx="2523744" cy="274320"/>
          </a:xfrm>
          <a:prstGeom prst="rect">
            <a:avLst/>
          </a:prstGeom>
          <a:noFill/>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Temporal Data</a:t>
            </a:r>
            <a:endParaRPr lang="en-US" sz="1100" dirty="0"/>
          </a:p>
        </p:txBody>
      </p:sp>
      <p:sp>
        <p:nvSpPr>
          <p:cNvPr id="10" name="Text 8"/>
          <p:cNvSpPr/>
          <p:nvPr/>
        </p:nvSpPr>
        <p:spPr>
          <a:xfrm>
            <a:off x="384048" y="1737360"/>
            <a:ext cx="2523744" cy="114300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Collect time-series churn events to enable survival analysis and early-warning models</a:t>
            </a:r>
            <a:endParaRPr lang="en-US" sz="1000" dirty="0"/>
          </a:p>
        </p:txBody>
      </p:sp>
      <p:sp>
        <p:nvSpPr>
          <p:cNvPr id="11" name="Shape 9"/>
          <p:cNvSpPr/>
          <p:nvPr/>
        </p:nvSpPr>
        <p:spPr>
          <a:xfrm>
            <a:off x="3182112" y="1298448"/>
            <a:ext cx="2743200" cy="1664208"/>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12" name="Shape 10"/>
          <p:cNvSpPr/>
          <p:nvPr/>
        </p:nvSpPr>
        <p:spPr>
          <a:xfrm>
            <a:off x="3182112" y="1298448"/>
            <a:ext cx="2743200" cy="347472"/>
          </a:xfrm>
          <a:prstGeom prst="rect">
            <a:avLst/>
          </a:prstGeom>
          <a:solidFill>
            <a:srgbClr val="0891B2"/>
          </a:solidFill>
          <a:ln w="12700">
            <a:solidFill>
              <a:srgbClr val="0891B2"/>
            </a:solidFill>
            <a:prstDash val="solid"/>
          </a:ln>
        </p:spPr>
      </p:sp>
      <p:sp>
        <p:nvSpPr>
          <p:cNvPr id="13" name="Text 11"/>
          <p:cNvSpPr/>
          <p:nvPr/>
        </p:nvSpPr>
        <p:spPr>
          <a:xfrm>
            <a:off x="3291840" y="1335024"/>
            <a:ext cx="2523744" cy="274320"/>
          </a:xfrm>
          <a:prstGeom prst="rect">
            <a:avLst/>
          </a:prstGeom>
          <a:noFill/>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Richer Features</a:t>
            </a:r>
            <a:endParaRPr lang="en-US" sz="1100" dirty="0"/>
          </a:p>
        </p:txBody>
      </p:sp>
      <p:sp>
        <p:nvSpPr>
          <p:cNvPr id="14" name="Text 12"/>
          <p:cNvSpPr/>
          <p:nvPr/>
        </p:nvSpPr>
        <p:spPr>
          <a:xfrm>
            <a:off x="3291840" y="1737360"/>
            <a:ext cx="2523744" cy="114300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Add customer tenure, contract type, and NPS scores for significantly stronger predictions</a:t>
            </a:r>
            <a:endParaRPr lang="en-US" sz="1000" dirty="0"/>
          </a:p>
        </p:txBody>
      </p:sp>
      <p:sp>
        <p:nvSpPr>
          <p:cNvPr id="15" name="Shape 13"/>
          <p:cNvSpPr/>
          <p:nvPr/>
        </p:nvSpPr>
        <p:spPr>
          <a:xfrm>
            <a:off x="6089904" y="1298448"/>
            <a:ext cx="2743200" cy="1664208"/>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16" name="Shape 14"/>
          <p:cNvSpPr/>
          <p:nvPr/>
        </p:nvSpPr>
        <p:spPr>
          <a:xfrm>
            <a:off x="6089904" y="1298448"/>
            <a:ext cx="2743200" cy="347472"/>
          </a:xfrm>
          <a:prstGeom prst="rect">
            <a:avLst/>
          </a:prstGeom>
          <a:solidFill>
            <a:srgbClr val="0891B2"/>
          </a:solidFill>
          <a:ln w="12700">
            <a:solidFill>
              <a:srgbClr val="0891B2"/>
            </a:solidFill>
            <a:prstDash val="solid"/>
          </a:ln>
        </p:spPr>
      </p:sp>
      <p:sp>
        <p:nvSpPr>
          <p:cNvPr id="17" name="Text 15"/>
          <p:cNvSpPr/>
          <p:nvPr/>
        </p:nvSpPr>
        <p:spPr>
          <a:xfrm>
            <a:off x="6199632" y="1335024"/>
            <a:ext cx="2523744" cy="274320"/>
          </a:xfrm>
          <a:prstGeom prst="rect">
            <a:avLst/>
          </a:prstGeom>
          <a:noFill/>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Threshold Tuning</a:t>
            </a:r>
            <a:endParaRPr lang="en-US" sz="1100" dirty="0"/>
          </a:p>
        </p:txBody>
      </p:sp>
      <p:sp>
        <p:nvSpPr>
          <p:cNvPr id="18" name="Text 16"/>
          <p:cNvSpPr/>
          <p:nvPr/>
        </p:nvSpPr>
        <p:spPr>
          <a:xfrm>
            <a:off x="6199632" y="1737360"/>
            <a:ext cx="2523744" cy="114300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Optimise decision threshold for business cost (false negative = lost customer vs false positive = wasted retention spend)</a:t>
            </a:r>
            <a:endParaRPr lang="en-US" sz="1000" dirty="0"/>
          </a:p>
        </p:txBody>
      </p:sp>
      <p:sp>
        <p:nvSpPr>
          <p:cNvPr id="19" name="Shape 17"/>
          <p:cNvSpPr/>
          <p:nvPr/>
        </p:nvSpPr>
        <p:spPr>
          <a:xfrm>
            <a:off x="274320" y="3127248"/>
            <a:ext cx="2743200" cy="1664208"/>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20" name="Shape 18"/>
          <p:cNvSpPr/>
          <p:nvPr/>
        </p:nvSpPr>
        <p:spPr>
          <a:xfrm>
            <a:off x="274320" y="3127248"/>
            <a:ext cx="2743200" cy="347472"/>
          </a:xfrm>
          <a:prstGeom prst="rect">
            <a:avLst/>
          </a:prstGeom>
          <a:solidFill>
            <a:srgbClr val="0891B2"/>
          </a:solidFill>
          <a:ln w="12700">
            <a:solidFill>
              <a:srgbClr val="0891B2"/>
            </a:solidFill>
            <a:prstDash val="solid"/>
          </a:ln>
        </p:spPr>
      </p:sp>
      <p:sp>
        <p:nvSpPr>
          <p:cNvPr id="21" name="Text 19"/>
          <p:cNvSpPr/>
          <p:nvPr/>
        </p:nvSpPr>
        <p:spPr>
          <a:xfrm>
            <a:off x="384048" y="3163824"/>
            <a:ext cx="2523744" cy="274320"/>
          </a:xfrm>
          <a:prstGeom prst="rect">
            <a:avLst/>
          </a:prstGeom>
          <a:noFill/>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Model Monitoring</a:t>
            </a:r>
            <a:endParaRPr lang="en-US" sz="1100" dirty="0"/>
          </a:p>
        </p:txBody>
      </p:sp>
      <p:sp>
        <p:nvSpPr>
          <p:cNvPr id="22" name="Text 20"/>
          <p:cNvSpPr/>
          <p:nvPr/>
        </p:nvSpPr>
        <p:spPr>
          <a:xfrm>
            <a:off x="384048" y="3566160"/>
            <a:ext cx="2523744" cy="114300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Implement drift detection and scheduled retraining as customer behaviour evolves</a:t>
            </a:r>
            <a:endParaRPr lang="en-US" sz="1000" dirty="0"/>
          </a:p>
        </p:txBody>
      </p:sp>
      <p:sp>
        <p:nvSpPr>
          <p:cNvPr id="23" name="Shape 21"/>
          <p:cNvSpPr/>
          <p:nvPr/>
        </p:nvSpPr>
        <p:spPr>
          <a:xfrm>
            <a:off x="3182112" y="3127248"/>
            <a:ext cx="2743200" cy="1664208"/>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24" name="Shape 22"/>
          <p:cNvSpPr/>
          <p:nvPr/>
        </p:nvSpPr>
        <p:spPr>
          <a:xfrm>
            <a:off x="3182112" y="3127248"/>
            <a:ext cx="2743200" cy="347472"/>
          </a:xfrm>
          <a:prstGeom prst="rect">
            <a:avLst/>
          </a:prstGeom>
          <a:solidFill>
            <a:srgbClr val="0A3D52"/>
          </a:solidFill>
          <a:ln w="12700">
            <a:solidFill>
              <a:srgbClr val="0A3D52"/>
            </a:solidFill>
            <a:prstDash val="solid"/>
          </a:ln>
        </p:spPr>
      </p:sp>
      <p:sp>
        <p:nvSpPr>
          <p:cNvPr id="25" name="Text 23"/>
          <p:cNvSpPr/>
          <p:nvPr/>
        </p:nvSpPr>
        <p:spPr>
          <a:xfrm>
            <a:off x="3291840" y="3163824"/>
            <a:ext cx="2523744" cy="274320"/>
          </a:xfrm>
          <a:prstGeom prst="rect">
            <a:avLst/>
          </a:prstGeom>
          <a:noFill/>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Larger Dataset</a:t>
            </a:r>
            <a:endParaRPr lang="en-US" sz="1100" dirty="0"/>
          </a:p>
        </p:txBody>
      </p:sp>
      <p:sp>
        <p:nvSpPr>
          <p:cNvPr id="26" name="Text 24"/>
          <p:cNvSpPr/>
          <p:nvPr/>
        </p:nvSpPr>
        <p:spPr>
          <a:xfrm>
            <a:off x="3291840" y="3566160"/>
            <a:ext cx="2523744" cy="114300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More records improve minority class representation and enable deep learning approaches</a:t>
            </a:r>
            <a:endParaRPr lang="en-US" sz="1000" dirty="0"/>
          </a:p>
        </p:txBody>
      </p:sp>
      <p:sp>
        <p:nvSpPr>
          <p:cNvPr id="27" name="Shape 25"/>
          <p:cNvSpPr/>
          <p:nvPr/>
        </p:nvSpPr>
        <p:spPr>
          <a:xfrm>
            <a:off x="6089904" y="3127248"/>
            <a:ext cx="2743200" cy="1664208"/>
          </a:xfrm>
          <a:prstGeom prst="rect">
            <a:avLst/>
          </a:prstGeom>
          <a:solidFill>
            <a:srgbClr val="FFFFFF"/>
          </a:solidFill>
          <a:ln w="12700">
            <a:solidFill>
              <a:srgbClr val="EEF2F7"/>
            </a:solidFill>
            <a:prstDash val="solid"/>
          </a:ln>
          <a:effectLst>
            <a:outerShdw blurRad="63500" dist="25400" dir="8100000" algn="bl" rotWithShape="0">
              <a:srgbClr val="000000">
                <a:alpha val="12000"/>
              </a:srgbClr>
            </a:outerShdw>
          </a:effectLst>
        </p:spPr>
      </p:sp>
      <p:sp>
        <p:nvSpPr>
          <p:cNvPr id="28" name="Shape 26"/>
          <p:cNvSpPr/>
          <p:nvPr/>
        </p:nvSpPr>
        <p:spPr>
          <a:xfrm>
            <a:off x="6089904" y="3127248"/>
            <a:ext cx="2743200" cy="347472"/>
          </a:xfrm>
          <a:prstGeom prst="rect">
            <a:avLst/>
          </a:prstGeom>
          <a:solidFill>
            <a:srgbClr val="0891B2"/>
          </a:solidFill>
          <a:ln w="12700">
            <a:solidFill>
              <a:srgbClr val="0891B2"/>
            </a:solidFill>
            <a:prstDash val="solid"/>
          </a:ln>
        </p:spPr>
      </p:sp>
      <p:sp>
        <p:nvSpPr>
          <p:cNvPr id="29" name="Text 27"/>
          <p:cNvSpPr/>
          <p:nvPr/>
        </p:nvSpPr>
        <p:spPr>
          <a:xfrm>
            <a:off x="6199632" y="3163824"/>
            <a:ext cx="2523744" cy="274320"/>
          </a:xfrm>
          <a:prstGeom prst="rect">
            <a:avLst/>
          </a:prstGeom>
          <a:noFill/>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A/B Testing</a:t>
            </a:r>
            <a:endParaRPr lang="en-US" sz="1100" dirty="0"/>
          </a:p>
        </p:txBody>
      </p:sp>
      <p:sp>
        <p:nvSpPr>
          <p:cNvPr id="30" name="Text 28"/>
          <p:cNvSpPr/>
          <p:nvPr/>
        </p:nvSpPr>
        <p:spPr>
          <a:xfrm>
            <a:off x="6199632" y="3566160"/>
            <a:ext cx="2523744" cy="1143000"/>
          </a:xfrm>
          <a:prstGeom prst="rect">
            <a:avLst/>
          </a:prstGeom>
          <a:noFill/>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Deploy retention interventions to a holdout group to validate model-driven ROI</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891B2"/>
          </a:solidFill>
          <a:ln>
            <a:noFill/>
          </a:ln>
        </p:spPr>
        <p:txBody>
          <a:bodyPr/>
          <a:lstStyle/>
          <a:p>
            <a:endParaRPr lang="en-US"/>
          </a:p>
        </p:txBody>
      </p:sp>
      <p:sp>
        <p:nvSpPr>
          <p:cNvPr id="3" name="Text 1"/>
          <p:cNvSpPr/>
          <p:nvPr/>
        </p:nvSpPr>
        <p:spPr>
          <a:xfrm>
            <a:off x="457200" y="1097280"/>
            <a:ext cx="8229600" cy="1005840"/>
          </a:xfrm>
          <a:prstGeom prst="rect">
            <a:avLst/>
          </a:prstGeom>
          <a:noFill/>
        </p:spPr>
        <p:txBody>
          <a:bodyPr wrap="square" lIns="0" tIns="0" rIns="0" bIns="0" rtlCol="0" anchor="ctr"/>
          <a:lstStyle/>
          <a:p>
            <a:pPr marL="0" indent="0" algn="ctr">
              <a:buNone/>
            </a:pPr>
            <a:r>
              <a:rPr lang="en-US" sz="5400" b="1" dirty="0">
                <a:solidFill>
                  <a:srgbClr val="1E2761"/>
                </a:solidFill>
                <a:latin typeface="Calibri" pitchFamily="34" charset="0"/>
                <a:ea typeface="Calibri" pitchFamily="34" charset="-122"/>
                <a:cs typeface="Calibri" pitchFamily="34" charset="-120"/>
              </a:rPr>
              <a:t>Random Forest</a:t>
            </a:r>
            <a:endParaRPr lang="en-US" sz="5400" dirty="0"/>
          </a:p>
        </p:txBody>
      </p:sp>
      <p:sp>
        <p:nvSpPr>
          <p:cNvPr id="4" name="Text 2"/>
          <p:cNvSpPr/>
          <p:nvPr/>
        </p:nvSpPr>
        <p:spPr>
          <a:xfrm>
            <a:off x="457200" y="2103120"/>
            <a:ext cx="8229600" cy="640080"/>
          </a:xfrm>
          <a:prstGeom prst="rect">
            <a:avLst/>
          </a:prstGeom>
          <a:noFill/>
        </p:spPr>
        <p:txBody>
          <a:bodyPr wrap="square" lIns="0" tIns="0" rIns="0" bIns="0" rtlCol="0" anchor="ctr"/>
          <a:lstStyle/>
          <a:p>
            <a:pPr marL="0" indent="0" algn="ctr">
              <a:buNone/>
            </a:pPr>
            <a:r>
              <a:rPr lang="en-US" sz="2600" dirty="0">
                <a:solidFill>
                  <a:srgbClr val="FFFFFF"/>
                </a:solidFill>
                <a:latin typeface="Calibri" pitchFamily="34" charset="0"/>
                <a:ea typeface="Calibri" pitchFamily="34" charset="-122"/>
                <a:cs typeface="Calibri" pitchFamily="34" charset="-120"/>
              </a:rPr>
              <a:t>Customer Churn Prediction</a:t>
            </a:r>
            <a:endParaRPr lang="en-US" sz="2600" dirty="0"/>
          </a:p>
        </p:txBody>
      </p:sp>
      <p:sp>
        <p:nvSpPr>
          <p:cNvPr id="5" name="Shape 3"/>
          <p:cNvSpPr/>
          <p:nvPr/>
        </p:nvSpPr>
        <p:spPr>
          <a:xfrm>
            <a:off x="3200400" y="2834640"/>
            <a:ext cx="2743200" cy="36576"/>
          </a:xfrm>
          <a:prstGeom prst="rect">
            <a:avLst/>
          </a:prstGeom>
          <a:solidFill>
            <a:srgbClr val="0891B2"/>
          </a:solidFill>
          <a:ln w="12700">
            <a:solidFill>
              <a:srgbClr val="0891B2"/>
            </a:solidFill>
            <a:prstDash val="solid"/>
          </a:ln>
        </p:spPr>
        <p:txBody>
          <a:bodyPr/>
          <a:lstStyle/>
          <a:p>
            <a:endParaRPr lang="en-US"/>
          </a:p>
        </p:txBody>
      </p:sp>
      <p:sp>
        <p:nvSpPr>
          <p:cNvPr id="6" name="Text 4"/>
          <p:cNvSpPr/>
          <p:nvPr/>
        </p:nvSpPr>
        <p:spPr>
          <a:xfrm>
            <a:off x="457200" y="3017520"/>
            <a:ext cx="8229600" cy="457200"/>
          </a:xfrm>
          <a:prstGeom prst="rect">
            <a:avLst/>
          </a:prstGeom>
          <a:noFill/>
        </p:spPr>
        <p:txBody>
          <a:bodyPr wrap="square" lIns="0" tIns="0" rIns="0" bIns="0" rtlCol="0" anchor="ctr"/>
          <a:lstStyle/>
          <a:p>
            <a:pPr marL="0" indent="0" algn="ctr">
              <a:buNone/>
            </a:pPr>
            <a:r>
              <a:rPr lang="en-US" sz="1400" i="1" dirty="0">
                <a:solidFill>
                  <a:srgbClr val="1E2761"/>
                </a:solidFill>
                <a:latin typeface="Calibri" pitchFamily="34" charset="0"/>
                <a:ea typeface="Calibri" pitchFamily="34" charset="-122"/>
                <a:cs typeface="Calibri" pitchFamily="34" charset="-120"/>
              </a:rPr>
              <a:t>Ensemble Decision Trees for Telecom Churn Prediction</a:t>
            </a:r>
            <a:endParaRPr lang="en-US" sz="1400" dirty="0"/>
          </a:p>
        </p:txBody>
      </p:sp>
      <p:sp>
        <p:nvSpPr>
          <p:cNvPr id="7" name="Text 5"/>
          <p:cNvSpPr/>
          <p:nvPr/>
        </p:nvSpPr>
        <p:spPr>
          <a:xfrm>
            <a:off x="457200" y="4206240"/>
            <a:ext cx="8229600" cy="365760"/>
          </a:xfrm>
          <a:prstGeom prst="rect">
            <a:avLst/>
          </a:prstGeom>
          <a:solidFill>
            <a:srgbClr val="1E2761"/>
          </a:solidFill>
          <a:ln>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Accuracy: 93.1%   |   F1 Score: 0.69   |   Churn Recall: 72%</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229600" cy="64008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is Random Forest?</a:t>
            </a:r>
            <a:endParaRPr lang="en-US" sz="2800" dirty="0"/>
          </a:p>
        </p:txBody>
      </p:sp>
      <p:sp>
        <p:nvSpPr>
          <p:cNvPr id="4" name="Shape 2"/>
          <p:cNvSpPr/>
          <p:nvPr/>
        </p:nvSpPr>
        <p:spPr>
          <a:xfrm>
            <a:off x="274320" y="1005840"/>
            <a:ext cx="2743200" cy="3474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1005840"/>
            <a:ext cx="2743200" cy="73152"/>
          </a:xfrm>
          <a:prstGeom prst="rect">
            <a:avLst/>
          </a:prstGeom>
          <a:solidFill>
            <a:srgbClr val="0891B2"/>
          </a:solidFill>
          <a:ln w="12700">
            <a:solidFill>
              <a:srgbClr val="0891B2"/>
            </a:solidFill>
            <a:prstDash val="solid"/>
          </a:ln>
        </p:spPr>
        <p:txBody>
          <a:bodyPr/>
          <a:lstStyle/>
          <a:p>
            <a:endParaRPr lang="en-US"/>
          </a:p>
        </p:txBody>
      </p:sp>
      <p:sp>
        <p:nvSpPr>
          <p:cNvPr id="6" name="Text 4"/>
          <p:cNvSpPr/>
          <p:nvPr/>
        </p:nvSpPr>
        <p:spPr>
          <a:xfrm>
            <a:off x="411480" y="1170432"/>
            <a:ext cx="2468880" cy="457200"/>
          </a:xfrm>
          <a:prstGeom prst="rect">
            <a:avLst/>
          </a:prstGeom>
          <a:noFill/>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Ensemble Learning</a:t>
            </a:r>
            <a:endParaRPr lang="en-US" sz="1500" dirty="0"/>
          </a:p>
        </p:txBody>
      </p:sp>
      <p:sp>
        <p:nvSpPr>
          <p:cNvPr id="7" name="Text 5"/>
          <p:cNvSpPr/>
          <p:nvPr/>
        </p:nvSpPr>
        <p:spPr>
          <a:xfrm>
            <a:off x="411480" y="1737360"/>
            <a:ext cx="2468880" cy="2560320"/>
          </a:xfrm>
          <a:prstGeom prst="rect">
            <a:avLst/>
          </a:prstGeom>
          <a:noFill/>
        </p:spPr>
        <p:txBody>
          <a:bodyPr wrap="square" lIns="0" tIns="0" rIns="0" bIns="0" rtlCol="0" anchor="t"/>
          <a:lstStyle/>
          <a:p>
            <a:pPr marL="0" indent="0">
              <a:buNone/>
            </a:pPr>
            <a:r>
              <a:rPr lang="en-US" sz="1200" dirty="0">
                <a:solidFill>
                  <a:srgbClr val="1E2761"/>
                </a:solidFill>
                <a:latin typeface="Calibri" pitchFamily="34" charset="0"/>
                <a:ea typeface="Calibri" pitchFamily="34" charset="-122"/>
                <a:cs typeface="Calibri" pitchFamily="34" charset="-120"/>
              </a:rPr>
              <a:t>Random Forest trains many independent decision trees on random subsets of data using bagging (bootstrap aggregating), then combines their votes for a final prediction.</a:t>
            </a:r>
            <a:endParaRPr lang="en-US" sz="1200" dirty="0"/>
          </a:p>
        </p:txBody>
      </p:sp>
      <p:sp>
        <p:nvSpPr>
          <p:cNvPr id="8" name="Shape 6"/>
          <p:cNvSpPr/>
          <p:nvPr/>
        </p:nvSpPr>
        <p:spPr>
          <a:xfrm>
            <a:off x="3200400" y="1005840"/>
            <a:ext cx="2743200" cy="3474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3200400" y="1005840"/>
            <a:ext cx="2743200" cy="73152"/>
          </a:xfrm>
          <a:prstGeom prst="rect">
            <a:avLst/>
          </a:prstGeom>
          <a:solidFill>
            <a:srgbClr val="0891B2"/>
          </a:solidFill>
          <a:ln w="12700">
            <a:solidFill>
              <a:srgbClr val="0891B2"/>
            </a:solidFill>
            <a:prstDash val="solid"/>
          </a:ln>
        </p:spPr>
        <p:txBody>
          <a:bodyPr/>
          <a:lstStyle/>
          <a:p>
            <a:endParaRPr lang="en-US"/>
          </a:p>
        </p:txBody>
      </p:sp>
      <p:sp>
        <p:nvSpPr>
          <p:cNvPr id="10" name="Text 8"/>
          <p:cNvSpPr/>
          <p:nvPr/>
        </p:nvSpPr>
        <p:spPr>
          <a:xfrm>
            <a:off x="3337560" y="1170432"/>
            <a:ext cx="2468880" cy="457200"/>
          </a:xfrm>
          <a:prstGeom prst="rect">
            <a:avLst/>
          </a:prstGeom>
          <a:noFill/>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Random Feature Selection</a:t>
            </a:r>
            <a:endParaRPr lang="en-US" sz="1500" dirty="0"/>
          </a:p>
        </p:txBody>
      </p:sp>
      <p:sp>
        <p:nvSpPr>
          <p:cNvPr id="11" name="Text 9"/>
          <p:cNvSpPr/>
          <p:nvPr/>
        </p:nvSpPr>
        <p:spPr>
          <a:xfrm>
            <a:off x="3337560" y="1737360"/>
            <a:ext cx="2468880" cy="2560320"/>
          </a:xfrm>
          <a:prstGeom prst="rect">
            <a:avLst/>
          </a:prstGeom>
          <a:noFill/>
        </p:spPr>
        <p:txBody>
          <a:bodyPr wrap="square" lIns="0" tIns="0" rIns="0" bIns="0" rtlCol="0" anchor="t"/>
          <a:lstStyle/>
          <a:p>
            <a:pPr marL="0" indent="0">
              <a:buNone/>
            </a:pPr>
            <a:r>
              <a:rPr lang="en-US" sz="1200" dirty="0">
                <a:solidFill>
                  <a:srgbClr val="1E2761"/>
                </a:solidFill>
                <a:latin typeface="Calibri" pitchFamily="34" charset="0"/>
                <a:ea typeface="Calibri" pitchFamily="34" charset="-122"/>
                <a:cs typeface="Calibri" pitchFamily="34" charset="-120"/>
              </a:rPr>
              <a:t>At each split, only a random subset of features is considered. This decorrelates the trees and reduces variance, improving generalisation on unseen data.</a:t>
            </a:r>
            <a:endParaRPr lang="en-US" sz="1200" dirty="0"/>
          </a:p>
        </p:txBody>
      </p:sp>
      <p:sp>
        <p:nvSpPr>
          <p:cNvPr id="12" name="Shape 10"/>
          <p:cNvSpPr/>
          <p:nvPr/>
        </p:nvSpPr>
        <p:spPr>
          <a:xfrm>
            <a:off x="6126480" y="1005840"/>
            <a:ext cx="2743200" cy="3474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6126480" y="1005840"/>
            <a:ext cx="2743200" cy="73152"/>
          </a:xfrm>
          <a:prstGeom prst="rect">
            <a:avLst/>
          </a:prstGeom>
          <a:solidFill>
            <a:srgbClr val="0891B2"/>
          </a:solidFill>
          <a:ln w="12700">
            <a:solidFill>
              <a:srgbClr val="0891B2"/>
            </a:solidFill>
            <a:prstDash val="solid"/>
          </a:ln>
        </p:spPr>
        <p:txBody>
          <a:bodyPr/>
          <a:lstStyle/>
          <a:p>
            <a:endParaRPr lang="en-US"/>
          </a:p>
        </p:txBody>
      </p:sp>
      <p:sp>
        <p:nvSpPr>
          <p:cNvPr id="14" name="Text 12"/>
          <p:cNvSpPr/>
          <p:nvPr/>
        </p:nvSpPr>
        <p:spPr>
          <a:xfrm>
            <a:off x="6263640" y="1170432"/>
            <a:ext cx="2468880" cy="457200"/>
          </a:xfrm>
          <a:prstGeom prst="rect">
            <a:avLst/>
          </a:prstGeom>
          <a:noFill/>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Built-In Feature Ranking</a:t>
            </a:r>
            <a:endParaRPr lang="en-US" sz="1500" dirty="0"/>
          </a:p>
        </p:txBody>
      </p:sp>
      <p:sp>
        <p:nvSpPr>
          <p:cNvPr id="15" name="Text 13"/>
          <p:cNvSpPr/>
          <p:nvPr/>
        </p:nvSpPr>
        <p:spPr>
          <a:xfrm>
            <a:off x="6263640" y="1737360"/>
            <a:ext cx="2468880" cy="2560320"/>
          </a:xfrm>
          <a:prstGeom prst="rect">
            <a:avLst/>
          </a:prstGeom>
          <a:noFill/>
        </p:spPr>
        <p:txBody>
          <a:bodyPr wrap="square" lIns="0" tIns="0" rIns="0" bIns="0" rtlCol="0" anchor="t"/>
          <a:lstStyle/>
          <a:p>
            <a:pPr marL="0" indent="0">
              <a:buNone/>
            </a:pPr>
            <a:r>
              <a:rPr lang="en-US" sz="1200" dirty="0">
                <a:solidFill>
                  <a:srgbClr val="1E2761"/>
                </a:solidFill>
                <a:latin typeface="Calibri" pitchFamily="34" charset="0"/>
                <a:ea typeface="Calibri" pitchFamily="34" charset="-122"/>
                <a:cs typeface="Calibri" pitchFamily="34" charset="-120"/>
              </a:rPr>
              <a:t>Random Forest provides feature importance scores based on how much each feature reduces impurity across all trees, identifying key churn drivers.</a:t>
            </a:r>
            <a:endParaRPr lang="en-US" sz="1200" dirty="0"/>
          </a:p>
        </p:txBody>
      </p:sp>
      <p:sp>
        <p:nvSpPr>
          <p:cNvPr id="16" name="Text 14"/>
          <p:cNvSpPr/>
          <p:nvPr/>
        </p:nvSpPr>
        <p:spPr>
          <a:xfrm>
            <a:off x="457200" y="4663440"/>
            <a:ext cx="8229600" cy="320040"/>
          </a:xfrm>
          <a:prstGeom prst="rect">
            <a:avLst/>
          </a:prstGeom>
          <a:solidFill>
            <a:srgbClr val="1E2761"/>
          </a:solidFill>
          <a:ln>
            <a:noFill/>
          </a:ln>
        </p:spPr>
        <p:txBody>
          <a:bodyPr wrap="square" lIns="0" tIns="0" rIns="0" bIns="0"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Tree 1 (random subset)  +  Tree 2 (random subset)  +  ...  +  Tree N  =  Majority Vote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229600" cy="64008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Why These Parameters?</a:t>
            </a:r>
            <a:endParaRPr lang="en-US" sz="2800" dirty="0"/>
          </a:p>
        </p:txBody>
      </p:sp>
      <p:sp>
        <p:nvSpPr>
          <p:cNvPr id="4" name="Shape 2"/>
          <p:cNvSpPr/>
          <p:nvPr/>
        </p:nvSpPr>
        <p:spPr>
          <a:xfrm>
            <a:off x="274320" y="960120"/>
            <a:ext cx="8595360" cy="8412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960120"/>
            <a:ext cx="64008" cy="841248"/>
          </a:xfrm>
          <a:prstGeom prst="rect">
            <a:avLst/>
          </a:prstGeom>
          <a:solidFill>
            <a:srgbClr val="0891B2"/>
          </a:solidFill>
          <a:ln w="12700">
            <a:solidFill>
              <a:srgbClr val="0891B2"/>
            </a:solidFill>
            <a:prstDash val="solid"/>
          </a:ln>
        </p:spPr>
        <p:txBody>
          <a:bodyPr/>
          <a:lstStyle/>
          <a:p>
            <a:endParaRPr lang="en-US"/>
          </a:p>
        </p:txBody>
      </p:sp>
      <p:sp>
        <p:nvSpPr>
          <p:cNvPr id="6" name="Text 4"/>
          <p:cNvSpPr/>
          <p:nvPr/>
        </p:nvSpPr>
        <p:spPr>
          <a:xfrm>
            <a:off x="502920" y="1033272"/>
            <a:ext cx="2926080" cy="320040"/>
          </a:xfrm>
          <a:prstGeom prst="rect">
            <a:avLst/>
          </a:prstGeom>
          <a:noFill/>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n_estimators = 100</a:t>
            </a:r>
            <a:endParaRPr lang="en-US" sz="1300" dirty="0"/>
          </a:p>
        </p:txBody>
      </p:sp>
      <p:sp>
        <p:nvSpPr>
          <p:cNvPr id="7" name="Text 5"/>
          <p:cNvSpPr/>
          <p:nvPr/>
        </p:nvSpPr>
        <p:spPr>
          <a:xfrm>
            <a:off x="502920" y="1399032"/>
            <a:ext cx="8138160" cy="347472"/>
          </a:xfrm>
          <a:prstGeom prst="rect">
            <a:avLst/>
          </a:prstGeom>
          <a:noFill/>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Balances accuracy and training time. 100 trees provides sufficient diversity for robust ensemble voting without excessive compute or diminishing returns.</a:t>
            </a:r>
            <a:endParaRPr lang="en-US" sz="1150" dirty="0"/>
          </a:p>
        </p:txBody>
      </p:sp>
      <p:sp>
        <p:nvSpPr>
          <p:cNvPr id="8" name="Shape 6"/>
          <p:cNvSpPr/>
          <p:nvPr/>
        </p:nvSpPr>
        <p:spPr>
          <a:xfrm>
            <a:off x="274320" y="1965960"/>
            <a:ext cx="8595360" cy="8412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274320" y="1965960"/>
            <a:ext cx="64008" cy="841248"/>
          </a:xfrm>
          <a:prstGeom prst="rect">
            <a:avLst/>
          </a:prstGeom>
          <a:solidFill>
            <a:srgbClr val="0891B2"/>
          </a:solidFill>
          <a:ln w="12700">
            <a:solidFill>
              <a:srgbClr val="0891B2"/>
            </a:solidFill>
            <a:prstDash val="solid"/>
          </a:ln>
        </p:spPr>
        <p:txBody>
          <a:bodyPr/>
          <a:lstStyle/>
          <a:p>
            <a:endParaRPr lang="en-US"/>
          </a:p>
        </p:txBody>
      </p:sp>
      <p:sp>
        <p:nvSpPr>
          <p:cNvPr id="10" name="Text 8"/>
          <p:cNvSpPr/>
          <p:nvPr/>
        </p:nvSpPr>
        <p:spPr>
          <a:xfrm>
            <a:off x="502920" y="2039112"/>
            <a:ext cx="2926080" cy="320040"/>
          </a:xfrm>
          <a:prstGeom prst="rect">
            <a:avLst/>
          </a:prstGeom>
          <a:noFill/>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criterion = 'gini'</a:t>
            </a:r>
            <a:endParaRPr lang="en-US" sz="1300" dirty="0"/>
          </a:p>
        </p:txBody>
      </p:sp>
      <p:sp>
        <p:nvSpPr>
          <p:cNvPr id="11" name="Text 9"/>
          <p:cNvSpPr/>
          <p:nvPr/>
        </p:nvSpPr>
        <p:spPr>
          <a:xfrm>
            <a:off x="502920" y="2404872"/>
            <a:ext cx="8138160" cy="347472"/>
          </a:xfrm>
          <a:prstGeom prst="rect">
            <a:avLst/>
          </a:prstGeom>
          <a:noFill/>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Gini impurity measures how often a randomly chosen element would be misclassified. Default and effective split criterion for churn classification tasks.</a:t>
            </a:r>
            <a:endParaRPr lang="en-US" sz="1150" dirty="0"/>
          </a:p>
        </p:txBody>
      </p:sp>
      <p:sp>
        <p:nvSpPr>
          <p:cNvPr id="12" name="Shape 10"/>
          <p:cNvSpPr/>
          <p:nvPr/>
        </p:nvSpPr>
        <p:spPr>
          <a:xfrm>
            <a:off x="274320" y="2971800"/>
            <a:ext cx="8595360" cy="8412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74320" y="2971800"/>
            <a:ext cx="64008" cy="841248"/>
          </a:xfrm>
          <a:prstGeom prst="rect">
            <a:avLst/>
          </a:prstGeom>
          <a:solidFill>
            <a:srgbClr val="0891B2"/>
          </a:solidFill>
          <a:ln w="12700">
            <a:solidFill>
              <a:srgbClr val="0891B2"/>
            </a:solidFill>
            <a:prstDash val="solid"/>
          </a:ln>
        </p:spPr>
        <p:txBody>
          <a:bodyPr/>
          <a:lstStyle/>
          <a:p>
            <a:endParaRPr lang="en-US"/>
          </a:p>
        </p:txBody>
      </p:sp>
      <p:sp>
        <p:nvSpPr>
          <p:cNvPr id="14" name="Text 12"/>
          <p:cNvSpPr/>
          <p:nvPr/>
        </p:nvSpPr>
        <p:spPr>
          <a:xfrm>
            <a:off x="502920" y="3044952"/>
            <a:ext cx="2926080" cy="320040"/>
          </a:xfrm>
          <a:prstGeom prst="rect">
            <a:avLst/>
          </a:prstGeom>
          <a:noFill/>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random_state = 42</a:t>
            </a:r>
            <a:endParaRPr lang="en-US" sz="1300" dirty="0"/>
          </a:p>
        </p:txBody>
      </p:sp>
      <p:sp>
        <p:nvSpPr>
          <p:cNvPr id="15" name="Text 13"/>
          <p:cNvSpPr/>
          <p:nvPr/>
        </p:nvSpPr>
        <p:spPr>
          <a:xfrm>
            <a:off x="502920" y="3410712"/>
            <a:ext cx="8138160" cy="347472"/>
          </a:xfrm>
          <a:prstGeom prst="rect">
            <a:avLst/>
          </a:prstGeom>
          <a:noFill/>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Ensures reproducibility. Every team member gets identical results when re-running the notebook — critical for a group project.</a:t>
            </a:r>
            <a:endParaRPr lang="en-US" sz="1150" dirty="0"/>
          </a:p>
        </p:txBody>
      </p:sp>
      <p:sp>
        <p:nvSpPr>
          <p:cNvPr id="16" name="Shape 14"/>
          <p:cNvSpPr/>
          <p:nvPr/>
        </p:nvSpPr>
        <p:spPr>
          <a:xfrm>
            <a:off x="274320" y="3977640"/>
            <a:ext cx="8595360" cy="841248"/>
          </a:xfrm>
          <a:prstGeom prst="rect">
            <a:avLst/>
          </a:prstGeom>
          <a:solidFill>
            <a:srgbClr val="1E2761"/>
          </a:solidFill>
          <a:ln>
            <a:noFill/>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274320" y="3977640"/>
            <a:ext cx="64008" cy="841248"/>
          </a:xfrm>
          <a:prstGeom prst="rect">
            <a:avLst/>
          </a:prstGeom>
          <a:solidFill>
            <a:srgbClr val="0891B2"/>
          </a:solidFill>
          <a:ln w="12700">
            <a:solidFill>
              <a:srgbClr val="0891B2"/>
            </a:solidFill>
            <a:prstDash val="solid"/>
          </a:ln>
        </p:spPr>
        <p:txBody>
          <a:bodyPr/>
          <a:lstStyle/>
          <a:p>
            <a:endParaRPr lang="en-US"/>
          </a:p>
        </p:txBody>
      </p:sp>
      <p:sp>
        <p:nvSpPr>
          <p:cNvPr id="18" name="Text 16"/>
          <p:cNvSpPr/>
          <p:nvPr/>
        </p:nvSpPr>
        <p:spPr>
          <a:xfrm>
            <a:off x="502920" y="4050792"/>
            <a:ext cx="2926080" cy="320040"/>
          </a:xfrm>
          <a:prstGeom prst="rect">
            <a:avLst/>
          </a:prstGeom>
          <a:noFill/>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StandardScaler (preprocessing)</a:t>
            </a:r>
            <a:endParaRPr lang="en-US" sz="1300" dirty="0"/>
          </a:p>
        </p:txBody>
      </p:sp>
      <p:sp>
        <p:nvSpPr>
          <p:cNvPr id="19" name="Text 17"/>
          <p:cNvSpPr/>
          <p:nvPr/>
        </p:nvSpPr>
        <p:spPr>
          <a:xfrm>
            <a:off x="502920" y="4416552"/>
            <a:ext cx="8138160" cy="347472"/>
          </a:xfrm>
          <a:prstGeom prst="rect">
            <a:avLst/>
          </a:prstGeom>
          <a:solidFill>
            <a:srgbClr val="1E2761"/>
          </a:solidFill>
          <a:ln>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Applied for consistency across the pipeline. While Random Forest is tree-based and scale-invariant, scaling was used to standardise all models.</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229600" cy="64008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Model Results</a:t>
            </a:r>
            <a:endParaRPr lang="en-US" sz="2800" dirty="0"/>
          </a:p>
        </p:txBody>
      </p:sp>
      <p:sp>
        <p:nvSpPr>
          <p:cNvPr id="4" name="Shape 2"/>
          <p:cNvSpPr/>
          <p:nvPr/>
        </p:nvSpPr>
        <p:spPr>
          <a:xfrm>
            <a:off x="228600" y="960120"/>
            <a:ext cx="1051560" cy="1463040"/>
          </a:xfrm>
          <a:prstGeom prst="rect">
            <a:avLst/>
          </a:prstGeom>
          <a:solidFill>
            <a:srgbClr val="EEF2F7"/>
          </a:solidFill>
          <a:ln>
            <a:noFill/>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228600" y="1097280"/>
            <a:ext cx="1051560" cy="640080"/>
          </a:xfrm>
          <a:prstGeom prst="rect">
            <a:avLst/>
          </a:prstGeom>
          <a:noFill/>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93.1%</a:t>
            </a:r>
            <a:endParaRPr lang="en-US" sz="2200" dirty="0"/>
          </a:p>
        </p:txBody>
      </p:sp>
      <p:sp>
        <p:nvSpPr>
          <p:cNvPr id="6" name="Text 4"/>
          <p:cNvSpPr/>
          <p:nvPr/>
        </p:nvSpPr>
        <p:spPr>
          <a:xfrm>
            <a:off x="228600" y="1828800"/>
            <a:ext cx="1051560" cy="457200"/>
          </a:xfrm>
          <a:prstGeom prst="rect">
            <a:avLst/>
          </a:prstGeom>
          <a:noFill/>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Overall Accuracy</a:t>
            </a:r>
            <a:endParaRPr lang="en-US" sz="900" dirty="0"/>
          </a:p>
        </p:txBody>
      </p:sp>
      <p:sp>
        <p:nvSpPr>
          <p:cNvPr id="7" name="Shape 5"/>
          <p:cNvSpPr/>
          <p:nvPr/>
        </p:nvSpPr>
        <p:spPr>
          <a:xfrm>
            <a:off x="1399032" y="960120"/>
            <a:ext cx="1051560" cy="1463040"/>
          </a:xfrm>
          <a:prstGeom prst="rect">
            <a:avLst/>
          </a:prstGeom>
          <a:solidFill>
            <a:srgbClr val="EEF2F7"/>
          </a:solidFill>
          <a:ln>
            <a:noFill/>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1399032" y="1097280"/>
            <a:ext cx="1051560" cy="640080"/>
          </a:xfrm>
          <a:prstGeom prst="rect">
            <a:avLst/>
          </a:prstGeom>
          <a:noFill/>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72%</a:t>
            </a:r>
            <a:endParaRPr lang="en-US" sz="2200" dirty="0"/>
          </a:p>
        </p:txBody>
      </p:sp>
      <p:sp>
        <p:nvSpPr>
          <p:cNvPr id="9" name="Text 7"/>
          <p:cNvSpPr/>
          <p:nvPr/>
        </p:nvSpPr>
        <p:spPr>
          <a:xfrm>
            <a:off x="1399032" y="1828800"/>
            <a:ext cx="1051560" cy="457200"/>
          </a:xfrm>
          <a:prstGeom prst="rect">
            <a:avLst/>
          </a:prstGeom>
          <a:noFill/>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Churn Recall</a:t>
            </a:r>
            <a:endParaRPr lang="en-US" sz="900" dirty="0"/>
          </a:p>
        </p:txBody>
      </p:sp>
      <p:sp>
        <p:nvSpPr>
          <p:cNvPr id="10" name="Shape 8"/>
          <p:cNvSpPr/>
          <p:nvPr/>
        </p:nvSpPr>
        <p:spPr>
          <a:xfrm>
            <a:off x="2569464" y="960120"/>
            <a:ext cx="1051560" cy="1463040"/>
          </a:xfrm>
          <a:prstGeom prst="rect">
            <a:avLst/>
          </a:prstGeom>
          <a:solidFill>
            <a:srgbClr val="EEF2F7"/>
          </a:solidFill>
          <a:ln>
            <a:noFill/>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2569464" y="1097280"/>
            <a:ext cx="1051560" cy="640080"/>
          </a:xfrm>
          <a:prstGeom prst="rect">
            <a:avLst/>
          </a:prstGeom>
          <a:noFill/>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68%</a:t>
            </a:r>
            <a:endParaRPr lang="en-US" sz="2200" dirty="0"/>
          </a:p>
        </p:txBody>
      </p:sp>
      <p:sp>
        <p:nvSpPr>
          <p:cNvPr id="12" name="Text 10"/>
          <p:cNvSpPr/>
          <p:nvPr/>
        </p:nvSpPr>
        <p:spPr>
          <a:xfrm>
            <a:off x="2569464" y="1828800"/>
            <a:ext cx="1051560" cy="457200"/>
          </a:xfrm>
          <a:prstGeom prst="rect">
            <a:avLst/>
          </a:prstGeom>
          <a:noFill/>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Churn Precision</a:t>
            </a:r>
            <a:endParaRPr lang="en-US" sz="900" dirty="0"/>
          </a:p>
        </p:txBody>
      </p:sp>
      <p:sp>
        <p:nvSpPr>
          <p:cNvPr id="13" name="Shape 11"/>
          <p:cNvSpPr/>
          <p:nvPr/>
        </p:nvSpPr>
        <p:spPr>
          <a:xfrm>
            <a:off x="3739896" y="960120"/>
            <a:ext cx="1051560" cy="1463040"/>
          </a:xfrm>
          <a:prstGeom prst="rect">
            <a:avLst/>
          </a:prstGeom>
          <a:solidFill>
            <a:srgbClr val="EEF2F7"/>
          </a:solidFill>
          <a:ln>
            <a:noFill/>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3739896" y="1097280"/>
            <a:ext cx="1051560" cy="640080"/>
          </a:xfrm>
          <a:prstGeom prst="rect">
            <a:avLst/>
          </a:prstGeom>
          <a:noFill/>
        </p:spPr>
        <p:txBody>
          <a:bodyPr wrap="square" lIns="0" tIns="0" rIns="0" bIns="0"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0.69</a:t>
            </a:r>
            <a:endParaRPr lang="en-US" sz="2200" dirty="0"/>
          </a:p>
        </p:txBody>
      </p:sp>
      <p:sp>
        <p:nvSpPr>
          <p:cNvPr id="15" name="Text 13"/>
          <p:cNvSpPr/>
          <p:nvPr/>
        </p:nvSpPr>
        <p:spPr>
          <a:xfrm>
            <a:off x="3739896" y="1828800"/>
            <a:ext cx="1051560" cy="457200"/>
          </a:xfrm>
          <a:prstGeom prst="rect">
            <a:avLst/>
          </a:prstGeom>
          <a:noFill/>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F1 Score (Churn)</a:t>
            </a:r>
            <a:endParaRPr lang="en-US" sz="900" dirty="0"/>
          </a:p>
        </p:txBody>
      </p:sp>
      <p:sp>
        <p:nvSpPr>
          <p:cNvPr id="16" name="Text 14"/>
          <p:cNvSpPr/>
          <p:nvPr/>
        </p:nvSpPr>
        <p:spPr>
          <a:xfrm>
            <a:off x="274320" y="2606040"/>
            <a:ext cx="4114800" cy="32004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Confusion Matrix</a:t>
            </a:r>
            <a:endParaRPr lang="en-US" sz="1400" dirty="0"/>
          </a:p>
        </p:txBody>
      </p:sp>
      <p:graphicFrame>
        <p:nvGraphicFramePr>
          <p:cNvPr id="17" name="Table 0"/>
          <p:cNvGraphicFramePr>
            <a:graphicFrameLocks noGrp="1"/>
          </p:cNvGraphicFramePr>
          <p:nvPr/>
        </p:nvGraphicFramePr>
        <p:xfrm>
          <a:off x="274320" y="2971800"/>
          <a:ext cx="4572000" cy="1920240"/>
        </p:xfrm>
        <a:graphic>
          <a:graphicData uri="http://schemas.openxmlformats.org/drawingml/2006/table">
            <a:tbl>
              <a:tblPr/>
              <a:tblGrid>
                <a:gridCol w="1463040"/>
                <a:gridCol w="1554480"/>
                <a:gridCol w="1554480"/>
              </a:tblGrid>
              <a:tr h="640080">
                <a:tc>
                  <a:txBody>
                    <a:bodyPr/>
                    <a:lstStyle/>
                    <a:p>
                      <a:pPr marL="0" indent="0" algn="ctr">
                        <a:buNone/>
                      </a:pP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000" b="1" dirty="0">
                          <a:solidFill>
                            <a:srgbClr val="FFFFFF"/>
                          </a:solidFill>
                        </a:rPr>
                        <a:t>Predicted: No Churn</a:t>
                      </a: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000" b="1" dirty="0">
                          <a:solidFill>
                            <a:srgbClr val="FFFFFF"/>
                          </a:solidFill>
                        </a:rPr>
                        <a:t>Predicted: Churn</a:t>
                      </a: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r>
              <a:tr h="640080">
                <a:tc>
                  <a:txBody>
                    <a:bodyPr/>
                    <a:lstStyle/>
                    <a:p>
                      <a:pPr marL="0" indent="0" algn="ctr">
                        <a:buNone/>
                      </a:pPr>
                      <a:r>
                        <a:rPr lang="en-US" sz="1000" b="1" dirty="0">
                          <a:solidFill>
                            <a:srgbClr val="FFFFFF"/>
                          </a:solidFill>
                        </a:rPr>
                        <a:t>Actual: No Churn</a:t>
                      </a: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600" b="1" dirty="0">
                          <a:solidFill>
                            <a:srgbClr val="FFFFFF"/>
                          </a:solidFill>
                        </a:rPr>
                        <a:t>438</a:t>
                      </a:r>
                      <a:endParaRPr lang="en-US" sz="1600" dirty="0"/>
                    </a:p>
                  </a:txBody>
                  <a:tcPr anchor="ctr">
                    <a:lnL w="0" cap="flat" cmpd="sng" algn="ctr">
                      <a:noFill/>
                    </a:lnL>
                    <a:lnR w="0" cap="flat" cmpd="sng" algn="ctr">
                      <a:noFill/>
                    </a:lnR>
                    <a:lnT w="0" cap="flat" cmpd="sng" algn="ctr">
                      <a:noFill/>
                    </a:lnT>
                    <a:lnB w="0" cap="flat" cmpd="sng" algn="ctr">
                      <a:noFill/>
                    </a:lnB>
                    <a:solidFill>
                      <a:srgbClr val="166534"/>
                    </a:solidFill>
                  </a:tcPr>
                </a:tc>
                <a:tc>
                  <a:txBody>
                    <a:bodyPr/>
                    <a:lstStyle/>
                    <a:p>
                      <a:pPr marL="0" indent="0" algn="ctr">
                        <a:buNone/>
                      </a:pPr>
                      <a:r>
                        <a:rPr lang="en-US" sz="1600" dirty="0">
                          <a:solidFill>
                            <a:srgbClr val="FFFFFF"/>
                          </a:solidFill>
                        </a:rPr>
                        <a:t>18</a:t>
                      </a:r>
                      <a:endParaRPr lang="en-US" sz="1600" dirty="0"/>
                    </a:p>
                  </a:txBody>
                  <a:tcPr anchor="ctr">
                    <a:lnL w="0" cap="flat" cmpd="sng" algn="ctr">
                      <a:noFill/>
                    </a:lnL>
                    <a:lnR w="0" cap="flat" cmpd="sng" algn="ctr">
                      <a:noFill/>
                    </a:lnR>
                    <a:lnT w="0" cap="flat" cmpd="sng" algn="ctr">
                      <a:noFill/>
                    </a:lnT>
                    <a:lnB w="0" cap="flat" cmpd="sng" algn="ctr">
                      <a:noFill/>
                    </a:lnB>
                    <a:solidFill>
                      <a:srgbClr val="7F1D1D"/>
                    </a:solidFill>
                  </a:tcPr>
                </a:tc>
              </a:tr>
              <a:tr h="640080">
                <a:tc>
                  <a:txBody>
                    <a:bodyPr/>
                    <a:lstStyle/>
                    <a:p>
                      <a:pPr marL="0" indent="0" algn="ctr">
                        <a:buNone/>
                      </a:pPr>
                      <a:r>
                        <a:rPr lang="en-US" sz="1000" b="1" dirty="0">
                          <a:solidFill>
                            <a:srgbClr val="FFFFFF"/>
                          </a:solidFill>
                        </a:rPr>
                        <a:t>Actual: Churn</a:t>
                      </a:r>
                      <a:endParaRPr lang="en-US" sz="10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600" dirty="0">
                          <a:solidFill>
                            <a:srgbClr val="FFFFFF"/>
                          </a:solidFill>
                        </a:rPr>
                        <a:t>19</a:t>
                      </a:r>
                      <a:endParaRPr lang="en-US" sz="1600" dirty="0"/>
                    </a:p>
                  </a:txBody>
                  <a:tcPr anchor="ctr">
                    <a:lnL w="0" cap="flat" cmpd="sng" algn="ctr">
                      <a:noFill/>
                    </a:lnL>
                    <a:lnR w="0" cap="flat" cmpd="sng" algn="ctr">
                      <a:noFill/>
                    </a:lnR>
                    <a:lnT w="0" cap="flat" cmpd="sng" algn="ctr">
                      <a:noFill/>
                    </a:lnT>
                    <a:lnB w="0" cap="flat" cmpd="sng" algn="ctr">
                      <a:noFill/>
                    </a:lnB>
                    <a:solidFill>
                      <a:srgbClr val="7F1D1D"/>
                    </a:solidFill>
                  </a:tcPr>
                </a:tc>
                <a:tc>
                  <a:txBody>
                    <a:bodyPr/>
                    <a:lstStyle/>
                    <a:p>
                      <a:pPr marL="0" indent="0" algn="ctr">
                        <a:buNone/>
                      </a:pPr>
                      <a:r>
                        <a:rPr lang="en-US" sz="1600" b="1" dirty="0">
                          <a:solidFill>
                            <a:srgbClr val="FFFFFF"/>
                          </a:solidFill>
                        </a:rPr>
                        <a:t>59</a:t>
                      </a:r>
                      <a:endParaRPr lang="en-US" sz="1600" dirty="0"/>
                    </a:p>
                  </a:txBody>
                  <a:tcPr anchor="ctr">
                    <a:lnL w="0" cap="flat" cmpd="sng" algn="ctr">
                      <a:noFill/>
                    </a:lnL>
                    <a:lnR w="0" cap="flat" cmpd="sng" algn="ctr">
                      <a:noFill/>
                    </a:lnR>
                    <a:lnT w="0" cap="flat" cmpd="sng" algn="ctr">
                      <a:noFill/>
                    </a:lnT>
                    <a:lnB w="0" cap="flat" cmpd="sng" algn="ctr">
                      <a:noFill/>
                    </a:lnB>
                    <a:solidFill>
                      <a:srgbClr val="166534"/>
                    </a:solidFill>
                  </a:tcPr>
                </a:tc>
              </a:tr>
            </a:tbl>
          </a:graphicData>
        </a:graphic>
      </p:graphicFrame>
      <p:graphicFrame>
        <p:nvGraphicFramePr>
          <p:cNvPr id="19" name="Chart 0"/>
          <p:cNvGraphicFramePr/>
          <p:nvPr>
            <p:custDataLst>
              <p:tags r:id="rId2"/>
            </p:custDataLst>
          </p:nvPr>
        </p:nvGraphicFramePr>
        <p:xfrm>
          <a:off x="5029200" y="960120"/>
          <a:ext cx="3840480" cy="393192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229600" cy="64008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Business Impact</a:t>
            </a:r>
            <a:endParaRPr lang="en-US" sz="2800" dirty="0"/>
          </a:p>
        </p:txBody>
      </p:sp>
      <p:sp>
        <p:nvSpPr>
          <p:cNvPr id="4" name="Shape 2"/>
          <p:cNvSpPr/>
          <p:nvPr/>
        </p:nvSpPr>
        <p:spPr>
          <a:xfrm>
            <a:off x="274320" y="96012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960120"/>
            <a:ext cx="4160520" cy="64008"/>
          </a:xfrm>
          <a:prstGeom prst="rect">
            <a:avLst/>
          </a:prstGeom>
          <a:solidFill>
            <a:srgbClr val="0891B2"/>
          </a:solidFill>
          <a:ln w="12700">
            <a:solidFill>
              <a:srgbClr val="0891B2"/>
            </a:solidFill>
            <a:prstDash val="solid"/>
          </a:ln>
        </p:spPr>
        <p:txBody>
          <a:bodyPr/>
          <a:lstStyle/>
          <a:p>
            <a:endParaRPr lang="en-US"/>
          </a:p>
        </p:txBody>
      </p:sp>
      <p:sp>
        <p:nvSpPr>
          <p:cNvPr id="6" name="Text 4"/>
          <p:cNvSpPr/>
          <p:nvPr/>
        </p:nvSpPr>
        <p:spPr>
          <a:xfrm>
            <a:off x="457200" y="109728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  Strong Churn Detection</a:t>
            </a:r>
            <a:endParaRPr lang="en-US" sz="1400" dirty="0"/>
          </a:p>
        </p:txBody>
      </p:sp>
      <p:sp>
        <p:nvSpPr>
          <p:cNvPr id="7" name="Text 5"/>
          <p:cNvSpPr/>
          <p:nvPr/>
        </p:nvSpPr>
        <p:spPr>
          <a:xfrm>
            <a:off x="457200" y="155448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Random Forest catches 72% of churners, giving retention teams early warning to intervene with targeted offers before customers leave.</a:t>
            </a:r>
            <a:endParaRPr lang="en-US" sz="1150" dirty="0"/>
          </a:p>
        </p:txBody>
      </p:sp>
      <p:sp>
        <p:nvSpPr>
          <p:cNvPr id="8" name="Shape 6"/>
          <p:cNvSpPr/>
          <p:nvPr/>
        </p:nvSpPr>
        <p:spPr>
          <a:xfrm>
            <a:off x="4709160" y="96012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709160" y="960120"/>
            <a:ext cx="4160520" cy="64008"/>
          </a:xfrm>
          <a:prstGeom prst="rect">
            <a:avLst/>
          </a:prstGeom>
          <a:solidFill>
            <a:srgbClr val="0891B2"/>
          </a:solidFill>
          <a:ln w="12700">
            <a:solidFill>
              <a:srgbClr val="0891B2"/>
            </a:solidFill>
            <a:prstDash val="solid"/>
          </a:ln>
        </p:spPr>
        <p:txBody>
          <a:bodyPr/>
          <a:lstStyle/>
          <a:p>
            <a:endParaRPr lang="en-US"/>
          </a:p>
        </p:txBody>
      </p:sp>
      <p:sp>
        <p:nvSpPr>
          <p:cNvPr id="10" name="Text 8"/>
          <p:cNvSpPr/>
          <p:nvPr/>
        </p:nvSpPr>
        <p:spPr>
          <a:xfrm>
            <a:off x="4892040" y="109728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  Transparent Feature Ranking</a:t>
            </a:r>
            <a:endParaRPr lang="en-US" sz="1400" dirty="0"/>
          </a:p>
        </p:txBody>
      </p:sp>
      <p:sp>
        <p:nvSpPr>
          <p:cNvPr id="11" name="Text 9"/>
          <p:cNvSpPr/>
          <p:nvPr/>
        </p:nvSpPr>
        <p:spPr>
          <a:xfrm>
            <a:off x="4892040" y="155448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Built-in feature importance reveals that international plan, total day minutes, and service calls are top churn drivers — directly actionable insights.</a:t>
            </a:r>
            <a:endParaRPr lang="en-US" sz="1150" dirty="0"/>
          </a:p>
        </p:txBody>
      </p:sp>
      <p:sp>
        <p:nvSpPr>
          <p:cNvPr id="12" name="Shape 10"/>
          <p:cNvSpPr/>
          <p:nvPr/>
        </p:nvSpPr>
        <p:spPr>
          <a:xfrm>
            <a:off x="274320" y="292608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74320" y="2926080"/>
            <a:ext cx="4160520" cy="64008"/>
          </a:xfrm>
          <a:prstGeom prst="rect">
            <a:avLst/>
          </a:prstGeom>
          <a:solidFill>
            <a:srgbClr val="0891B2"/>
          </a:solidFill>
          <a:ln w="12700">
            <a:solidFill>
              <a:srgbClr val="0891B2"/>
            </a:solidFill>
            <a:prstDash val="solid"/>
          </a:ln>
        </p:spPr>
        <p:txBody>
          <a:bodyPr/>
          <a:lstStyle/>
          <a:p>
            <a:endParaRPr lang="en-US"/>
          </a:p>
        </p:txBody>
      </p:sp>
      <p:sp>
        <p:nvSpPr>
          <p:cNvPr id="14" name="Text 12"/>
          <p:cNvSpPr/>
          <p:nvPr/>
        </p:nvSpPr>
        <p:spPr>
          <a:xfrm>
            <a:off x="457200" y="306324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  Robust to Overfitting</a:t>
            </a:r>
            <a:endParaRPr lang="en-US" sz="1400" dirty="0"/>
          </a:p>
        </p:txBody>
      </p:sp>
      <p:sp>
        <p:nvSpPr>
          <p:cNvPr id="15" name="Text 13"/>
          <p:cNvSpPr/>
          <p:nvPr/>
        </p:nvSpPr>
        <p:spPr>
          <a:xfrm>
            <a:off x="457200" y="352044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Bagging and random feature selection reduce variance and prevent overfitting. No single noisy feature can dominate the ensemble prediction.</a:t>
            </a:r>
            <a:endParaRPr lang="en-US" sz="1150" dirty="0"/>
          </a:p>
        </p:txBody>
      </p:sp>
      <p:sp>
        <p:nvSpPr>
          <p:cNvPr id="16" name="Shape 14"/>
          <p:cNvSpPr/>
          <p:nvPr/>
        </p:nvSpPr>
        <p:spPr>
          <a:xfrm>
            <a:off x="4709160" y="292608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709160" y="2926080"/>
            <a:ext cx="4160520" cy="64008"/>
          </a:xfrm>
          <a:prstGeom prst="rect">
            <a:avLst/>
          </a:prstGeom>
          <a:solidFill>
            <a:srgbClr val="0891B2"/>
          </a:solidFill>
          <a:ln w="12700">
            <a:solidFill>
              <a:srgbClr val="0891B2"/>
            </a:solidFill>
            <a:prstDash val="solid"/>
          </a:ln>
        </p:spPr>
        <p:txBody>
          <a:bodyPr/>
          <a:lstStyle/>
          <a:p>
            <a:endParaRPr lang="en-US"/>
          </a:p>
        </p:txBody>
      </p:sp>
      <p:sp>
        <p:nvSpPr>
          <p:cNvPr id="18" name="Text 16"/>
          <p:cNvSpPr/>
          <p:nvPr/>
        </p:nvSpPr>
        <p:spPr>
          <a:xfrm>
            <a:off x="4892040" y="306324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  No Hyperparameter Tuning Needed</a:t>
            </a:r>
            <a:endParaRPr lang="en-US" sz="1400" dirty="0"/>
          </a:p>
        </p:txBody>
      </p:sp>
      <p:sp>
        <p:nvSpPr>
          <p:cNvPr id="19" name="Text 17"/>
          <p:cNvSpPr/>
          <p:nvPr/>
        </p:nvSpPr>
        <p:spPr>
          <a:xfrm>
            <a:off x="4892040" y="352044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Random Forest works well out-of-the-box with default parameters. Strong 93.1% accuracy achieved with minimal configuration — ideal for rapid prototyping.</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a:noFill/>
          </a:ln>
        </p:spPr>
        <p:txBody>
          <a:bodyPr/>
          <a:lstStyle/>
          <a:p>
            <a:endParaRPr lang="en-US"/>
          </a:p>
        </p:txBody>
      </p:sp>
      <p:sp>
        <p:nvSpPr>
          <p:cNvPr id="3" name="Text 1"/>
          <p:cNvSpPr/>
          <p:nvPr/>
        </p:nvSpPr>
        <p:spPr>
          <a:xfrm>
            <a:off x="365760" y="91440"/>
            <a:ext cx="8229600" cy="640080"/>
          </a:xfrm>
          <a:prstGeom prst="rect">
            <a:avLst/>
          </a:prstGeom>
          <a:solidFill>
            <a:srgbClr val="1E2761"/>
          </a:solidFill>
          <a:ln>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Top Feature Importances</a:t>
            </a:r>
            <a:endParaRPr lang="en-US" sz="2800" dirty="0"/>
          </a:p>
        </p:txBody>
      </p:sp>
      <p:sp>
        <p:nvSpPr>
          <p:cNvPr id="4" name="Shape 2"/>
          <p:cNvSpPr/>
          <p:nvPr/>
        </p:nvSpPr>
        <p:spPr>
          <a:xfrm>
            <a:off x="274320" y="96012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960120"/>
            <a:ext cx="4160520" cy="64008"/>
          </a:xfrm>
          <a:prstGeom prst="rect">
            <a:avLst/>
          </a:prstGeom>
          <a:solidFill>
            <a:srgbClr val="0891B2"/>
          </a:solidFill>
          <a:ln w="12700">
            <a:solidFill>
              <a:srgbClr val="0891B2"/>
            </a:solidFill>
            <a:prstDash val="solid"/>
          </a:ln>
        </p:spPr>
        <p:txBody>
          <a:bodyPr/>
          <a:lstStyle/>
          <a:p>
            <a:endParaRPr lang="en-US"/>
          </a:p>
        </p:txBody>
      </p:sp>
      <p:sp>
        <p:nvSpPr>
          <p:cNvPr id="6" name="Text 4"/>
          <p:cNvSpPr/>
          <p:nvPr/>
        </p:nvSpPr>
        <p:spPr>
          <a:xfrm>
            <a:off x="457200" y="109728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Total Day Minutes (0.107)</a:t>
            </a:r>
            <a:endParaRPr lang="en-US" sz="1400" dirty="0"/>
          </a:p>
        </p:txBody>
      </p:sp>
      <p:sp>
        <p:nvSpPr>
          <p:cNvPr id="7" name="Text 5"/>
          <p:cNvSpPr/>
          <p:nvPr/>
        </p:nvSpPr>
        <p:spPr>
          <a:xfrm>
            <a:off x="457200" y="155448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Daytime usage is the strongest predictor of churn. Heavy users likely face higher bills, making them more price-sensitive and prone to switching providers.</a:t>
            </a:r>
            <a:endParaRPr lang="en-US" sz="1150" dirty="0"/>
          </a:p>
        </p:txBody>
      </p:sp>
      <p:sp>
        <p:nvSpPr>
          <p:cNvPr id="8" name="Shape 6"/>
          <p:cNvSpPr/>
          <p:nvPr/>
        </p:nvSpPr>
        <p:spPr>
          <a:xfrm>
            <a:off x="4709160" y="96012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709160" y="960120"/>
            <a:ext cx="4160520" cy="64008"/>
          </a:xfrm>
          <a:prstGeom prst="rect">
            <a:avLst/>
          </a:prstGeom>
          <a:solidFill>
            <a:srgbClr val="0891B2"/>
          </a:solidFill>
          <a:ln w="12700">
            <a:solidFill>
              <a:srgbClr val="0891B2"/>
            </a:solidFill>
            <a:prstDash val="solid"/>
          </a:ln>
        </p:spPr>
        <p:txBody>
          <a:bodyPr/>
          <a:lstStyle/>
          <a:p>
            <a:endParaRPr lang="en-US"/>
          </a:p>
        </p:txBody>
      </p:sp>
      <p:sp>
        <p:nvSpPr>
          <p:cNvPr id="10" name="Text 8"/>
          <p:cNvSpPr/>
          <p:nvPr/>
        </p:nvSpPr>
        <p:spPr>
          <a:xfrm>
            <a:off x="4892040" y="109728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Customer Service Calls (0.092)</a:t>
            </a:r>
            <a:endParaRPr lang="en-US" sz="1400" dirty="0"/>
          </a:p>
        </p:txBody>
      </p:sp>
      <p:sp>
        <p:nvSpPr>
          <p:cNvPr id="11" name="Text 9"/>
          <p:cNvSpPr/>
          <p:nvPr/>
        </p:nvSpPr>
        <p:spPr>
          <a:xfrm>
            <a:off x="4892040" y="155448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Frequent service calls signal unresolved issues. Customers calling 4+ times churn at dramatically higher rates — a key behavioural signal for intervention.</a:t>
            </a:r>
            <a:endParaRPr lang="en-US" sz="1150" dirty="0"/>
          </a:p>
        </p:txBody>
      </p:sp>
      <p:sp>
        <p:nvSpPr>
          <p:cNvPr id="12" name="Shape 10"/>
          <p:cNvSpPr/>
          <p:nvPr/>
        </p:nvSpPr>
        <p:spPr>
          <a:xfrm>
            <a:off x="274320" y="292608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74320" y="2926080"/>
            <a:ext cx="4160520" cy="64008"/>
          </a:xfrm>
          <a:prstGeom prst="rect">
            <a:avLst/>
          </a:prstGeom>
          <a:solidFill>
            <a:srgbClr val="0891B2"/>
          </a:solidFill>
          <a:ln w="12700">
            <a:solidFill>
              <a:srgbClr val="0891B2"/>
            </a:solidFill>
            <a:prstDash val="solid"/>
          </a:ln>
        </p:spPr>
        <p:txBody>
          <a:bodyPr/>
          <a:lstStyle/>
          <a:p>
            <a:endParaRPr lang="en-US"/>
          </a:p>
        </p:txBody>
      </p:sp>
      <p:sp>
        <p:nvSpPr>
          <p:cNvPr id="14" name="Text 12"/>
          <p:cNvSpPr/>
          <p:nvPr/>
        </p:nvSpPr>
        <p:spPr>
          <a:xfrm>
            <a:off x="457200" y="306324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International Plan (0.085)</a:t>
            </a:r>
            <a:endParaRPr lang="en-US" sz="1400" dirty="0"/>
          </a:p>
        </p:txBody>
      </p:sp>
      <p:sp>
        <p:nvSpPr>
          <p:cNvPr id="15" name="Text 13"/>
          <p:cNvSpPr/>
          <p:nvPr/>
        </p:nvSpPr>
        <p:spPr>
          <a:xfrm>
            <a:off x="457200" y="352044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Customers with an international plan churn at ~42% vs 11% without. This binary feature carries outsized predictive power, confirmed by all models in the pipeline.</a:t>
            </a:r>
            <a:endParaRPr lang="en-US" sz="1150" dirty="0"/>
          </a:p>
        </p:txBody>
      </p:sp>
      <p:sp>
        <p:nvSpPr>
          <p:cNvPr id="16" name="Shape 14"/>
          <p:cNvSpPr/>
          <p:nvPr/>
        </p:nvSpPr>
        <p:spPr>
          <a:xfrm>
            <a:off x="4709160" y="2926080"/>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709160" y="2926080"/>
            <a:ext cx="4160520" cy="64008"/>
          </a:xfrm>
          <a:prstGeom prst="rect">
            <a:avLst/>
          </a:prstGeom>
          <a:solidFill>
            <a:srgbClr val="0891B2"/>
          </a:solidFill>
          <a:ln w="12700">
            <a:solidFill>
              <a:srgbClr val="0891B2"/>
            </a:solidFill>
            <a:prstDash val="solid"/>
          </a:ln>
        </p:spPr>
        <p:txBody>
          <a:bodyPr/>
          <a:lstStyle/>
          <a:p>
            <a:endParaRPr lang="en-US"/>
          </a:p>
        </p:txBody>
      </p:sp>
      <p:sp>
        <p:nvSpPr>
          <p:cNvPr id="18" name="Text 16"/>
          <p:cNvSpPr/>
          <p:nvPr/>
        </p:nvSpPr>
        <p:spPr>
          <a:xfrm>
            <a:off x="4892040" y="3063240"/>
            <a:ext cx="3749040" cy="411480"/>
          </a:xfrm>
          <a:prstGeom prst="rect">
            <a:avLst/>
          </a:prstGeom>
          <a:noFill/>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Total Charges (0.074)</a:t>
            </a:r>
            <a:endParaRPr lang="en-US" sz="1400" dirty="0"/>
          </a:p>
        </p:txBody>
      </p:sp>
      <p:sp>
        <p:nvSpPr>
          <p:cNvPr id="19" name="Text 17"/>
          <p:cNvSpPr/>
          <p:nvPr/>
        </p:nvSpPr>
        <p:spPr>
          <a:xfrm>
            <a:off x="4892040" y="3520440"/>
            <a:ext cx="3749040" cy="1051560"/>
          </a:xfrm>
          <a:prstGeom prst="rect">
            <a:avLst/>
          </a:prstGeom>
          <a:noFill/>
        </p:spPr>
        <p:txBody>
          <a:bodyPr wrap="square" lIns="0" tIns="0" rIns="0" bIns="0" rtlCol="0" anchor="t"/>
          <a:lstStyle/>
          <a:p>
            <a:pPr marL="0" indent="0">
              <a:buNone/>
            </a:pPr>
            <a:r>
              <a:rPr lang="en-US" sz="1150" dirty="0">
                <a:solidFill>
                  <a:srgbClr val="1E2761"/>
                </a:solidFill>
                <a:latin typeface="Calibri" pitchFamily="34" charset="0"/>
                <a:ea typeface="Calibri" pitchFamily="34" charset="-122"/>
                <a:cs typeface="Calibri" pitchFamily="34" charset="-120"/>
              </a:rPr>
              <a:t>Aggregated charges capture cumulative billing pressure. The engineered total_charges feature confirms that high overall cost drives customer attrition.</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891B2"/>
          </a:solidFill>
          <a:ln>
            <a:noFill/>
          </a:ln>
        </p:spPr>
        <p:txBody>
          <a:bodyPr/>
          <a:lstStyle/>
          <a:p>
            <a:endParaRPr lang="en-US"/>
          </a:p>
        </p:txBody>
      </p:sp>
      <p:sp>
        <p:nvSpPr>
          <p:cNvPr id="3" name="Text 1"/>
          <p:cNvSpPr/>
          <p:nvPr/>
        </p:nvSpPr>
        <p:spPr>
          <a:xfrm>
            <a:off x="457200" y="457200"/>
            <a:ext cx="8229600" cy="640080"/>
          </a:xfrm>
          <a:prstGeom prst="rect">
            <a:avLst/>
          </a:prstGeom>
          <a:noFill/>
        </p:spPr>
        <p:txBody>
          <a:bodyPr wrap="square" lIns="0" tIns="0" rIns="0" bIns="0" rtlCol="0" anchor="ctr"/>
          <a:lstStyle/>
          <a:p>
            <a:pPr marL="0" indent="0" algn="ctr">
              <a:buNone/>
            </a:pPr>
            <a:r>
              <a:rPr lang="en-US" sz="3000" b="1" dirty="0">
                <a:solidFill>
                  <a:srgbClr val="002060"/>
                </a:solidFill>
                <a:latin typeface="Calibri" pitchFamily="34" charset="0"/>
                <a:ea typeface="Calibri" pitchFamily="34" charset="-122"/>
                <a:cs typeface="Calibri" pitchFamily="34" charset="-120"/>
              </a:rPr>
              <a:t>Random Forest: Key Takeaways</a:t>
            </a:r>
            <a:endParaRPr lang="en-US" sz="3000" b="1" dirty="0">
              <a:solidFill>
                <a:srgbClr val="002060"/>
              </a:solidFill>
              <a:latin typeface="Calibri" pitchFamily="34" charset="0"/>
              <a:ea typeface="Calibri" pitchFamily="34" charset="-122"/>
              <a:cs typeface="Calibri" pitchFamily="34" charset="-120"/>
            </a:endParaRPr>
          </a:p>
        </p:txBody>
      </p:sp>
      <p:graphicFrame>
        <p:nvGraphicFramePr>
          <p:cNvPr id="7" name="Table 0"/>
          <p:cNvGraphicFramePr>
            <a:graphicFrameLocks noGrp="1"/>
          </p:cNvGraphicFramePr>
          <p:nvPr/>
        </p:nvGraphicFramePr>
        <p:xfrm>
          <a:off x="1371600" y="1280160"/>
          <a:ext cx="6400800" cy="2743200"/>
        </p:xfrm>
        <a:graphic>
          <a:graphicData uri="http://schemas.openxmlformats.org/drawingml/2006/table">
            <a:tbl>
              <a:tblPr/>
              <a:tblGrid>
                <a:gridCol w="2286000"/>
                <a:gridCol w="1828800"/>
                <a:gridCol w="2286000"/>
              </a:tblGrid>
              <a:tr h="548640">
                <a:tc>
                  <a:txBody>
                    <a:bodyPr/>
                    <a:lstStyle/>
                    <a:p>
                      <a:pPr marL="0" indent="0" algn="ctr">
                        <a:buNone/>
                      </a:pPr>
                      <a:r>
                        <a:rPr lang="en-US" sz="1200" b="1" dirty="0">
                          <a:solidFill>
                            <a:srgbClr val="FFFFFF"/>
                          </a:solidFill>
                        </a:rPr>
                        <a:t>Metric</a:t>
                      </a:r>
                      <a:endParaRPr lang="en-US" sz="1200" dirty="0"/>
                    </a:p>
                  </a:txBody>
                  <a:tcPr anchor="ctr">
                    <a:lnL w="0" cap="flat" cmpd="sng" algn="ctr">
                      <a:noFill/>
                    </a:lnL>
                    <a:lnR w="0" cap="flat" cmpd="sng" algn="ctr">
                      <a:noFill/>
                    </a:lnR>
                    <a:lnT w="0" cap="flat" cmpd="sng" algn="ctr">
                      <a:noFill/>
                    </a:lnT>
                    <a:lnB w="0" cap="flat" cmpd="sng" algn="ctr">
                      <a:noFill/>
                    </a:lnB>
                    <a:solidFill>
                      <a:srgbClr val="0891B2"/>
                    </a:solidFill>
                  </a:tcPr>
                </a:tc>
                <a:tc>
                  <a:txBody>
                    <a:bodyPr/>
                    <a:lstStyle/>
                    <a:p>
                      <a:pPr marL="0" indent="0" algn="ctr">
                        <a:buNone/>
                      </a:pPr>
                      <a:r>
                        <a:rPr lang="en-US" sz="1200" b="1" dirty="0">
                          <a:solidFill>
                            <a:srgbClr val="FFFFFF"/>
                          </a:solidFill>
                        </a:rPr>
                        <a:t>Score</a:t>
                      </a:r>
                      <a:endParaRPr lang="en-US" sz="1200" dirty="0"/>
                    </a:p>
                  </a:txBody>
                  <a:tcPr anchor="ctr">
                    <a:lnL w="0" cap="flat" cmpd="sng" algn="ctr">
                      <a:noFill/>
                    </a:lnL>
                    <a:lnR w="0" cap="flat" cmpd="sng" algn="ctr">
                      <a:noFill/>
                    </a:lnR>
                    <a:lnT w="0" cap="flat" cmpd="sng" algn="ctr">
                      <a:noFill/>
                    </a:lnT>
                    <a:lnB w="0" cap="flat" cmpd="sng" algn="ctr">
                      <a:noFill/>
                    </a:lnB>
                    <a:solidFill>
                      <a:srgbClr val="0891B2"/>
                    </a:solidFill>
                  </a:tcPr>
                </a:tc>
                <a:tc>
                  <a:txBody>
                    <a:bodyPr/>
                    <a:lstStyle/>
                    <a:p>
                      <a:pPr marL="0" indent="0" algn="ctr">
                        <a:buNone/>
                      </a:pPr>
                      <a:r>
                        <a:rPr lang="en-US" sz="1200" b="1" dirty="0">
                          <a:solidFill>
                            <a:srgbClr val="FFFFFF"/>
                          </a:solidFill>
                        </a:rPr>
                        <a:t>Benchmark</a:t>
                      </a:r>
                      <a:endParaRPr lang="en-US" sz="1200" dirty="0"/>
                    </a:p>
                  </a:txBody>
                  <a:tcPr anchor="ctr">
                    <a:lnL w="0" cap="flat" cmpd="sng" algn="ctr">
                      <a:noFill/>
                    </a:lnL>
                    <a:lnR w="0" cap="flat" cmpd="sng" algn="ctr">
                      <a:noFill/>
                    </a:lnR>
                    <a:lnT w="0" cap="flat" cmpd="sng" algn="ctr">
                      <a:noFill/>
                    </a:lnT>
                    <a:lnB w="0" cap="flat" cmpd="sng" algn="ctr">
                      <a:noFill/>
                    </a:lnB>
                    <a:solidFill>
                      <a:srgbClr val="0891B2"/>
                    </a:solidFill>
                  </a:tcPr>
                </a:tc>
              </a:tr>
              <a:tr h="548640">
                <a:tc>
                  <a:txBody>
                    <a:bodyPr/>
                    <a:lstStyle/>
                    <a:p>
                      <a:pPr marL="0" indent="0" algn="ctr">
                        <a:buNone/>
                      </a:pPr>
                      <a:r>
                        <a:rPr lang="en-US" sz="1300" dirty="0">
                          <a:solidFill>
                            <a:srgbClr val="FFFFFF"/>
                          </a:solidFill>
                        </a:rPr>
                        <a:t>Accuracy</a:t>
                      </a:r>
                      <a:endParaRPr lang="en-US" sz="13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300" b="1" dirty="0">
                          <a:solidFill>
                            <a:schemeClr val="bg1"/>
                          </a:solidFill>
                        </a:rPr>
                        <a:t>93.1%</a:t>
                      </a:r>
                      <a:endParaRPr lang="en-US" sz="13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300" dirty="0">
                          <a:solidFill>
                            <a:srgbClr val="86EFAC"/>
                          </a:solidFill>
                        </a:rPr>
                        <a:t>Strong baseline</a:t>
                      </a:r>
                      <a:endParaRPr lang="en-US" sz="1300" dirty="0"/>
                    </a:p>
                  </a:txBody>
                  <a:tcPr anchor="ctr">
                    <a:lnL w="0" cap="flat" cmpd="sng" algn="ctr">
                      <a:noFill/>
                    </a:lnL>
                    <a:lnR w="0" cap="flat" cmpd="sng" algn="ctr">
                      <a:noFill/>
                    </a:lnR>
                    <a:lnT w="0" cap="flat" cmpd="sng" algn="ctr">
                      <a:noFill/>
                    </a:lnT>
                    <a:lnB w="0" cap="flat" cmpd="sng" algn="ctr">
                      <a:noFill/>
                    </a:lnB>
                    <a:solidFill>
                      <a:srgbClr val="1E2761"/>
                    </a:solidFill>
                  </a:tcPr>
                </a:tc>
              </a:tr>
              <a:tr h="548640">
                <a:tc>
                  <a:txBody>
                    <a:bodyPr/>
                    <a:lstStyle/>
                    <a:p>
                      <a:pPr marL="0" indent="0" algn="ctr">
                        <a:buNone/>
                      </a:pPr>
                      <a:r>
                        <a:rPr lang="en-US" sz="1300" dirty="0">
                          <a:solidFill>
                            <a:srgbClr val="FFFFFF"/>
                          </a:solidFill>
                        </a:rPr>
                        <a:t>Churn Recall</a:t>
                      </a:r>
                      <a:endParaRPr lang="en-US" sz="1300" dirty="0"/>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300" b="1" dirty="0">
                          <a:solidFill>
                            <a:schemeClr val="bg1"/>
                          </a:solidFill>
                        </a:rPr>
                        <a:t>72%</a:t>
                      </a:r>
                      <a:endParaRPr lang="en-US" sz="13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300" dirty="0">
                          <a:solidFill>
                            <a:srgbClr val="86EFAC"/>
                          </a:solidFill>
                        </a:rPr>
                        <a:t>Good churn detection</a:t>
                      </a:r>
                      <a:endParaRPr lang="en-US" sz="1300" dirty="0"/>
                    </a:p>
                  </a:txBody>
                  <a:tcPr anchor="ctr">
                    <a:lnL w="0" cap="flat" cmpd="sng" algn="ctr">
                      <a:noFill/>
                    </a:lnL>
                    <a:lnR w="0" cap="flat" cmpd="sng" algn="ctr">
                      <a:noFill/>
                    </a:lnR>
                    <a:lnT w="0" cap="flat" cmpd="sng" algn="ctr">
                      <a:noFill/>
                    </a:lnT>
                    <a:lnB w="0" cap="flat" cmpd="sng" algn="ctr">
                      <a:noFill/>
                    </a:lnB>
                    <a:solidFill>
                      <a:srgbClr val="243B55"/>
                    </a:solidFill>
                  </a:tcPr>
                </a:tc>
              </a:tr>
              <a:tr h="548640">
                <a:tc>
                  <a:txBody>
                    <a:bodyPr/>
                    <a:lstStyle/>
                    <a:p>
                      <a:pPr marL="0" indent="0" algn="ctr">
                        <a:buNone/>
                      </a:pPr>
                      <a:r>
                        <a:rPr lang="en-US" sz="1300" dirty="0">
                          <a:solidFill>
                            <a:srgbClr val="FFFFFF"/>
                          </a:solidFill>
                        </a:rPr>
                        <a:t>Churn Precision</a:t>
                      </a:r>
                      <a:endParaRPr lang="en-US" sz="1300" dirty="0"/>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300" b="1" dirty="0">
                          <a:solidFill>
                            <a:schemeClr val="bg1"/>
                          </a:solidFill>
                        </a:rPr>
                        <a:t>68%</a:t>
                      </a:r>
                      <a:endParaRPr lang="en-US" sz="13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300" dirty="0">
                          <a:solidFill>
                            <a:srgbClr val="86EFAC"/>
                          </a:solidFill>
                        </a:rPr>
                        <a:t>Moderate precision</a:t>
                      </a:r>
                      <a:endParaRPr lang="en-US" sz="1300" dirty="0"/>
                    </a:p>
                  </a:txBody>
                  <a:tcPr anchor="ctr">
                    <a:lnL w="0" cap="flat" cmpd="sng" algn="ctr">
                      <a:noFill/>
                    </a:lnL>
                    <a:lnR w="0" cap="flat" cmpd="sng" algn="ctr">
                      <a:noFill/>
                    </a:lnR>
                    <a:lnT w="0" cap="flat" cmpd="sng" algn="ctr">
                      <a:noFill/>
                    </a:lnT>
                    <a:lnB w="0" cap="flat" cmpd="sng" algn="ctr">
                      <a:noFill/>
                    </a:lnB>
                    <a:solidFill>
                      <a:srgbClr val="1E2761"/>
                    </a:solidFill>
                  </a:tcPr>
                </a:tc>
              </a:tr>
              <a:tr h="548640">
                <a:tc>
                  <a:txBody>
                    <a:bodyPr/>
                    <a:lstStyle/>
                    <a:p>
                      <a:pPr marL="0" indent="0" algn="ctr">
                        <a:buNone/>
                      </a:pPr>
                      <a:r>
                        <a:rPr lang="en-US" sz="1300" dirty="0">
                          <a:solidFill>
                            <a:srgbClr val="FFFFFF"/>
                          </a:solidFill>
                        </a:rPr>
                        <a:t>F1 Score</a:t>
                      </a:r>
                      <a:endParaRPr lang="en-US" sz="1300" dirty="0"/>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300" b="1" dirty="0">
                          <a:solidFill>
                            <a:schemeClr val="bg1"/>
                          </a:solidFill>
                        </a:rPr>
                        <a:t>0.69</a:t>
                      </a:r>
                      <a:endParaRPr lang="en-US" sz="1300" b="1" dirty="0">
                        <a:solidFill>
                          <a:schemeClr val="bg1"/>
                        </a:solidFill>
                      </a:endParaRPr>
                    </a:p>
                  </a:txBody>
                  <a:tcPr anchor="ctr">
                    <a:lnL w="0" cap="flat" cmpd="sng" algn="ctr">
                      <a:noFill/>
                    </a:lnL>
                    <a:lnR w="0" cap="flat" cmpd="sng" algn="ctr">
                      <a:noFill/>
                    </a:lnR>
                    <a:lnT w="0" cap="flat" cmpd="sng" algn="ctr">
                      <a:noFill/>
                    </a:lnT>
                    <a:lnB w="0" cap="flat" cmpd="sng" algn="ctr">
                      <a:noFill/>
                    </a:lnB>
                    <a:solidFill>
                      <a:srgbClr val="243B55"/>
                    </a:solidFill>
                  </a:tcPr>
                </a:tc>
                <a:tc>
                  <a:txBody>
                    <a:bodyPr/>
                    <a:lstStyle/>
                    <a:p>
                      <a:pPr marL="0" indent="0" algn="ctr">
                        <a:buNone/>
                      </a:pPr>
                      <a:r>
                        <a:rPr lang="en-US" sz="1300" dirty="0">
                          <a:solidFill>
                            <a:srgbClr val="86EFAC"/>
                          </a:solidFill>
                        </a:rPr>
                        <a:t>Balanced recall-precision</a:t>
                      </a:r>
                      <a:endParaRPr lang="en-US" sz="1300" dirty="0"/>
                    </a:p>
                  </a:txBody>
                  <a:tcPr anchor="ctr">
                    <a:lnL w="0" cap="flat" cmpd="sng" algn="ctr">
                      <a:noFill/>
                    </a:lnL>
                    <a:lnR w="0" cap="flat" cmpd="sng" algn="ctr">
                      <a:noFill/>
                    </a:lnR>
                    <a:lnT w="0" cap="flat" cmpd="sng" algn="ctr">
                      <a:noFill/>
                    </a:lnT>
                    <a:lnB w="0" cap="flat" cmpd="sng" algn="ctr">
                      <a:noFill/>
                    </a:lnB>
                    <a:solidFill>
                      <a:srgbClr val="243B55"/>
                    </a:solidFill>
                  </a:tcPr>
                </a:tc>
              </a:tr>
            </a:tbl>
          </a:graphicData>
        </a:graphic>
      </p:graphicFrame>
      <p:sp>
        <p:nvSpPr>
          <p:cNvPr id="5" name="Text 2"/>
          <p:cNvSpPr/>
          <p:nvPr/>
        </p:nvSpPr>
        <p:spPr>
          <a:xfrm>
            <a:off x="457200" y="4343400"/>
            <a:ext cx="8229600" cy="457200"/>
          </a:xfrm>
          <a:prstGeom prst="rect">
            <a:avLst/>
          </a:prstGeom>
          <a:solidFill>
            <a:srgbClr val="1E2761"/>
          </a:solidFill>
          <a:ln>
            <a:noFill/>
          </a:ln>
        </p:spPr>
        <p:txBody>
          <a:bodyPr wrap="square" lIns="0" tIns="0" rIns="0" bIns="0" rtlCol="0" anchor="ctr"/>
          <a:lstStyle/>
          <a:p>
            <a:pPr marL="0" indent="0" algn="ctr">
              <a:buNone/>
            </a:pPr>
            <a:r>
              <a:rPr lang="en-US" sz="1300" b="1" i="1" dirty="0">
                <a:solidFill>
                  <a:srgbClr val="FFFFFF"/>
                </a:solidFill>
                <a:latin typeface="Calibri" pitchFamily="34" charset="0"/>
                <a:ea typeface="Calibri" pitchFamily="34" charset="-122"/>
                <a:cs typeface="Calibri" pitchFamily="34" charset="-120"/>
              </a:rPr>
              <a:t>A robust, interpretable ensemble model with strong feature importance for understanding churn drivers.</a:t>
            </a:r>
            <a:endParaRPr lang="en-US" sz="130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22957</Words>
  <Application>WPS 文字</Application>
  <PresentationFormat>On-screen Show (16:9)</PresentationFormat>
  <Paragraphs>1142</Paragraphs>
  <Slides>40</Slides>
  <Notes>10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40</vt:i4>
      </vt:variant>
    </vt:vector>
  </HeadingPairs>
  <TitlesOfParts>
    <vt:vector size="65" baseType="lpstr">
      <vt:lpstr>Arial</vt:lpstr>
      <vt:lpstr>宋体</vt:lpstr>
      <vt:lpstr>Wingdings</vt:lpstr>
      <vt:lpstr>Trebuchet MS</vt:lpstr>
      <vt:lpstr>Trebuchet MS</vt:lpstr>
      <vt:lpstr>Trebuchet MS</vt:lpstr>
      <vt:lpstr>Calibri</vt:lpstr>
      <vt:lpstr>Helvetica Neue</vt:lpstr>
      <vt:lpstr>Calibri</vt:lpstr>
      <vt:lpstr>Calibri</vt:lpstr>
      <vt:lpstr>微软雅黑</vt:lpstr>
      <vt:lpstr>汉仪旗黑</vt:lpstr>
      <vt:lpstr>宋体</vt:lpstr>
      <vt:lpstr>Arial Unicode MS</vt:lpstr>
      <vt:lpstr>汉仪书宋二KW</vt:lpstr>
      <vt:lpstr>等线</vt:lpstr>
      <vt:lpstr>汉仪中等线KW</vt:lpstr>
      <vt:lpstr>Consolas</vt:lpstr>
      <vt:lpstr>Consolas</vt:lpstr>
      <vt:lpstr>Consolas</vt:lpstr>
      <vt:lpstr>苹方-简</vt:lpstr>
      <vt:lpstr>Apple Color Emoji</vt:lpstr>
      <vt:lpstr>Arial</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 Introduction &amp; Literature Review</dc:title>
  <dc:creator>G5: Lixuan Xiao, Michael Dawson, Yang Yu</dc:creator>
  <dc:subject>PptxGenJS Presentation</dc:subject>
  <cp:lastModifiedBy>小于</cp:lastModifiedBy>
  <cp:revision>3</cp:revision>
  <dcterms:created xsi:type="dcterms:W3CDTF">2026-03-09T18:23:24Z</dcterms:created>
  <dcterms:modified xsi:type="dcterms:W3CDTF">2026-03-09T18:23:24Z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FE1C221697E6DA9E650AAF69E9F69887_42</vt:lpwstr>
  </property>
  <property fmtid="{D5CDD505-2E9C-101B-9397-08002B2CF9AE}" pid="3" name="KSOProductBuildVer">
    <vt:lpwstr>2052-6.5.2.8766</vt:lpwstr>
  </property>
</Properties>
</file>