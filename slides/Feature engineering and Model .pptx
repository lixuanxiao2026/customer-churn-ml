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8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9694" autoAdjust="0"/>
  </p:normalViewPr>
  <p:slideViewPr>
    <p:cSldViewPr snapToGrid="0" snapToObjects="1">
      <p:cViewPr>
        <p:scale>
          <a:sx n="125" d="100"/>
          <a:sy n="125" d="100"/>
        </p:scale>
        <p:origin x="-624" y="-1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D1952-4C8C-594A-8D47-CC3EBD31CD6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2E9FD-FA40-FC48-8917-175ED0BCC7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82BA9-193E-D440-8A2C-9653656F2AE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3C63D-0C1A-0E4C-A0BD-8D65A954242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Page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056080"/>
            <a:ext cx="9144000" cy="27388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90204"/>
              </a:defRPr>
            </a:lvl1pPr>
          </a:lstStyle>
          <a:p>
            <a:r>
              <a:rPr lang="en-US" dirty="0" smtClean="0"/>
              <a:t>Separator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Page 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056080"/>
            <a:ext cx="9144000" cy="27388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90204"/>
              </a:defRPr>
            </a:lvl1pPr>
          </a:lstStyle>
          <a:p>
            <a:r>
              <a:rPr lang="en-US" dirty="0" smtClean="0"/>
              <a:t>Separator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D3421027-4EC0-9C48-8CFB-B8A3104CB056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106E12CD-FCB1-464E-A775-0B83FDDACE03}" type="slidenum">
              <a:rPr lang="en-US" smtClean="0"/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90204"/>
                <a:cs typeface="Arial" panose="020B060402020209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" panose="020B0604020202090204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FA5DAB8B-8178-D047-869E-5A62AF236443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106E12CD-FCB1-464E-A775-0B83FDDACE0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  <a:lvl2pPr>
              <a:defRPr>
                <a:latin typeface="Arial" panose="020B0604020202090204"/>
              </a:defRPr>
            </a:lvl2pPr>
            <a:lvl3pPr>
              <a:defRPr>
                <a:latin typeface="Arial" panose="020B0604020202090204"/>
              </a:defRPr>
            </a:lvl3pPr>
            <a:lvl4pPr>
              <a:defRPr>
                <a:latin typeface="Arial" panose="020B0604020202090204"/>
              </a:defRPr>
            </a:lvl4pPr>
            <a:lvl5pPr>
              <a:defRPr>
                <a:latin typeface="Arial" panose="020B0604020202090204"/>
              </a:defRPr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B9AB8213-A564-3C44-8CA0-96899656213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106E12CD-FCB1-464E-A775-0B83FDDACE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latin typeface="Arial" panose="020B060402020209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anose="020B0604020202090204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0A83DA12-03A5-114A-ABAE-78CD6BB6AC1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106E12CD-FCB1-464E-A775-0B83FDDACE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Arial" panose="020B0604020202090204"/>
              </a:defRPr>
            </a:lvl1pPr>
            <a:lvl2pPr>
              <a:defRPr sz="2400">
                <a:latin typeface="Arial" panose="020B0604020202090204"/>
              </a:defRPr>
            </a:lvl2pPr>
            <a:lvl3pPr>
              <a:defRPr sz="2000">
                <a:latin typeface="Arial" panose="020B0604020202090204"/>
              </a:defRPr>
            </a:lvl3pPr>
            <a:lvl4pPr>
              <a:defRPr sz="1800">
                <a:latin typeface="Arial" panose="020B0604020202090204"/>
              </a:defRPr>
            </a:lvl4pPr>
            <a:lvl5pPr>
              <a:defRPr sz="1800">
                <a:latin typeface="Arial" panose="020B0604020202090204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Arial" panose="020B0604020202090204"/>
              </a:defRPr>
            </a:lvl1pPr>
            <a:lvl2pPr>
              <a:defRPr sz="2400">
                <a:latin typeface="Arial" panose="020B0604020202090204"/>
              </a:defRPr>
            </a:lvl2pPr>
            <a:lvl3pPr>
              <a:defRPr sz="2000">
                <a:latin typeface="Arial" panose="020B0604020202090204"/>
              </a:defRPr>
            </a:lvl3pPr>
            <a:lvl4pPr>
              <a:defRPr sz="1800">
                <a:latin typeface="Arial" panose="020B0604020202090204"/>
              </a:defRPr>
            </a:lvl4pPr>
            <a:lvl5pPr>
              <a:defRPr sz="1800">
                <a:latin typeface="Arial" panose="020B0604020202090204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1FFF386F-14E4-954A-9EC2-E277FFD66D49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106E12CD-FCB1-464E-A775-0B83FDDACE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" panose="020B060402020209020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Arial" panose="020B0604020202090204"/>
              </a:defRPr>
            </a:lvl1pPr>
            <a:lvl2pPr>
              <a:defRPr sz="2000">
                <a:latin typeface="Arial" panose="020B0604020202090204"/>
              </a:defRPr>
            </a:lvl2pPr>
            <a:lvl3pPr>
              <a:defRPr sz="1800">
                <a:latin typeface="Arial" panose="020B0604020202090204"/>
              </a:defRPr>
            </a:lvl3pPr>
            <a:lvl4pPr>
              <a:defRPr sz="1600">
                <a:latin typeface="Arial" panose="020B0604020202090204"/>
              </a:defRPr>
            </a:lvl4pPr>
            <a:lvl5pPr>
              <a:defRPr sz="1600">
                <a:latin typeface="Arial" panose="020B0604020202090204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" panose="020B060402020209020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Arial" panose="020B0604020202090204"/>
              </a:defRPr>
            </a:lvl1pPr>
            <a:lvl2pPr>
              <a:defRPr sz="2000">
                <a:latin typeface="Arial" panose="020B0604020202090204"/>
              </a:defRPr>
            </a:lvl2pPr>
            <a:lvl3pPr>
              <a:defRPr sz="1800">
                <a:latin typeface="Arial" panose="020B0604020202090204"/>
              </a:defRPr>
            </a:lvl3pPr>
            <a:lvl4pPr>
              <a:defRPr sz="1600">
                <a:latin typeface="Arial" panose="020B0604020202090204"/>
              </a:defRPr>
            </a:lvl4pPr>
            <a:lvl5pPr>
              <a:defRPr sz="1600">
                <a:latin typeface="Arial" panose="020B0604020202090204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D8FFCF06-3344-8345-BEA6-DDAEFCC6ECCE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106E12CD-FCB1-464E-A775-0B83FDDACE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84C6D879-35D4-554E-9D6D-93E8130AA922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106E12CD-FCB1-464E-A775-0B83FDDACE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Arial" panose="020B0604020202090204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Arial" panose="020B0604020202090204"/>
              </a:defRPr>
            </a:lvl1pPr>
            <a:lvl2pPr>
              <a:defRPr sz="2800">
                <a:latin typeface="Arial" panose="020B0604020202090204"/>
              </a:defRPr>
            </a:lvl2pPr>
            <a:lvl3pPr>
              <a:defRPr sz="2400">
                <a:latin typeface="Arial" panose="020B0604020202090204"/>
              </a:defRPr>
            </a:lvl3pPr>
            <a:lvl4pPr>
              <a:defRPr sz="2000">
                <a:latin typeface="Arial" panose="020B0604020202090204"/>
              </a:defRPr>
            </a:lvl4pPr>
            <a:lvl5pPr>
              <a:defRPr sz="2000">
                <a:latin typeface="Arial" panose="020B0604020202090204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Arial" panose="020B0604020202090204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AB182AE3-760A-8E44-AB65-03A533386DF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106E12CD-FCB1-464E-A775-0B83FDDACE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Arial" panose="020B0604020202090204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Arial" panose="020B0604020202090204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Arial" panose="020B0604020202090204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B362BA78-8688-C546-A03A-2A39F84C0B58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106E12CD-FCB1-464E-A775-0B83FDDACE0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" panose="020B0604020202090204"/>
              </a:defRPr>
            </a:lvl1pPr>
            <a:lvl2pPr>
              <a:defRPr>
                <a:latin typeface="Arial" panose="020B0604020202090204"/>
              </a:defRPr>
            </a:lvl2pPr>
            <a:lvl3pPr>
              <a:defRPr>
                <a:latin typeface="Arial" panose="020B0604020202090204"/>
              </a:defRPr>
            </a:lvl3pPr>
            <a:lvl4pPr>
              <a:defRPr>
                <a:latin typeface="Arial" panose="020B0604020202090204"/>
              </a:defRPr>
            </a:lvl4pPr>
            <a:lvl5pPr>
              <a:defRPr>
                <a:latin typeface="Arial" panose="020B0604020202090204"/>
              </a:defRPr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EF5B9135-15EF-DE46-84CC-16626B0FAF7F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106E12CD-FCB1-464E-A775-0B83FDDACE03}" type="slidenum">
              <a:rPr lang="en-US" smtClean="0"/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136197" y="-40608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latin typeface="Arial" panose="020B0604020202090204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latin typeface="Arial" panose="020B0604020202090204"/>
              </a:defRPr>
            </a:lvl1pPr>
            <a:lvl2pPr>
              <a:defRPr>
                <a:latin typeface="Arial" panose="020B0604020202090204"/>
              </a:defRPr>
            </a:lvl2pPr>
            <a:lvl3pPr>
              <a:defRPr>
                <a:latin typeface="Arial" panose="020B0604020202090204"/>
              </a:defRPr>
            </a:lvl3pPr>
            <a:lvl4pPr>
              <a:defRPr>
                <a:latin typeface="Arial" panose="020B0604020202090204"/>
              </a:defRPr>
            </a:lvl4pPr>
            <a:lvl5pPr>
              <a:defRPr>
                <a:latin typeface="Arial" panose="020B0604020202090204"/>
              </a:defRPr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7ADD-011F-3541-9724-9C7FC92455D5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90204"/>
              </a:defRPr>
            </a:lvl1pPr>
          </a:lstStyle>
          <a:p>
            <a:fld id="{106E12CD-FCB1-464E-A775-0B83FDDACE03}" type="slidenum">
              <a:rPr lang="en-US" smtClean="0"/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5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C176C-065F-124D-AAA4-94F2B7A2EC7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FFFFFF"/>
                </a:solidFill>
                <a:latin typeface="Arial" panose="020B0604020202090204"/>
                <a:cs typeface="Arial" panose="020B0604020202090204"/>
              </a:defRPr>
            </a:lvl1pPr>
          </a:lstStyle>
          <a:p>
            <a:fld id="{106E12CD-FCB1-464E-A775-0B83FDDACE03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panose="020B0604020202090204"/>
          <a:ea typeface="+mj-ea"/>
          <a:cs typeface="Arial" panose="020B0604020202090204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Arial" panose="020B0604020202090204"/>
          <a:ea typeface="+mn-ea"/>
          <a:cs typeface="Arial" panose="020B0604020202090204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Arial" panose="020B0604020202090204"/>
          <a:ea typeface="+mn-ea"/>
          <a:cs typeface="Arial" panose="020B0604020202090204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Arial" panose="020B0604020202090204"/>
          <a:ea typeface="+mn-ea"/>
          <a:cs typeface="Arial" panose="020B0604020202090204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Arial" panose="020B0604020202090204"/>
          <a:ea typeface="+mn-ea"/>
          <a:cs typeface="Arial" panose="020B0604020202090204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Arial" panose="020B0604020202090204"/>
          <a:ea typeface="+mn-ea"/>
          <a:cs typeface="Arial" panose="020B0604020202090204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020" y="129540"/>
            <a:ext cx="8399780" cy="626745"/>
          </a:xfrm>
        </p:spPr>
        <p:txBody>
          <a:bodyPr>
            <a:normAutofit/>
          </a:bodyPr>
          <a:lstStyle/>
          <a:p>
            <a:pPr algn="l"/>
            <a:r>
              <a:rPr lang="en-US" sz="2800">
                <a:latin typeface="Times New Roman Regular" panose="02020503050405090304" charset="0"/>
                <a:cs typeface="Times New Roman Regular" panose="02020503050405090304" charset="0"/>
              </a:rPr>
              <a:t>Feature Engineering (CRISP-DM: Data Preparation)</a:t>
            </a:r>
            <a:endParaRPr lang="en-US" sz="28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890" y="1993900"/>
            <a:ext cx="4308475" cy="4042410"/>
          </a:xfrm>
        </p:spPr>
        <p:txBody>
          <a:bodyPr/>
          <a:lstStyle/>
          <a:p>
            <a:pPr algn="l"/>
            <a:r>
              <a:rPr lang="en-US" sz="18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Key Steps:</a:t>
            </a:r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• Binary encoding for Yes/No service plans</a:t>
            </a:r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• One-hot encoding for categorical variables</a:t>
            </a:r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• Standardization for numeric variables (for linear models)</a:t>
            </a:r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• Leakage prevention via train-only fitting</a:t>
            </a:r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/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Derived Behavioral Features:</a:t>
            </a:r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• Total usage minutes</a:t>
            </a:r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• International usage share</a:t>
            </a:r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• Service calls intensity</a:t>
            </a:r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</a:fld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15265" y="1190625"/>
            <a:ext cx="8468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Goal: convert raw telecom activity into model-ready, customer-level features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.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8" name="Picture 3" descr="churn_distribution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75200" y="2051050"/>
            <a:ext cx="4003040" cy="30022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52730" y="5829935"/>
            <a:ext cx="843407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Feature quality and behavioral design are more influential than algorithm choice alone</a:t>
            </a:r>
            <a:r>
              <a:rPr lang="zh-CN" altLang="en-US"/>
              <a:t>.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020" y="129540"/>
            <a:ext cx="8399780" cy="626745"/>
          </a:xfrm>
        </p:spPr>
        <p:txBody>
          <a:bodyPr>
            <a:normAutofit/>
          </a:bodyPr>
          <a:lstStyle/>
          <a:p>
            <a:pPr algn="l"/>
            <a:r>
              <a:rPr lang="en-US" sz="2800">
                <a:latin typeface="Times New Roman Regular" panose="02020503050405090304" charset="0"/>
                <a:cs typeface="Times New Roman Regular" panose="02020503050405090304" charset="0"/>
              </a:rPr>
              <a:t>Modeling Strategy &amp; Evaluation Framework</a:t>
            </a:r>
            <a:endParaRPr lang="en-US" sz="28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265" y="2143760"/>
            <a:ext cx="4144645" cy="2146300"/>
          </a:xfrm>
        </p:spPr>
        <p:txBody>
          <a:bodyPr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Methodology:</a:t>
            </a:r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>
              <a:lnSpc>
                <a:spcPct val="120000"/>
              </a:lnSpc>
            </a:pPr>
            <a:r>
              <a:rPr lang="en-US" sz="18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• Train/Test split</a:t>
            </a:r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>
              <a:lnSpc>
                <a:spcPct val="120000"/>
              </a:lnSpc>
            </a:pPr>
            <a:r>
              <a:rPr lang="en-US" sz="18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• Cross-validation</a:t>
            </a:r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>
              <a:lnSpc>
                <a:spcPct val="120000"/>
              </a:lnSpc>
            </a:pPr>
            <a:r>
              <a:rPr lang="en-US" sz="18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• Out-of-sample validation</a:t>
            </a:r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</a:fld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15265" y="1190625"/>
            <a:ext cx="8468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Objective: Identify high-risk customers for targeted retention interventions.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0515" y="4711700"/>
            <a:ext cx="8339455" cy="994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latin typeface="Times New Roman Regular" panose="02020503050405090304" charset="0"/>
                <a:cs typeface="Times New Roman Regular" panose="02020503050405090304" charset="0"/>
              </a:rPr>
              <a:t>In imbalanced churn settings, ranking ability (AUC) and recall are more important than raw accuracy.</a:t>
            </a:r>
            <a:endParaRPr lang="zh-CN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6" name="Text 3"/>
          <p:cNvSpPr/>
          <p:nvPr>
            <p:custDataLst>
              <p:tags r:id="rId1"/>
            </p:custDataLst>
          </p:nvPr>
        </p:nvSpPr>
        <p:spPr>
          <a:xfrm>
            <a:off x="548640" y="11247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文本框 8"/>
          <p:cNvSpPr txBox="1"/>
          <p:nvPr/>
        </p:nvSpPr>
        <p:spPr>
          <a:xfrm>
            <a:off x="4572635" y="2143760"/>
            <a:ext cx="4076700" cy="2176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Evaluation Metrics: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• Recall (churn detection strength)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• Precision (cost control)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• F1 (balance)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• AUC (ranking quality)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020" y="129540"/>
            <a:ext cx="8399780" cy="626745"/>
          </a:xfrm>
        </p:spPr>
        <p:txBody>
          <a:bodyPr>
            <a:normAutofit/>
          </a:bodyPr>
          <a:lstStyle/>
          <a:p>
            <a:pPr algn="l"/>
            <a:r>
              <a:rPr lang="en-US" sz="2800">
                <a:latin typeface="Times New Roman Regular" panose="02020503050405090304" charset="0"/>
                <a:cs typeface="Times New Roman Regular" panose="02020503050405090304" charset="0"/>
              </a:rPr>
              <a:t>Model Comparison Summary</a:t>
            </a:r>
            <a:endParaRPr lang="en-US" sz="28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</a:fld>
            <a:endParaRPr lang="en-US" dirty="0"/>
          </a:p>
        </p:txBody>
      </p:sp>
      <p:pic>
        <p:nvPicPr>
          <p:cNvPr id="10" name="图片 9" descr="截屏2026-02-28 15.09.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75" y="1040765"/>
            <a:ext cx="7376795" cy="23888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96875" y="3714115"/>
            <a:ext cx="417576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Key Observations: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• Ensemble models significantly outperform linear baseline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• XGBoost achieves strongest overall ranking performance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1600">
                <a:latin typeface="Times New Roman Regular" panose="02020503050405090304" charset="0"/>
                <a:cs typeface="Times New Roman Regular" panose="02020503050405090304" charset="0"/>
              </a:rPr>
              <a:t>• Neural Network adds limited incremental value in structured tabular data</a:t>
            </a:r>
            <a:endParaRPr lang="zh-CN" altLang="en-US"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12" name="图片 11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755" y="3490595"/>
            <a:ext cx="3688080" cy="23882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020" y="129540"/>
            <a:ext cx="8399780" cy="626745"/>
          </a:xfrm>
        </p:spPr>
        <p:txBody>
          <a:bodyPr>
            <a:normAutofit/>
          </a:bodyPr>
          <a:lstStyle/>
          <a:p>
            <a:pPr algn="l"/>
            <a:r>
              <a:rPr lang="en-US" sz="2800">
                <a:latin typeface="Times New Roman Regular" panose="02020503050405090304" charset="0"/>
                <a:cs typeface="Times New Roman Regular" panose="02020503050405090304" charset="0"/>
              </a:rPr>
              <a:t>Best Model: XGBoost</a:t>
            </a:r>
            <a:endParaRPr lang="en-US" sz="28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395" y="1002030"/>
            <a:ext cx="3296285" cy="2102485"/>
          </a:xfrm>
        </p:spPr>
        <p:txBody>
          <a:bodyPr/>
          <a:lstStyle/>
          <a:p>
            <a:pPr algn="l"/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Performance Highlights:</a:t>
            </a:r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Accuracy = 0.925</a:t>
            </a:r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Recall = 0.526</a:t>
            </a:r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F1 = 0.667</a:t>
            </a:r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AUC = 0.917</a:t>
            </a:r>
            <a:endParaRPr lang="en-US" sz="18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</a:fld>
            <a:endParaRPr 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252730" y="5829935"/>
            <a:ext cx="843407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XGBoost best supports risk-based retention prioritization.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7020" y="3510280"/>
            <a:ext cx="8327390" cy="2160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Executive Interpretation: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• Highest ranking ability across thresholds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• Strongest churn detection capability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• Balanced tradeoff between precision and recall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11" name="图片 10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3165" y="756285"/>
            <a:ext cx="3683635" cy="2956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020" y="129540"/>
            <a:ext cx="8399780" cy="626745"/>
          </a:xfrm>
        </p:spPr>
        <p:txBody>
          <a:bodyPr>
            <a:normAutofit/>
          </a:bodyPr>
          <a:lstStyle/>
          <a:p>
            <a:pPr algn="l"/>
            <a:r>
              <a:rPr lang="en-US" sz="2800">
                <a:latin typeface="Times New Roman Regular" panose="02020503050405090304" charset="0"/>
                <a:cs typeface="Times New Roman Regular" panose="02020503050405090304" charset="0"/>
              </a:rPr>
              <a:t>Threshold Strategy &amp; Business Trade-Off</a:t>
            </a:r>
            <a:endParaRPr lang="en-US" sz="28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</a:fld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15265" y="1190625"/>
            <a:ext cx="84689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Management Decision Variable: Probability Threshold.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Lower Threshold → Higher Recall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Higher Threshold → Higher Precision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6" name="Text 3"/>
          <p:cNvSpPr/>
          <p:nvPr>
            <p:custDataLst>
              <p:tags r:id="rId1"/>
            </p:custDataLst>
          </p:nvPr>
        </p:nvSpPr>
        <p:spPr>
          <a:xfrm>
            <a:off x="548640" y="11247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244475" y="2956560"/>
            <a:ext cx="83997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Strategic Choice: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• If retention budget is limited → prioritize precision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• If churn cost is high → prioritize recall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7020" y="4735830"/>
            <a:ext cx="8391525" cy="1384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Recommended Approach: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Target top-risk percentile customers rather than fixed probability cutoff.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This aligns predictive ranking with real-world campaign deployment.</a:t>
            </a:r>
            <a:endParaRPr lang="zh-CN" altLang="en-US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1897</Words>
  <Application>WPS 文字</Application>
  <PresentationFormat>On-screen Show (4:3)</PresentationFormat>
  <Paragraphs>90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4" baseType="lpstr">
      <vt:lpstr>Arial</vt:lpstr>
      <vt:lpstr>宋体</vt:lpstr>
      <vt:lpstr>Wingdings</vt:lpstr>
      <vt:lpstr>Arial</vt:lpstr>
      <vt:lpstr>汉仪书宋二KW</vt:lpstr>
      <vt:lpstr>Calibri</vt:lpstr>
      <vt:lpstr>Helvetica Neue</vt:lpstr>
      <vt:lpstr>宋体</vt:lpstr>
      <vt:lpstr>微软雅黑</vt:lpstr>
      <vt:lpstr>汉仪旗黑</vt:lpstr>
      <vt:lpstr>Arial Unicode MS</vt:lpstr>
      <vt:lpstr>Times New Roman Regular</vt:lpstr>
      <vt:lpstr>汉仪旗黑KW</vt:lpstr>
      <vt:lpstr>Tahoma Regular</vt:lpstr>
      <vt:lpstr>Trebuchet MS</vt:lpstr>
      <vt:lpstr>Trebuchet MS</vt:lpstr>
      <vt:lpstr>Trebuchet MS</vt:lpstr>
      <vt:lpstr>Arial Regular</vt:lpstr>
      <vt:lpstr>Office Theme</vt:lpstr>
      <vt:lpstr>PowerPoint 演示文稿</vt:lpstr>
      <vt:lpstr>Feature Engineering (CRISP-DM: Data Preparation)</vt:lpstr>
      <vt:lpstr>Modeling Strategy &amp; Evaluation Framework</vt:lpstr>
      <vt:lpstr>Feature Engineering (CRISP-DM: Data Preparation)</vt:lpstr>
      <vt:lpstr>Modeling Strategy &amp; Evaluation Framework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Geraldo Rivera</dc:creator>
  <cp:lastModifiedBy>小于</cp:lastModifiedBy>
  <cp:revision>31</cp:revision>
  <dcterms:created xsi:type="dcterms:W3CDTF">2026-02-28T07:33:03Z</dcterms:created>
  <dcterms:modified xsi:type="dcterms:W3CDTF">2026-02-28T07:33:03Z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5E70E80B73E79572AF97A269C3364D67_43</vt:lpwstr>
  </property>
  <property fmtid="{D5CDD505-2E9C-101B-9397-08002B2CF9AE}" pid="3" name="KSOProductBuildVer">
    <vt:lpwstr>2052-6.5.2.8766</vt:lpwstr>
  </property>
</Properties>
</file>