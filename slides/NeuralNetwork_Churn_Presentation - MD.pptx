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08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3-Layer MLP   |   Regularisation: Dropout + BatchNorm   |   Optimiser: Adam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Neural Network Work?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all engineered features (total minutes, charges, service calls, plan flags). Each node represents one feature passed into the network.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170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Hidden Layers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dense layers (64 to 32 to 16 neurons) learn complex non-linear patterns. BatchNorm stabilises learning; Dropout prevents overfitting.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170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173736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sigmoid neuron outputs a churn probability (0 to 1). A threshold of 0.5 converts this to a binary Yes/No churn prediction.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 -&gt;  Dense(64)  -&gt;  Dense(32)  -&gt;  Dense(16)  -&gt;  Sigmoid Output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Parameters?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33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Layers: 64 -&gt; 32 -&gt; 16 neurons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architecture progressively compresses features, forcing the network to learn increasingly abstract representations of churn behaviour.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039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Dropout(0.3)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4048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drops 30% of neurons during training. This prevents the model from memorising training data and ensures it generalises to unseen customers.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44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41071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layer outputs during training, stabilising gradients and allowing faster convergence — especially useful with imbalanced churn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64008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050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Adam(lr=0.001)  |  EarlyStopping(patience=10)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adapts learning rates per parameter. Early stopping halts training when validation loss stops improving, preventing overfitting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keras.Sequential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754880" cy="3977640"/>
          </a:xfrm>
          <a:prstGeom prst="rect">
            <a:avLst/>
          </a:prstGeom>
          <a:solidFill>
            <a:srgbClr val="0F1E33"/>
          </a:solidFill>
          <a:ln w="12700">
            <a:solidFill>
              <a:srgbClr val="2D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" cy="3977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69848"/>
            <a:ext cx="4498848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input_dim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X_train_nn.shape[1]
</a:t>
            </a: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keras.Sequential([
</a:t>
            </a: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layers.Input(shape=(input_dim,)),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layers.Dense(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layers.BatchNormalization(),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layers.Dropout(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  layers.Dense(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layers.BatchNormalization(),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layers.Dropout(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  layers.Dense(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  layers.Dense(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'sigmoid'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303520" y="960120"/>
            <a:ext cx="3566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3520" y="960120"/>
            <a:ext cx="35661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0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Architecture: 64 → 32 → 16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40680" y="14904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Progressively compresses features so the network learns abstract churn patterns at each level.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2057400"/>
            <a:ext cx="3566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03520" y="2057400"/>
            <a:ext cx="35661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4068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Dropout(0.3)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40680" y="2587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stabilises training; Dropout randomly disables 30% of neurons to prevent overfitting.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3154680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03520" y="3154680"/>
            <a:ext cx="35661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0" y="3291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40680" y="3685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probability (0–1). Values above 0.5 are flagged as churn.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4160520"/>
            <a:ext cx="356616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0" y="4160520"/>
            <a:ext cx="35661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4297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model.summary()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40680" y="4690872"/>
            <a:ext cx="3291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layer shapes and parameter counts to verify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 the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828800"/>
          </a:xfrm>
          <a:prstGeom prst="rect">
            <a:avLst/>
          </a:prstGeom>
          <a:solidFill>
            <a:srgbClr val="0F1E33"/>
          </a:solidFill>
          <a:ln w="12700">
            <a:solidFill>
              <a:srgbClr val="2D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" cy="1828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69848"/>
            <a:ext cx="833932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optimizer = keras.optimizers.</a:t>
            </a: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(learning_rate=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  loss             = 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'binary_crossentropy'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metrics          = [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'accuracy'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keras.metrics.</a:t>
            </a: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(name=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'auc'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92608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28346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Adam(lr=0.001)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2560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optimiser that adjusts learning rates per parameter. 0.001 is the standard starting point — fast convergence without overshooting.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92608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2926080"/>
            <a:ext cx="28346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binary_crossentropy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3456432"/>
            <a:ext cx="2560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loss function for binary classification. Penalises confident wrong predictions heavily — ideal for churn Yes/No output.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2651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651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063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Metric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3456432"/>
            <a:ext cx="23774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 ROC Curve. Measures how well the model separates churners from non-churners across all thresholds.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754880" cy="3291840"/>
          </a:xfrm>
          <a:prstGeom prst="rect">
            <a:avLst/>
          </a:prstGeom>
          <a:solidFill>
            <a:srgbClr val="0F1E33"/>
          </a:solidFill>
          <a:ln w="12700">
            <a:solidFill>
              <a:srgbClr val="2D4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" cy="3291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69848"/>
            <a:ext cx="449884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keras.callbacks.</a:t>
            </a: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EarlyStopping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monitor=</a:t>
            </a: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'val_loss'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patience=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restore_best_weights=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model.</a:t>
            </a: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X_train_nn, y_train_nn,
  epochs=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batch_size=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validation_split=</a:t>
            </a: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1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class_weight=class_weight_dict,
</a:t>
            </a: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callbacks=[early_stop]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303520" y="9601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3520" y="960120"/>
            <a:ext cx="35661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0" y="1097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EarlyStopping(patience=10)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40680" y="149047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training if val_loss doesn't improve for 10 epochs. Restores the best weights automatically.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201168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03520" y="2011680"/>
            <a:ext cx="35661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4068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epochs=100, batch_size=32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40680" y="254203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passes through the data. Batches of 32 samples are processed at a time for stable gradient updates.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306324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03520" y="3063240"/>
            <a:ext cx="35661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validation_split=0.2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40680" y="359359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out 20% of training data to monitor generalisation. Prevents overfitting to the training set.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4114800"/>
            <a:ext cx="3566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0" y="4114800"/>
            <a:ext cx="35661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class_weight=class_weight_dict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40680" y="46451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Upweights the minority churn class so the model learns churners as well as non-churners.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051560" cy="1417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0515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7830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99032" y="960120"/>
            <a:ext cx="1051560" cy="1417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99032" y="10515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99032" y="17830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9464" y="960120"/>
            <a:ext cx="1051560" cy="1417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9464" y="10515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9464" y="17830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39896" y="960120"/>
            <a:ext cx="1051560" cy="1417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39896" y="10515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39896" y="17830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(Churn)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26080"/>
          <a:ext cx="457200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Predicted: No Churn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Predicted: Churn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Actual: No Churn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424</a:t>
                      </a:r>
                      <a:endParaRPr lang="en-US" sz="16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32</a:t>
                      </a:r>
                      <a:endParaRPr lang="en-US" sz="16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Actual: Churn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30</a:t>
                      </a:r>
                      <a:endParaRPr lang="en-US" sz="16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48</a:t>
                      </a:r>
                      <a:endParaRPr lang="en-US" sz="16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120640" y="2560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926080"/>
          <a:ext cx="3749040" cy="1920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No Churn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6EFAC"/>
                          </a:solidFill>
                        </a:rPr>
                        <a:t>0.93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6EFAC"/>
                          </a:solidFill>
                        </a:rPr>
                        <a:t>0.93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6EFAC"/>
                          </a:solidFill>
                        </a:rPr>
                        <a:t>0.93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Churn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0.60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0.62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0.61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6EFAC"/>
                          </a:solidFill>
                        </a:rPr>
                        <a:t>0.88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Complex Patterns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discover non-linear relationships between features that simpler models miss, e.g. interactions between service calls and usage intensity.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Outputs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output gives a churn probability score (0-1), not just a binary label. Businesses can prioritise outreach by risk score severity.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and Dropout ensure the model actively learns the minority churn pattern rather than always predicting the majority class.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60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and Adaptable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can be retrained on new data as customer behaviour evolves, making it a long-term retention intelligence asset.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Network: Key Takeaways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280160"/>
          <a:ext cx="640080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7316"/>
                          </a:solidFill>
                        </a:rPr>
                        <a:t>88.4%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6EFAC"/>
                          </a:solidFill>
                        </a:rPr>
                        <a:t>Good overall prediction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Churn Recall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7316"/>
                          </a:solidFill>
                        </a:rPr>
                        <a:t>62%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6EFAC"/>
                          </a:solidFill>
                        </a:rPr>
                        <a:t>Catches most at-risk customers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Churn Precision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7316"/>
                          </a:solidFill>
                        </a:rPr>
                        <a:t>60%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6EFAC"/>
                          </a:solidFill>
                        </a:rPr>
                        <a:t>Low false alarm rate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97316"/>
                          </a:solidFill>
                        </a:rPr>
                        <a:t>0.61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6EFAC"/>
                          </a:solidFill>
                        </a:rPr>
                        <a:t>Well-balanced performance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model built for scalable, probability-based churn detection.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986</Words>
  <Application>Microsoft Macintosh PowerPoint</Application>
  <PresentationFormat>On-screen Show (16:9)</PresentationFormat>
  <Paragraphs>118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- Customer Churn Prediction</dc:title>
  <dc:subject>PptxGenJS Presentation</dc:subject>
  <dc:creator>PptxGenJS</dc:creator>
  <cp:lastModifiedBy>Michael Dawson</cp:lastModifiedBy>
  <cp:revision>2</cp:revision>
  <dcterms:created xsi:type="dcterms:W3CDTF">2026-03-06T22:32:07Z</dcterms:created>
  <dcterms:modified xsi:type="dcterms:W3CDTF">2026-03-06T22:40:56Z</dcterms:modified>
</cp:coreProperties>
</file>